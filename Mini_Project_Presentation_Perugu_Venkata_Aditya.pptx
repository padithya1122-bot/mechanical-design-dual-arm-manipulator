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9faa4fe-887c-7787-3735-5bce50c4774c}">
          <p14:sldIdLst>
            <p14:sldId id="256"/>
            <p14:sldId id="257"/>
            <p14:sldId id="258"/>
            <p14:sldId id="259"/>
            <p14:sldId id="260"/>
            <p14:sldId id="261"/>
            <p14:sldId id="262"/>
          </p14:sldIdLst>
        </p14:section>
        <p14:section name="Background" id="{b4c5942c-ecd2-7ce5-362a-ad067110baed}">
          <p14:sldIdLst>
            <p14:sldId id="263"/>
            <p14:sldId id="264"/>
            <p14:sldId id="265"/>
          </p14:sldIdLst>
        </p14:section>
        <p14:section name="Implementation" id="{c10bf78f-2fdb-08f2-b0d2-a05aabb80e39}">
          <p14:sldIdLst>
            <p14:sldId id="266"/>
            <p14:sldId id="267"/>
            <p14:sldId id="268"/>
            <p14:sldId id="269"/>
            <p14:sldId id="270"/>
            <p14:sldId id="271"/>
            <p14:sldId id="272"/>
            <p14:sldId id="273"/>
            <p14:sldId id="274"/>
          </p14:sldIdLst>
        </p14:section>
        <p14:section name="Evaluation" id="{e0f52ded-9721-651e-6d94-4cefe1c574b2}">
          <p14:sldIdLst>
            <p14:sldId id="275"/>
            <p14:sldId id="276"/>
          </p14:sldIdLst>
        </p14:section>
        <p14:section name="Wrap-up" id="{e8ee84c3-67cc-1146-3fa3-3dbe06c32145}">
          <p14:sldIdLst>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mn-lt"/>
              </a:defRPr>
            </a:pPr>
            <a:r>
              <a:rPr sz="1400" b="0" i="0" u="none" strike="noStrike">
                <a:solidFill>
                  <a:srgbClr val="0B1F33"/>
                </a:solidFill>
                <a:latin typeface="+mn-lt"/>
              </a:rPr>
              <a:t>YOLOv8n per-class mAP@0.5</a:t>
            </a:r>
          </a:p>
        </c:rich>
      </c:tx>
      <c:layout/>
      <c:overlay val="0"/>
    </c:title>
    <c:autoTitleDeleted val="0"/>
    <c:plotArea>
      <c:layout/>
      <c:barChart>
        <c:barDir val="col"/>
        <c:grouping val="clustered"/>
        <c:varyColors val="0"/>
        <c:ser>
          <c:idx val="0"/>
          <c:order val="0"/>
          <c:tx>
            <c:strRef>
              <c:f>Sheet1!$B$1</c:f>
              <c:strCache>
                <c:ptCount val="1"/>
                <c:pt idx="0">
                  <c:v>mAP@0.5</c:v>
                </c:pt>
              </c:strCache>
            </c:strRef>
          </c:tx>
          <c:spPr>
            <a:solidFill>
              <a:srgbClr val="0FA3B1"/>
            </a:solidFill>
            <a:effectLst/>
          </c:spPr>
          <c:invertIfNegative val="0"/>
          <c:dLbls>
            <c:numFmt formatCode="0.000" sourceLinked="0"/>
            <c:txPr>
              <a:bodyPr/>
              <a:lstStyle/>
              <a:p>
                <a:pPr>
                  <a:defRPr b="0" i="0" strike="noStrike" sz="1000" u="none">
                    <a:solidFill>
                      <a:srgbClr val="0B1F33"/>
                    </a:solidFill>
                    <a:latin typeface="+mn-lt"/>
                  </a:defRPr>
                </a:pPr>
              </a:p>
            </c:txPr>
            <c:showLegendKey val="0"/>
            <c:showVal val="1"/>
            <c:showCatName val="0"/>
            <c:showSerName val="0"/>
            <c:showPercent val="0"/>
            <c:showBubbleSize val="0"/>
            <c:showLeaderLines val="0"/>
          </c:dLbls>
          <c:cat>
            <c:multiLvlStrRef>
              <c:f>Sheet1!$A$2:$A$9</c:f>
              <c:multiLvlStrCache>
                <c:ptCount val="8"/>
                <c:lvl>
                  <c:pt idx="0">
                    <c:v>cube_red</c:v>
                  </c:pt>
                  <c:pt idx="1">
                    <c:v>cube_green</c:v>
                  </c:pt>
                  <c:pt idx="2">
                    <c:v>cube_white</c:v>
                  </c:pt>
                  <c:pt idx="3">
                    <c:v>cube_black</c:v>
                  </c:pt>
                  <c:pt idx="4">
                    <c:v>cyl_white</c:v>
                  </c:pt>
                  <c:pt idx="5">
                    <c:v>cyl_green</c:v>
                  </c:pt>
                  <c:pt idx="6">
                    <c:v>cyl_black</c:v>
                  </c:pt>
                  <c:pt idx="7">
                    <c:v>cyl_red</c:v>
                  </c:pt>
                </c:lvl>
              </c:multiLvlStrCache>
            </c:multiLvlStrRef>
          </c:cat>
          <c:val>
            <c:numRef>
              <c:f>Sheet1!$B$2:$B$9</c:f>
              <c:numCache>
                <c:formatCode>General</c:formatCode>
                <c:ptCount val="8"/>
                <c:pt idx="0">
                  <c:v>0.99</c:v>
                </c:pt>
                <c:pt idx="1">
                  <c:v>0.989</c:v>
                </c:pt>
                <c:pt idx="2">
                  <c:v>0.987</c:v>
                </c:pt>
                <c:pt idx="3">
                  <c:v>0.988</c:v>
                </c:pt>
                <c:pt idx="4">
                  <c:v>0.991</c:v>
                </c:pt>
                <c:pt idx="5">
                  <c:v>0.991</c:v>
                </c:pt>
                <c:pt idx="6">
                  <c:v>0.991</c:v>
                </c:pt>
                <c:pt idx="7">
                  <c:v>0.988</c:v>
                </c:pt>
              </c:numCache>
            </c:numRef>
          </c:val>
        </c:ser>
        <c:dLbls>
          <c:numFmt formatCode="0.000" sourceLinked="0"/>
          <c:txPr>
            <a:bodyPr/>
            <a:lstStyle/>
            <a:p>
              <a:pPr>
                <a:defRPr b="0" i="0" strike="noStrike" sz="1000" u="none">
                  <a:solidFill>
                    <a:srgbClr val="0B1F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D3F5C"/>
                </a:solidFill>
                <a:latin typeface="+mn-lt"/>
              </a:defRPr>
            </a:pPr>
            <a:endParaRPr lang="en-US"/>
          </a:p>
        </c:txPr>
        <c:crossAx val="2094734552"/>
        <c:crosses val="autoZero"/>
        <c:auto val="1"/>
        <c:lblAlgn val="ctr"/>
        <c:noMultiLvlLbl val="1"/>
      </c:catAx>
      <c:valAx>
        <c:axId val="2094734552"/>
        <c:scaling>
          <c:orientation val="minMax"/>
          <c:max val="1"/>
          <c:min val="0.97"/>
        </c:scaling>
        <c:delete val="0"/>
        <c:axPos val="l"/>
        <c:majorGridlines>
          <c:spPr>
            <a:ln w="6350" cap="flat">
              <a:solidFill>
                <a:srgbClr val="D5DEE6"/>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D3F5C"/>
                </a:solidFill>
                <a:latin typeface="+mn-lt"/>
              </a:defRPr>
            </a:pPr>
            <a:endParaRPr lang="en-US"/>
          </a:p>
        </c:txPr>
        <c:crossAx val="2094734554"/>
        <c:crosses val="autoZero"/>
        <c:crossBetween val="between"/>
        <c:majorUnit val="0.0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Perugu Venkata Aditya, a B.Tech Mechanical Engineering (Digital Manufacturing) student at SASTRA. This is my mini-project: an AI-vision guided pick-and-place system for a dual-arm manipulator, built and tested entirely in NVIDIA Isaac Sim, guided by Dr. Badri Narayanan R. In one sentence: the robot looks at the table, recognises each object, finds where it is in 3D, and then picks and places it - with no manual programming of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go in the same order that the robot works - from the problem, through seeing, locating and moving, to the results. Each section matches one stage of the pipeline, so you can stop me anywhere and ask about that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dual-arm manipulator is two robot arms on one base that work together, like human hands. This allows tasks like holding with one hand while working with the other. Adding AI vision lets it react to what it sees instead of replaying fixed positions. This fits Industry 4.0, where factories are smart, connected and flexible. My project covers the vision-to-motion chain that makes this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reasons dual-arm is better than single-arm. Coordinated operation: both arms work at the same time. Precision and stability: one arm holds, one works. Complex tasks: assembly and re-orientation. Productivity: parallel work raises throughput. Flexibility: new tasks without new hardware. Safety: robots take dangerous or repetitive work, with force limits and collision avoidance. In this project the pick-and-place uses the two-arm set-up and the same pipeline can drive either 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problems. One: industrial robots follow fixed programs, so if an object moves they fail. Two: classical vision struggles with real, complex scenes. Three: vision and motion control are rarely properly joined, especially for dual-arm. Four: building real hardware first is costly and risky. So the answer is to design and prove the whole pipeline in simulation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general objective is one sentence: detect objects, estimate their 3D position and move to them using inverse kinematics inside simulation. Then six specific objectives, one per stage: perception, depth, 3D localisation, coordinate mapping, motion generation, and evaluation. Every result slide later maps back to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reviewed nine papers; this table shows the six most relevant. Redmon gave us YOLO but no manipulation. Harada planned dual-arm motion but without AI vision. Levine learned grasping end-to-end but needed huge real-world data. Le estimated 6D pose but did not control a robot. Chen used reinforcement learning, which is compute heavy. Wang and Kasaei handled clutter with complex learning. None combine detection, depth, frame transformation and inverse kinematics for a dual-arm robot, which is exactly the gap this project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system is three blocks. Perception: Isaac Sim creates data, YOLOv8 is trained and detects objects. Spatial understanding: depth turns pixels into 3D, and TF expresses that position in the robot frame. Control: MATLAB inverse kinematics gives joint angles and the arms execute pick-and-place through ROS 2. Each block feeds the next, so an error early on, like a wrong frame, shows up as a wrong grasp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tools. Isaac Sim is the virtual workshop: physics, robot, camera and automatic data generation. YOLOv8 does detection. ROS 2 Humble is the messaging system, like the nervous system of the robot, and its Action Graph is where I wired the nodes inside Isaac Sim. TF keeps track of coordinate frames. MATLAB Robotics Toolbox solves inverse kinematics because MoveIt and other solvers did not work reliably in this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step-by-step procedure. Steps 1 to 4 build the eyes: data, labels, training and checking. Steps 5 and 6 build spatial understanding: depth and frame transformation. Steps 7 and 8 build the hands: grasp, inverse kinematics and pick-and-place. The following slides walk through each step with its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a detector normally needs thousands of hand-labelled photos. Instead I built the scene in Isaac Sim and let it generate RGB images, depth and bounding boxes automatically. I varied object position, orientation, lighting and viewpoint so the model sees many conditions. This saves time and gives perfect labels, but the trade-off is that the data is synthetic, so real-world performance must still be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image has a text file with one line per object: class id, then the box centre x and y, width and height. All four box numbers are normalised between 0 and 1, so they do not depend on image size. For example class 0 could be a red cube and class 1 a red cylinder. I split data into training and validation sets and checked class ids and box alignment so the model does not learn from wrong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training the model learns from the labelled images over several epochs; I tuned learning rate and batch size and saved the best weights. In validation the model is tested on images it has not seen, using precision, recall and F1. I compared the larger YOLOv8 with the nano variant YOLOv8n. Nano is much lighter and faster, which suits real-time robotics, while the larger model gives deeper feature extraction for complex scenes. An early run with a small dataset gave poor accuracy, which improved after I added more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trained model running live on the Isaac Sim camera. Every object has a coloured box, a class name such as cube_red or cylinder_green, and a confidence score. Confidence is about 0.98 to 0.99 for all objects visible here. The box is important beyond recognition: its centre pixel is what I pass on to the depth step to locate the object in 3D.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detection gives only a pixel location, which is not enough for a robot. The depth camera gives the distance Z at that pixel. Using the pinhole camera model, X equals the pixel offset from the image centre times Z divided by the focal length, and Y likewise. In my worked example the object at pixel 148, 247 with depth 1.159 m and focal length 600 pixels gives X about minus 0.178 m and Y about minus 0.141 m in the camera frame. Note that these are camera-frame values; the next step moves them to the robot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3D point from the last step is measured from the camera, but the robot arm measures everything from its own base. The ROS 2 Publish Transform Tree node in the Action Graph holds the rotation and translation between camera and robot base, so the point can be converted. This was a real problem in my work: early positions were wrong because the frames were not aligned correctly. After fixing the frame configuration in TF the positions became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 kinematics goes from joint angles to hand position. Inverse kinematics is the reverse: given where the hand must be, find the joint angles. I pass the robot-frame X, Y, Z to a MATLAB Robotics Toolbox solver. It prints the target, the achieved end-effector position and the error, then the joint angles. I first tried MoveIt and other IK solvers but they did not work reliably in this set-up, so MATLAB was used. A limitation is that this step is run in MATLAB, not yet fully automated inside ROS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joint angles computed, the arm moves above the object, descends, closes the gripper for a stable grasp, lifts, carries the object to the target location and releases it. These three frames show picking, holding and placing in Isaac Sim. This is the end of the chain, so it only works if the detection, depth, transform and inverse kinematics are all correct. It shows the full integration of perception, planning and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Action Graph is a node diagram inside Isaac Sim. Camera and depth nodes stream RGB and depth to ROS 2 topics. A transform tree node publishes the frames. Control nodes receive joint commands and drive both arms. I first tried the built-in Replicator script for depth but it produced repeated syntax errors, so I switched to the Action Graph for stable data. Debugging path mismatches between nodes was one of my main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metrics. Precision: of everything the model detected, how much was right. Recall: of all real objects, how many it found. F1 is the balance of the two. YOLOv8n reached an overall mAP at 0.5 of 0.990, and all eight classes are between 0.987 and 0.991, so no class is weak. One honest caveat: these are very high because the data is clean and synthetic; in the real world, noise, shine and clutter will lower it, which is why real-world testing is my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YOLOv8. Its F1 and recall curves stay at 1.0 across most confidence thresholds and drop only at the very highest values, so almost nothing is missed. Bottom row is YOLOv8n. The precision-recall curve hugs the top-right corner, which is the ideal, and the F1 curve peaks at about 1.0 near confidence 0.9. In practice a confidence threshold around 0.5 to 0.9 gives reliable detections.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real problems. One, poor accuracy with a small dataset, fixed by generating more images. Two, depth through the built-in Replicator script kept failing with syntax errors, so I moved to the Action Graph. Three, wrong coordinates because frames were misaligned, fixed in TF. Four, MoveIt and other solvers could not give reliable inverse kinematics, so I used MATLAB. Each fix taught me to check the interface between two stages, not just each stage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role was mainly the robot side. I worked on the dual-arm robot in Isaac Sim with ROS 2 for object handling and motion control, and I implemented the MATLAB calculations that give joint angles. What I learned: Isaac Sim, ROS 2 Action Graph and TF, and inverse kinematics. Limitations: Action Graph path mismatches caused inaccurate positioning, MATLAB joint-angle errors reduced precision, and everything is simulation only, so safety and force limits must be validated before real use near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built and demonstrated a complete perception-to-action pipeline in simulation. YOLOv8 detects objects at about 0.99 mAP, depth fusion gives 3D positions, TF maps them to the robot frame and MATLAB inverse kinematics drives the pick-and-place. The architecture is modular and safe to test. Future work: test on a real robot with a real RGB-D camera, add collision-aware planning and dual-arm synchronisation, run IK inside ROS 2 for a closed loop, and handle clutter with 6D pose estimation.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These are the questions I am ready for. Why YOLOv8: single-pass, real-time and easy to link with ROS. How depth becomes 3D: the pinhole model. Why TF: camera and robot frames differ. Why MATLAB: MoveIt and other IK solvers did not work reliably here. What about the real world: the metrics are from synthetic data, so the sim-to-real gap is the next test.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F7F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3.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3.xml"/><Relationship Id="rId7"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457200" y="411480"/>
            <a:ext cx="475488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MCT300 / MEC300 MINI PROJECT  |  MAY 2026</a:t>
            </a:r>
            <a:endParaRPr lang="en-US" sz="1200" dirty="0"/>
          </a:p>
        </p:txBody>
      </p:sp>
      <p:sp>
        <p:nvSpPr>
          <p:cNvPr id="4" name="Text 1"/>
          <p:cNvSpPr txBox="1"/>
          <p:nvPr/>
        </p:nvSpPr>
        <p:spPr>
          <a:xfrm>
            <a:off x="457200" y="868680"/>
            <a:ext cx="4663440" cy="1737360"/>
          </a:xfrm>
          <a:prstGeom prst="rect">
            <a:avLst/>
          </a:prstGeom>
          <a:noFill/>
          <a:ln/>
        </p:spPr>
        <p:txBody>
          <a:bodyPr wrap="square" lIns="0" tIns="0" rIns="0" bIns="0" rtlCol="0" anchor="t"/>
          <a:lstStyle/>
          <a:p>
            <a:pPr indent="0" marL="0">
              <a:buNone/>
            </a:pPr>
            <a:r>
              <a:rPr lang="en-US" sz="3200" b="1" dirty="0">
                <a:solidFill>
                  <a:schemeClr val="bg1"/>
                </a:solidFill>
                <a:latin typeface="Cambria" pitchFamily="34" charset="0"/>
                <a:ea typeface="Cambria" pitchFamily="34" charset="-122"/>
                <a:cs typeface="Cambria" pitchFamily="34" charset="-120"/>
              </a:rPr>
              <a:t>AI-Vision Based Guided Pick and Place Dual Arm Manipulator</a:t>
            </a:r>
            <a:endParaRPr lang="en-US" sz="3200" dirty="0"/>
          </a:p>
        </p:txBody>
      </p:sp>
      <p:sp>
        <p:nvSpPr>
          <p:cNvPr id="5" name="card"/>
          <p:cNvSpPr/>
          <p:nvPr/>
        </p:nvSpPr>
        <p:spPr>
          <a:xfrm>
            <a:off x="457200" y="2880360"/>
            <a:ext cx="4663440" cy="1600200"/>
          </a:xfrm>
          <a:prstGeom prst="roundRect">
            <a:avLst>
              <a:gd name="adj" fmla="val 5714"/>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6" name="Text 3"/>
          <p:cNvSpPr txBox="1"/>
          <p:nvPr/>
        </p:nvSpPr>
        <p:spPr>
          <a:xfrm>
            <a:off x="685800" y="3017520"/>
            <a:ext cx="4297680" cy="365760"/>
          </a:xfrm>
          <a:prstGeom prst="rect">
            <a:avLst/>
          </a:prstGeom>
          <a:noFill/>
          <a:ln/>
        </p:spPr>
        <p:txBody>
          <a:bodyPr wrap="square" lIns="0" tIns="0" rIns="0" bIns="0" rtlCol="0" anchor="t"/>
          <a:lstStyle/>
          <a:p>
            <a:pPr indent="0" marL="0">
              <a:buNone/>
            </a:pPr>
            <a:r>
              <a:rPr lang="en-US" sz="2000" b="1" dirty="0">
                <a:solidFill>
                  <a:schemeClr val="bg1"/>
                </a:solidFill>
              </a:rPr>
              <a:t>Perugu Venkata Aditya</a:t>
            </a:r>
            <a:endParaRPr lang="en-US" sz="2000" dirty="0"/>
          </a:p>
        </p:txBody>
      </p:sp>
      <p:sp>
        <p:nvSpPr>
          <p:cNvPr id="7" name="Text 4"/>
          <p:cNvSpPr txBox="1"/>
          <p:nvPr/>
        </p:nvSpPr>
        <p:spPr>
          <a:xfrm>
            <a:off x="685800" y="3401568"/>
            <a:ext cx="4297680" cy="274320"/>
          </a:xfrm>
          <a:prstGeom prst="rect">
            <a:avLst/>
          </a:prstGeom>
          <a:noFill/>
          <a:ln/>
        </p:spPr>
        <p:txBody>
          <a:bodyPr wrap="square" lIns="0" tIns="0" rIns="0" bIns="0" rtlCol="0" anchor="t"/>
          <a:lstStyle/>
          <a:p>
            <a:pPr indent="0" marL="0">
              <a:buNone/>
            </a:pPr>
            <a:r>
              <a:rPr lang="en-US" sz="1400" dirty="0">
                <a:solidFill>
                  <a:schemeClr val="accent6"/>
                </a:solidFill>
              </a:rPr>
              <a:t>Reg. No. 127161035</a:t>
            </a:r>
            <a:endParaRPr lang="en-US" sz="1400" dirty="0"/>
          </a:p>
        </p:txBody>
      </p:sp>
      <p:sp>
        <p:nvSpPr>
          <p:cNvPr id="8" name="Text 5"/>
          <p:cNvSpPr txBox="1"/>
          <p:nvPr/>
        </p:nvSpPr>
        <p:spPr>
          <a:xfrm>
            <a:off x="685800" y="3675888"/>
            <a:ext cx="4297680" cy="274320"/>
          </a:xfrm>
          <a:prstGeom prst="rect">
            <a:avLst/>
          </a:prstGeom>
          <a:noFill/>
          <a:ln/>
        </p:spPr>
        <p:txBody>
          <a:bodyPr wrap="square" lIns="0" tIns="0" rIns="0" bIns="0" rtlCol="0" anchor="t"/>
          <a:lstStyle/>
          <a:p>
            <a:pPr indent="0" marL="0">
              <a:buNone/>
            </a:pPr>
            <a:r>
              <a:rPr lang="en-US" sz="1400" dirty="0">
                <a:solidFill>
                  <a:schemeClr val="bg1"/>
                </a:solidFill>
              </a:rPr>
              <a:t>B.Tech. Mechanical Engineering (Digital Manufacturing)</a:t>
            </a:r>
            <a:endParaRPr lang="en-US" sz="1400" dirty="0"/>
          </a:p>
        </p:txBody>
      </p:sp>
      <p:sp>
        <p:nvSpPr>
          <p:cNvPr id="9" name="Text 6"/>
          <p:cNvSpPr txBox="1"/>
          <p:nvPr/>
        </p:nvSpPr>
        <p:spPr>
          <a:xfrm>
            <a:off x="685800" y="3977640"/>
            <a:ext cx="4297680" cy="411480"/>
          </a:xfrm>
          <a:prstGeom prst="rect">
            <a:avLst/>
          </a:prstGeom>
          <a:noFill/>
          <a:ln/>
        </p:spPr>
        <p:txBody>
          <a:bodyPr wrap="square" lIns="0" tIns="0" rIns="0" bIns="0" rtlCol="0" anchor="t"/>
          <a:lstStyle/>
          <a:p>
            <a:pPr indent="0" marL="0">
              <a:buNone/>
            </a:pPr>
            <a:r>
              <a:rPr lang="en-US" sz="1200" dirty="0">
                <a:solidFill>
                  <a:schemeClr val="accent6"/>
                </a:solidFill>
              </a:rPr>
              <a:t>Guide: Dr. Badri Narayanan R, Sr. Asst. Professor  |  School of Mechanical Engineering, SASTRA</a:t>
            </a:r>
            <a:endParaRPr lang="en-US" sz="1200" dirty="0"/>
          </a:p>
        </p:txBody>
      </p:sp>
      <p:sp>
        <p:nvSpPr>
          <p:cNvPr id="10" name="Shape 7"/>
          <p:cNvSpPr/>
          <p:nvPr/>
        </p:nvSpPr>
        <p:spPr>
          <a:xfrm>
            <a:off x="5340096" y="1256917"/>
            <a:ext cx="3493008" cy="2241045"/>
          </a:xfrm>
          <a:prstGeom prst="roundRect">
            <a:avLst>
              <a:gd name="adj" fmla="val 2448"/>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pic>
        <p:nvPicPr>
          <p:cNvPr id="11" name="Image 0" descr="Isaac Sim workspace">    </p:cNvPr>
          <p:cNvPicPr>
            <a:picLocks noChangeAspect="1"/>
          </p:cNvPicPr>
          <p:nvPr/>
        </p:nvPicPr>
        <p:blipFill>
          <a:blip r:embed="rId1"/>
          <a:stretch>
            <a:fillRect/>
          </a:stretch>
        </p:blipFill>
        <p:spPr>
          <a:xfrm>
            <a:off x="5394960" y="1311781"/>
            <a:ext cx="3383280" cy="2131317"/>
          </a:xfrm>
          <a:prstGeom prst="rect">
            <a:avLst/>
          </a:prstGeom>
        </p:spPr>
      </p:pic>
      <p:sp>
        <p:nvSpPr>
          <p:cNvPr id="12" name="Text 8"/>
          <p:cNvSpPr txBox="1"/>
          <p:nvPr/>
        </p:nvSpPr>
        <p:spPr>
          <a:xfrm>
            <a:off x="5394960" y="3977640"/>
            <a:ext cx="3383280" cy="274320"/>
          </a:xfrm>
          <a:prstGeom prst="rect">
            <a:avLst/>
          </a:prstGeom>
          <a:noFill/>
          <a:ln/>
        </p:spPr>
        <p:txBody>
          <a:bodyPr wrap="square" lIns="0" tIns="0" rIns="0" bIns="0" rtlCol="0" anchor="t"/>
          <a:lstStyle/>
          <a:p>
            <a:pPr algn="ctr" indent="0" marL="0">
              <a:buNone/>
            </a:pPr>
            <a:r>
              <a:rPr lang="en-US" sz="1200" dirty="0">
                <a:solidFill>
                  <a:schemeClr val="accent6"/>
                </a:solidFill>
              </a:rPr>
              <a:t>Simulation workspace in NVIDIA Isaac Sim</a:t>
            </a:r>
            <a:endParaRPr lang="en-US" sz="1200" dirty="0"/>
          </a:p>
        </p:txBody>
      </p:sp>
      <p:sp>
        <p:nvSpPr>
          <p:cNvPr id="1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What I Will Cover</a:t>
            </a:r>
            <a:endParaRPr lang="en-US" sz="3000" dirty="0"/>
          </a:p>
        </p:txBody>
      </p:sp>
      <p:sp>
        <p:nvSpPr>
          <p:cNvPr id="4" name="card"/>
          <p:cNvSpPr/>
          <p:nvPr/>
        </p:nvSpPr>
        <p:spPr>
          <a:xfrm>
            <a:off x="457200" y="1188720"/>
            <a:ext cx="2560320" cy="1554480"/>
          </a:xfrm>
          <a:prstGeom prst="roundRect">
            <a:avLst>
              <a:gd name="adj" fmla="val 5882"/>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5" name="Shape 2"/>
          <p:cNvSpPr/>
          <p:nvPr/>
        </p:nvSpPr>
        <p:spPr>
          <a:xfrm>
            <a:off x="640080" y="1371600"/>
            <a:ext cx="548640" cy="548640"/>
          </a:xfrm>
          <a:prstGeom prst="ellipse">
            <a:avLst/>
          </a:prstGeom>
          <a:solidFill>
            <a:schemeClr val="accent1"/>
          </a:solidFill>
          <a:ln w="12700">
            <a:solidFill>
              <a:schemeClr val="accent1"/>
            </a:solidFill>
            <a:prstDash val="solid"/>
          </a:ln>
        </p:spPr>
      </p:sp>
      <p:pic>
        <p:nvPicPr>
          <p:cNvPr id="6" name="Image 0" descr="FaLightbulb">    </p:cNvPr>
          <p:cNvPicPr>
            <a:picLocks noChangeAspect="1"/>
          </p:cNvPicPr>
          <p:nvPr/>
        </p:nvPicPr>
        <p:blipFill>
          <a:blip r:embed="rId1"/>
          <a:stretch>
            <a:fillRect/>
          </a:stretch>
        </p:blipFill>
        <p:spPr>
          <a:xfrm>
            <a:off x="777240" y="1508760"/>
            <a:ext cx="274320" cy="274320"/>
          </a:xfrm>
          <a:prstGeom prst="rect">
            <a:avLst/>
          </a:prstGeom>
        </p:spPr>
      </p:pic>
      <p:sp>
        <p:nvSpPr>
          <p:cNvPr id="7" name="Text 3"/>
          <p:cNvSpPr txBox="1"/>
          <p:nvPr/>
        </p:nvSpPr>
        <p:spPr>
          <a:xfrm>
            <a:off x="640080" y="2011680"/>
            <a:ext cx="2286000" cy="320040"/>
          </a:xfrm>
          <a:prstGeom prst="rect">
            <a:avLst/>
          </a:prstGeom>
          <a:noFill/>
          <a:ln/>
        </p:spPr>
        <p:txBody>
          <a:bodyPr wrap="square" lIns="0" tIns="0" rIns="0" bIns="0" rtlCol="0" anchor="t"/>
          <a:lstStyle/>
          <a:p>
            <a:pPr indent="0" marL="0">
              <a:buNone/>
            </a:pPr>
            <a:r>
              <a:rPr lang="en-US" sz="1500" b="1" dirty="0">
                <a:solidFill>
                  <a:schemeClr val="tx1"/>
                </a:solidFill>
              </a:rPr>
              <a:t>1  Introduction &amp; Problem</a:t>
            </a:r>
            <a:endParaRPr lang="en-US" sz="1500" dirty="0"/>
          </a:p>
        </p:txBody>
      </p:sp>
      <p:sp>
        <p:nvSpPr>
          <p:cNvPr id="8" name="Text 4"/>
          <p:cNvSpPr txBox="1"/>
          <p:nvPr/>
        </p:nvSpPr>
        <p:spPr>
          <a:xfrm>
            <a:off x="640080" y="2331720"/>
            <a:ext cx="2286000" cy="365760"/>
          </a:xfrm>
          <a:prstGeom prst="rect">
            <a:avLst/>
          </a:prstGeom>
          <a:noFill/>
          <a:ln/>
        </p:spPr>
        <p:txBody>
          <a:bodyPr wrap="square" lIns="0" tIns="0" rIns="0" bIns="0" rtlCol="0" anchor="t"/>
          <a:lstStyle/>
          <a:p>
            <a:pPr indent="0" marL="0">
              <a:buNone/>
            </a:pPr>
            <a:r>
              <a:rPr lang="en-US" sz="1200" dirty="0">
                <a:solidFill>
                  <a:schemeClr val="accent5"/>
                </a:solidFill>
              </a:rPr>
              <a:t>Why vision-guided dual-arm robots</a:t>
            </a:r>
            <a:endParaRPr lang="en-US" sz="1200" dirty="0"/>
          </a:p>
        </p:txBody>
      </p:sp>
      <p:sp>
        <p:nvSpPr>
          <p:cNvPr id="9" name="card"/>
          <p:cNvSpPr/>
          <p:nvPr/>
        </p:nvSpPr>
        <p:spPr>
          <a:xfrm>
            <a:off x="3291840" y="1188720"/>
            <a:ext cx="2560320" cy="1554480"/>
          </a:xfrm>
          <a:prstGeom prst="roundRect">
            <a:avLst>
              <a:gd name="adj" fmla="val 5882"/>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0" name="Shape 6"/>
          <p:cNvSpPr/>
          <p:nvPr/>
        </p:nvSpPr>
        <p:spPr>
          <a:xfrm>
            <a:off x="3474720" y="1371600"/>
            <a:ext cx="548640" cy="548640"/>
          </a:xfrm>
          <a:prstGeom prst="ellipse">
            <a:avLst/>
          </a:prstGeom>
          <a:solidFill>
            <a:schemeClr val="accent1"/>
          </a:solidFill>
          <a:ln w="12700">
            <a:solidFill>
              <a:schemeClr val="accent1"/>
            </a:solidFill>
            <a:prstDash val="solid"/>
          </a:ln>
        </p:spPr>
      </p:sp>
      <p:pic>
        <p:nvPicPr>
          <p:cNvPr id="11" name="Image 1" descr="FaSearch">    </p:cNvPr>
          <p:cNvPicPr>
            <a:picLocks noChangeAspect="1"/>
          </p:cNvPicPr>
          <p:nvPr/>
        </p:nvPicPr>
        <p:blipFill>
          <a:blip r:embed="rId2"/>
          <a:stretch>
            <a:fillRect/>
          </a:stretch>
        </p:blipFill>
        <p:spPr>
          <a:xfrm>
            <a:off x="3611880" y="1508760"/>
            <a:ext cx="274320" cy="274320"/>
          </a:xfrm>
          <a:prstGeom prst="rect">
            <a:avLst/>
          </a:prstGeom>
        </p:spPr>
      </p:pic>
      <p:sp>
        <p:nvSpPr>
          <p:cNvPr id="12" name="Text 7"/>
          <p:cNvSpPr txBox="1"/>
          <p:nvPr/>
        </p:nvSpPr>
        <p:spPr>
          <a:xfrm>
            <a:off x="3474720" y="2011680"/>
            <a:ext cx="2286000" cy="320040"/>
          </a:xfrm>
          <a:prstGeom prst="rect">
            <a:avLst/>
          </a:prstGeom>
          <a:noFill/>
          <a:ln/>
        </p:spPr>
        <p:txBody>
          <a:bodyPr wrap="square" lIns="0" tIns="0" rIns="0" bIns="0" rtlCol="0" anchor="t"/>
          <a:lstStyle/>
          <a:p>
            <a:pPr indent="0" marL="0">
              <a:buNone/>
            </a:pPr>
            <a:r>
              <a:rPr lang="en-US" sz="1500" b="1" dirty="0">
                <a:solidFill>
                  <a:schemeClr val="tx1"/>
                </a:solidFill>
              </a:rPr>
              <a:t>2  Literature &amp; Objectives</a:t>
            </a:r>
            <a:endParaRPr lang="en-US" sz="1500" dirty="0"/>
          </a:p>
        </p:txBody>
      </p:sp>
      <p:sp>
        <p:nvSpPr>
          <p:cNvPr id="13" name="Text 8"/>
          <p:cNvSpPr txBox="1"/>
          <p:nvPr/>
        </p:nvSpPr>
        <p:spPr>
          <a:xfrm>
            <a:off x="3474720" y="2331720"/>
            <a:ext cx="2286000" cy="365760"/>
          </a:xfrm>
          <a:prstGeom prst="rect">
            <a:avLst/>
          </a:prstGeom>
          <a:noFill/>
          <a:ln/>
        </p:spPr>
        <p:txBody>
          <a:bodyPr wrap="square" lIns="0" tIns="0" rIns="0" bIns="0" rtlCol="0" anchor="t"/>
          <a:lstStyle/>
          <a:p>
            <a:pPr indent="0" marL="0">
              <a:buNone/>
            </a:pPr>
            <a:r>
              <a:rPr lang="en-US" sz="1200" dirty="0">
                <a:solidFill>
                  <a:schemeClr val="accent5"/>
                </a:solidFill>
              </a:rPr>
              <a:t>What exists and the gap</a:t>
            </a:r>
            <a:endParaRPr lang="en-US" sz="1200" dirty="0"/>
          </a:p>
        </p:txBody>
      </p:sp>
      <p:sp>
        <p:nvSpPr>
          <p:cNvPr id="14" name="card"/>
          <p:cNvSpPr/>
          <p:nvPr/>
        </p:nvSpPr>
        <p:spPr>
          <a:xfrm>
            <a:off x="6126480" y="1188720"/>
            <a:ext cx="2560320" cy="1554480"/>
          </a:xfrm>
          <a:prstGeom prst="roundRect">
            <a:avLst>
              <a:gd name="adj" fmla="val 5882"/>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Shape 10"/>
          <p:cNvSpPr/>
          <p:nvPr/>
        </p:nvSpPr>
        <p:spPr>
          <a:xfrm>
            <a:off x="6309360" y="1371600"/>
            <a:ext cx="548640" cy="548640"/>
          </a:xfrm>
          <a:prstGeom prst="ellipse">
            <a:avLst/>
          </a:prstGeom>
          <a:solidFill>
            <a:schemeClr val="accent2"/>
          </a:solidFill>
          <a:ln w="12700">
            <a:solidFill>
              <a:schemeClr val="accent2"/>
            </a:solidFill>
            <a:prstDash val="solid"/>
          </a:ln>
        </p:spPr>
      </p:sp>
      <p:pic>
        <p:nvPicPr>
          <p:cNvPr id="16" name="Image 2" descr="FaProjectDiagram">    </p:cNvPr>
          <p:cNvPicPr>
            <a:picLocks noChangeAspect="1"/>
          </p:cNvPicPr>
          <p:nvPr/>
        </p:nvPicPr>
        <p:blipFill>
          <a:blip r:embed="rId3"/>
          <a:stretch>
            <a:fillRect/>
          </a:stretch>
        </p:blipFill>
        <p:spPr>
          <a:xfrm>
            <a:off x="6446520" y="1508760"/>
            <a:ext cx="274320" cy="274320"/>
          </a:xfrm>
          <a:prstGeom prst="rect">
            <a:avLst/>
          </a:prstGeom>
        </p:spPr>
      </p:pic>
      <p:sp>
        <p:nvSpPr>
          <p:cNvPr id="17" name="Text 11"/>
          <p:cNvSpPr txBox="1"/>
          <p:nvPr/>
        </p:nvSpPr>
        <p:spPr>
          <a:xfrm>
            <a:off x="6309360" y="2011680"/>
            <a:ext cx="2286000" cy="320040"/>
          </a:xfrm>
          <a:prstGeom prst="rect">
            <a:avLst/>
          </a:prstGeom>
          <a:noFill/>
          <a:ln/>
        </p:spPr>
        <p:txBody>
          <a:bodyPr wrap="square" lIns="0" tIns="0" rIns="0" bIns="0" rtlCol="0" anchor="t"/>
          <a:lstStyle/>
          <a:p>
            <a:pPr indent="0" marL="0">
              <a:buNone/>
            </a:pPr>
            <a:r>
              <a:rPr lang="en-US" sz="1500" b="1" dirty="0">
                <a:solidFill>
                  <a:schemeClr val="tx1"/>
                </a:solidFill>
              </a:rPr>
              <a:t>3  System &amp; Tools</a:t>
            </a:r>
            <a:endParaRPr lang="en-US" sz="1500" dirty="0"/>
          </a:p>
        </p:txBody>
      </p:sp>
      <p:sp>
        <p:nvSpPr>
          <p:cNvPr id="18" name="Text 12"/>
          <p:cNvSpPr txBox="1"/>
          <p:nvPr/>
        </p:nvSpPr>
        <p:spPr>
          <a:xfrm>
            <a:off x="6309360" y="2331720"/>
            <a:ext cx="2286000" cy="365760"/>
          </a:xfrm>
          <a:prstGeom prst="rect">
            <a:avLst/>
          </a:prstGeom>
          <a:noFill/>
          <a:ln/>
        </p:spPr>
        <p:txBody>
          <a:bodyPr wrap="square" lIns="0" tIns="0" rIns="0" bIns="0" rtlCol="0" anchor="t"/>
          <a:lstStyle/>
          <a:p>
            <a:pPr indent="0" marL="0">
              <a:buNone/>
            </a:pPr>
            <a:r>
              <a:rPr lang="en-US" sz="1200" dirty="0">
                <a:solidFill>
                  <a:schemeClr val="accent5"/>
                </a:solidFill>
              </a:rPr>
              <a:t>Architecture and software stack</a:t>
            </a:r>
            <a:endParaRPr lang="en-US" sz="1200" dirty="0"/>
          </a:p>
        </p:txBody>
      </p:sp>
      <p:sp>
        <p:nvSpPr>
          <p:cNvPr id="19" name="card"/>
          <p:cNvSpPr/>
          <p:nvPr/>
        </p:nvSpPr>
        <p:spPr>
          <a:xfrm>
            <a:off x="457200" y="2971800"/>
            <a:ext cx="2560320" cy="1554480"/>
          </a:xfrm>
          <a:prstGeom prst="roundRect">
            <a:avLst>
              <a:gd name="adj" fmla="val 5882"/>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0" name="Shape 14"/>
          <p:cNvSpPr/>
          <p:nvPr/>
        </p:nvSpPr>
        <p:spPr>
          <a:xfrm>
            <a:off x="640080" y="3154680"/>
            <a:ext cx="548640" cy="548640"/>
          </a:xfrm>
          <a:prstGeom prst="ellipse">
            <a:avLst/>
          </a:prstGeom>
          <a:solidFill>
            <a:schemeClr val="accent2"/>
          </a:solidFill>
          <a:ln w="12700">
            <a:solidFill>
              <a:schemeClr val="accent2"/>
            </a:solidFill>
            <a:prstDash val="solid"/>
          </a:ln>
        </p:spPr>
      </p:sp>
      <p:pic>
        <p:nvPicPr>
          <p:cNvPr id="21" name="Image 3" descr="FaRoute">    </p:cNvPr>
          <p:cNvPicPr>
            <a:picLocks noChangeAspect="1"/>
          </p:cNvPicPr>
          <p:nvPr/>
        </p:nvPicPr>
        <p:blipFill>
          <a:blip r:embed="rId4"/>
          <a:stretch>
            <a:fillRect/>
          </a:stretch>
        </p:blipFill>
        <p:spPr>
          <a:xfrm>
            <a:off x="777240" y="3291840"/>
            <a:ext cx="274320" cy="274320"/>
          </a:xfrm>
          <a:prstGeom prst="rect">
            <a:avLst/>
          </a:prstGeom>
        </p:spPr>
      </p:pic>
      <p:sp>
        <p:nvSpPr>
          <p:cNvPr id="22" name="Text 15"/>
          <p:cNvSpPr txBox="1"/>
          <p:nvPr/>
        </p:nvSpPr>
        <p:spPr>
          <a:xfrm>
            <a:off x="640080" y="3794760"/>
            <a:ext cx="2286000" cy="320040"/>
          </a:xfrm>
          <a:prstGeom prst="rect">
            <a:avLst/>
          </a:prstGeom>
          <a:noFill/>
          <a:ln/>
        </p:spPr>
        <p:txBody>
          <a:bodyPr wrap="square" lIns="0" tIns="0" rIns="0" bIns="0" rtlCol="0" anchor="t"/>
          <a:lstStyle/>
          <a:p>
            <a:pPr indent="0" marL="0">
              <a:buNone/>
            </a:pPr>
            <a:r>
              <a:rPr lang="en-US" sz="1500" b="1" dirty="0">
                <a:solidFill>
                  <a:schemeClr val="tx1"/>
                </a:solidFill>
              </a:rPr>
              <a:t>4  Methodology</a:t>
            </a:r>
            <a:endParaRPr lang="en-US" sz="1500" dirty="0"/>
          </a:p>
        </p:txBody>
      </p:sp>
      <p:sp>
        <p:nvSpPr>
          <p:cNvPr id="23" name="Text 16"/>
          <p:cNvSpPr txBox="1"/>
          <p:nvPr/>
        </p:nvSpPr>
        <p:spPr>
          <a:xfrm>
            <a:off x="640080" y="4114800"/>
            <a:ext cx="2286000" cy="365760"/>
          </a:xfrm>
          <a:prstGeom prst="rect">
            <a:avLst/>
          </a:prstGeom>
          <a:noFill/>
          <a:ln/>
        </p:spPr>
        <p:txBody>
          <a:bodyPr wrap="square" lIns="0" tIns="0" rIns="0" bIns="0" rtlCol="0" anchor="t"/>
          <a:lstStyle/>
          <a:p>
            <a:pPr indent="0" marL="0">
              <a:buNone/>
            </a:pPr>
            <a:r>
              <a:rPr lang="en-US" sz="1200" dirty="0">
                <a:solidFill>
                  <a:schemeClr val="accent5"/>
                </a:solidFill>
              </a:rPr>
              <a:t>The 8-step procedure</a:t>
            </a:r>
            <a:endParaRPr lang="en-US" sz="1200" dirty="0"/>
          </a:p>
        </p:txBody>
      </p:sp>
      <p:sp>
        <p:nvSpPr>
          <p:cNvPr id="24" name="card"/>
          <p:cNvSpPr/>
          <p:nvPr/>
        </p:nvSpPr>
        <p:spPr>
          <a:xfrm>
            <a:off x="3291840" y="2971800"/>
            <a:ext cx="2560320" cy="1554480"/>
          </a:xfrm>
          <a:prstGeom prst="roundRect">
            <a:avLst>
              <a:gd name="adj" fmla="val 5882"/>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5" name="Shape 18"/>
          <p:cNvSpPr/>
          <p:nvPr/>
        </p:nvSpPr>
        <p:spPr>
          <a:xfrm>
            <a:off x="3474720" y="3154680"/>
            <a:ext cx="548640" cy="548640"/>
          </a:xfrm>
          <a:prstGeom prst="ellipse">
            <a:avLst/>
          </a:prstGeom>
          <a:solidFill>
            <a:schemeClr val="accent4"/>
          </a:solidFill>
          <a:ln w="12700">
            <a:solidFill>
              <a:schemeClr val="accent4"/>
            </a:solidFill>
            <a:prstDash val="solid"/>
          </a:ln>
        </p:spPr>
      </p:sp>
      <p:pic>
        <p:nvPicPr>
          <p:cNvPr id="26" name="Image 4" descr="FaChartLine">    </p:cNvPr>
          <p:cNvPicPr>
            <a:picLocks noChangeAspect="1"/>
          </p:cNvPicPr>
          <p:nvPr/>
        </p:nvPicPr>
        <p:blipFill>
          <a:blip r:embed="rId5"/>
          <a:stretch>
            <a:fillRect/>
          </a:stretch>
        </p:blipFill>
        <p:spPr>
          <a:xfrm>
            <a:off x="3611880" y="3291840"/>
            <a:ext cx="274320" cy="274320"/>
          </a:xfrm>
          <a:prstGeom prst="rect">
            <a:avLst/>
          </a:prstGeom>
        </p:spPr>
      </p:pic>
      <p:sp>
        <p:nvSpPr>
          <p:cNvPr id="27" name="Text 19"/>
          <p:cNvSpPr txBox="1"/>
          <p:nvPr/>
        </p:nvSpPr>
        <p:spPr>
          <a:xfrm>
            <a:off x="3474720" y="3794760"/>
            <a:ext cx="2286000" cy="320040"/>
          </a:xfrm>
          <a:prstGeom prst="rect">
            <a:avLst/>
          </a:prstGeom>
          <a:noFill/>
          <a:ln/>
        </p:spPr>
        <p:txBody>
          <a:bodyPr wrap="square" lIns="0" tIns="0" rIns="0" bIns="0" rtlCol="0" anchor="t"/>
          <a:lstStyle/>
          <a:p>
            <a:pPr indent="0" marL="0">
              <a:buNone/>
            </a:pPr>
            <a:r>
              <a:rPr lang="en-US" sz="1500" b="1" dirty="0">
                <a:solidFill>
                  <a:schemeClr val="tx1"/>
                </a:solidFill>
              </a:rPr>
              <a:t>5  Results</a:t>
            </a:r>
            <a:endParaRPr lang="en-US" sz="1500" dirty="0"/>
          </a:p>
        </p:txBody>
      </p:sp>
      <p:sp>
        <p:nvSpPr>
          <p:cNvPr id="28" name="Text 20"/>
          <p:cNvSpPr txBox="1"/>
          <p:nvPr/>
        </p:nvSpPr>
        <p:spPr>
          <a:xfrm>
            <a:off x="3474720" y="4114800"/>
            <a:ext cx="2286000" cy="365760"/>
          </a:xfrm>
          <a:prstGeom prst="rect">
            <a:avLst/>
          </a:prstGeom>
          <a:noFill/>
          <a:ln/>
        </p:spPr>
        <p:txBody>
          <a:bodyPr wrap="square" lIns="0" tIns="0" rIns="0" bIns="0" rtlCol="0" anchor="t"/>
          <a:lstStyle/>
          <a:p>
            <a:pPr indent="0" marL="0">
              <a:buNone/>
            </a:pPr>
            <a:r>
              <a:rPr lang="en-US" sz="1200" dirty="0">
                <a:solidFill>
                  <a:schemeClr val="accent5"/>
                </a:solidFill>
              </a:rPr>
              <a:t>Detection, 3D, IK, pick-and-place</a:t>
            </a:r>
            <a:endParaRPr lang="en-US" sz="1200" dirty="0"/>
          </a:p>
        </p:txBody>
      </p:sp>
      <p:sp>
        <p:nvSpPr>
          <p:cNvPr id="29" name="card"/>
          <p:cNvSpPr/>
          <p:nvPr/>
        </p:nvSpPr>
        <p:spPr>
          <a:xfrm>
            <a:off x="6126480" y="2971800"/>
            <a:ext cx="2560320" cy="1554480"/>
          </a:xfrm>
          <a:prstGeom prst="roundRect">
            <a:avLst>
              <a:gd name="adj" fmla="val 5882"/>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30" name="Shape 22"/>
          <p:cNvSpPr/>
          <p:nvPr/>
        </p:nvSpPr>
        <p:spPr>
          <a:xfrm>
            <a:off x="6309360" y="3154680"/>
            <a:ext cx="548640" cy="548640"/>
          </a:xfrm>
          <a:prstGeom prst="ellipse">
            <a:avLst/>
          </a:prstGeom>
          <a:solidFill>
            <a:schemeClr val="accent4"/>
          </a:solidFill>
          <a:ln w="12700">
            <a:solidFill>
              <a:schemeClr val="accent4"/>
            </a:solidFill>
            <a:prstDash val="solid"/>
          </a:ln>
        </p:spPr>
      </p:sp>
      <p:pic>
        <p:nvPicPr>
          <p:cNvPr id="31" name="Image 5" descr="FaCheckCircle">    </p:cNvPr>
          <p:cNvPicPr>
            <a:picLocks noChangeAspect="1"/>
          </p:cNvPicPr>
          <p:nvPr/>
        </p:nvPicPr>
        <p:blipFill>
          <a:blip r:embed="rId6"/>
          <a:stretch>
            <a:fillRect/>
          </a:stretch>
        </p:blipFill>
        <p:spPr>
          <a:xfrm>
            <a:off x="6446520" y="3291840"/>
            <a:ext cx="274320" cy="274320"/>
          </a:xfrm>
          <a:prstGeom prst="rect">
            <a:avLst/>
          </a:prstGeom>
        </p:spPr>
      </p:pic>
      <p:sp>
        <p:nvSpPr>
          <p:cNvPr id="32" name="Text 23"/>
          <p:cNvSpPr txBox="1"/>
          <p:nvPr/>
        </p:nvSpPr>
        <p:spPr>
          <a:xfrm>
            <a:off x="6309360" y="3794760"/>
            <a:ext cx="2286000" cy="320040"/>
          </a:xfrm>
          <a:prstGeom prst="rect">
            <a:avLst/>
          </a:prstGeom>
          <a:noFill/>
          <a:ln/>
        </p:spPr>
        <p:txBody>
          <a:bodyPr wrap="square" lIns="0" tIns="0" rIns="0" bIns="0" rtlCol="0" anchor="t"/>
          <a:lstStyle/>
          <a:p>
            <a:pPr indent="0" marL="0">
              <a:buNone/>
            </a:pPr>
            <a:r>
              <a:rPr lang="en-US" sz="1500" b="1" dirty="0">
                <a:solidFill>
                  <a:schemeClr val="tx1"/>
                </a:solidFill>
              </a:rPr>
              <a:t>6  Wrap-up</a:t>
            </a:r>
            <a:endParaRPr lang="en-US" sz="1500" dirty="0"/>
          </a:p>
        </p:txBody>
      </p:sp>
      <p:sp>
        <p:nvSpPr>
          <p:cNvPr id="33" name="Text 24"/>
          <p:cNvSpPr txBox="1"/>
          <p:nvPr/>
        </p:nvSpPr>
        <p:spPr>
          <a:xfrm>
            <a:off x="6309360" y="4114800"/>
            <a:ext cx="2286000" cy="365760"/>
          </a:xfrm>
          <a:prstGeom prst="rect">
            <a:avLst/>
          </a:prstGeom>
          <a:noFill/>
          <a:ln/>
        </p:spPr>
        <p:txBody>
          <a:bodyPr wrap="square" lIns="0" tIns="0" rIns="0" bIns="0" rtlCol="0" anchor="t"/>
          <a:lstStyle/>
          <a:p>
            <a:pPr indent="0" marL="0">
              <a:buNone/>
            </a:pPr>
            <a:r>
              <a:rPr lang="en-US" sz="1200" dirty="0">
                <a:solidFill>
                  <a:schemeClr val="accent5"/>
                </a:solidFill>
              </a:rPr>
              <a:t>Challenges, learning, conclusion</a:t>
            </a:r>
            <a:endParaRPr lang="en-US" sz="12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Introduction: The Dual-Arm Manipulator</a:t>
            </a:r>
            <a:endParaRPr lang="en-US" sz="3000" dirty="0"/>
          </a:p>
        </p:txBody>
      </p:sp>
      <p:sp>
        <p:nvSpPr>
          <p:cNvPr id="4" name="card"/>
          <p:cNvSpPr/>
          <p:nvPr/>
        </p:nvSpPr>
        <p:spPr>
          <a:xfrm>
            <a:off x="457200" y="1097280"/>
            <a:ext cx="493776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5" name="Shape 2"/>
          <p:cNvSpPr/>
          <p:nvPr/>
        </p:nvSpPr>
        <p:spPr>
          <a:xfrm>
            <a:off x="594360" y="1234440"/>
            <a:ext cx="502920" cy="502920"/>
          </a:xfrm>
          <a:prstGeom prst="ellipse">
            <a:avLst/>
          </a:prstGeom>
          <a:solidFill>
            <a:schemeClr val="accent1"/>
          </a:solidFill>
          <a:ln w="12700">
            <a:solidFill>
              <a:schemeClr val="accent1"/>
            </a:solidFill>
            <a:prstDash val="solid"/>
          </a:ln>
        </p:spPr>
      </p:sp>
      <p:pic>
        <p:nvPicPr>
          <p:cNvPr id="6" name="Image 0" descr="FaRobot">    </p:cNvPr>
          <p:cNvPicPr>
            <a:picLocks noChangeAspect="1"/>
          </p:cNvPicPr>
          <p:nvPr/>
        </p:nvPicPr>
        <p:blipFill>
          <a:blip r:embed="rId1"/>
          <a:stretch>
            <a:fillRect/>
          </a:stretch>
        </p:blipFill>
        <p:spPr>
          <a:xfrm>
            <a:off x="720090" y="1360170"/>
            <a:ext cx="251460" cy="251460"/>
          </a:xfrm>
          <a:prstGeom prst="rect">
            <a:avLst/>
          </a:prstGeom>
        </p:spPr>
      </p:pic>
      <p:sp>
        <p:nvSpPr>
          <p:cNvPr id="7" name="Text 3"/>
          <p:cNvSpPr txBox="1"/>
          <p:nvPr/>
        </p:nvSpPr>
        <p:spPr>
          <a:xfrm>
            <a:off x="1280160" y="1188720"/>
            <a:ext cx="4023360" cy="320040"/>
          </a:xfrm>
          <a:prstGeom prst="rect">
            <a:avLst/>
          </a:prstGeom>
          <a:noFill/>
          <a:ln/>
        </p:spPr>
        <p:txBody>
          <a:bodyPr wrap="square" lIns="0" tIns="0" rIns="0" bIns="0" rtlCol="0" anchor="t"/>
          <a:lstStyle/>
          <a:p>
            <a:pPr indent="0" marL="0">
              <a:buNone/>
            </a:pPr>
            <a:r>
              <a:rPr lang="en-US" sz="1600" b="1" dirty="0">
                <a:solidFill>
                  <a:schemeClr val="tx1"/>
                </a:solidFill>
              </a:rPr>
              <a:t>Two coordinated arms</a:t>
            </a:r>
            <a:endParaRPr lang="en-US" sz="1600" dirty="0"/>
          </a:p>
        </p:txBody>
      </p:sp>
      <p:sp>
        <p:nvSpPr>
          <p:cNvPr id="8" name="Text 4"/>
          <p:cNvSpPr txBox="1"/>
          <p:nvPr/>
        </p:nvSpPr>
        <p:spPr>
          <a:xfrm>
            <a:off x="1280160" y="1517904"/>
            <a:ext cx="4023360" cy="274320"/>
          </a:xfrm>
          <a:prstGeom prst="rect">
            <a:avLst/>
          </a:prstGeom>
          <a:noFill/>
          <a:ln/>
        </p:spPr>
        <p:txBody>
          <a:bodyPr wrap="square" lIns="0" tIns="0" rIns="0" bIns="0" rtlCol="0" anchor="t"/>
          <a:lstStyle/>
          <a:p>
            <a:pPr indent="0" marL="0">
              <a:buNone/>
            </a:pPr>
            <a:r>
              <a:rPr lang="en-US" sz="1300" dirty="0">
                <a:solidFill>
                  <a:schemeClr val="tx2"/>
                </a:solidFill>
              </a:rPr>
              <a:t>Common base, human-like handling</a:t>
            </a:r>
            <a:endParaRPr lang="en-US" sz="1300" dirty="0"/>
          </a:p>
        </p:txBody>
      </p:sp>
      <p:sp>
        <p:nvSpPr>
          <p:cNvPr id="9" name="card"/>
          <p:cNvSpPr/>
          <p:nvPr/>
        </p:nvSpPr>
        <p:spPr>
          <a:xfrm>
            <a:off x="457200" y="1993392"/>
            <a:ext cx="493776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0" name="Shape 6"/>
          <p:cNvSpPr/>
          <p:nvPr/>
        </p:nvSpPr>
        <p:spPr>
          <a:xfrm>
            <a:off x="594360" y="2130552"/>
            <a:ext cx="502920" cy="502920"/>
          </a:xfrm>
          <a:prstGeom prst="ellipse">
            <a:avLst/>
          </a:prstGeom>
          <a:solidFill>
            <a:schemeClr val="accent1"/>
          </a:solidFill>
          <a:ln w="12700">
            <a:solidFill>
              <a:schemeClr val="accent1"/>
            </a:solidFill>
            <a:prstDash val="solid"/>
          </a:ln>
        </p:spPr>
      </p:sp>
      <p:pic>
        <p:nvPicPr>
          <p:cNvPr id="11" name="Image 1" descr="FaBrain">    </p:cNvPr>
          <p:cNvPicPr>
            <a:picLocks noChangeAspect="1"/>
          </p:cNvPicPr>
          <p:nvPr/>
        </p:nvPicPr>
        <p:blipFill>
          <a:blip r:embed="rId2"/>
          <a:stretch>
            <a:fillRect/>
          </a:stretch>
        </p:blipFill>
        <p:spPr>
          <a:xfrm>
            <a:off x="720090" y="2256282"/>
            <a:ext cx="251460" cy="251460"/>
          </a:xfrm>
          <a:prstGeom prst="rect">
            <a:avLst/>
          </a:prstGeom>
        </p:spPr>
      </p:pic>
      <p:sp>
        <p:nvSpPr>
          <p:cNvPr id="12" name="Text 7"/>
          <p:cNvSpPr txBox="1"/>
          <p:nvPr/>
        </p:nvSpPr>
        <p:spPr>
          <a:xfrm>
            <a:off x="1280160" y="2084832"/>
            <a:ext cx="4023360" cy="320040"/>
          </a:xfrm>
          <a:prstGeom prst="rect">
            <a:avLst/>
          </a:prstGeom>
          <a:noFill/>
          <a:ln/>
        </p:spPr>
        <p:txBody>
          <a:bodyPr wrap="square" lIns="0" tIns="0" rIns="0" bIns="0" rtlCol="0" anchor="t"/>
          <a:lstStyle/>
          <a:p>
            <a:pPr indent="0" marL="0">
              <a:buNone/>
            </a:pPr>
            <a:r>
              <a:rPr lang="en-US" sz="1600" b="1" dirty="0">
                <a:solidFill>
                  <a:schemeClr val="tx1"/>
                </a:solidFill>
              </a:rPr>
              <a:t>AI vision</a:t>
            </a:r>
            <a:endParaRPr lang="en-US" sz="1600" dirty="0"/>
          </a:p>
        </p:txBody>
      </p:sp>
      <p:sp>
        <p:nvSpPr>
          <p:cNvPr id="13" name="Text 8"/>
          <p:cNvSpPr txBox="1"/>
          <p:nvPr/>
        </p:nvSpPr>
        <p:spPr>
          <a:xfrm>
            <a:off x="1280160" y="2414016"/>
            <a:ext cx="4023360" cy="274320"/>
          </a:xfrm>
          <a:prstGeom prst="rect">
            <a:avLst/>
          </a:prstGeom>
          <a:noFill/>
          <a:ln/>
        </p:spPr>
        <p:txBody>
          <a:bodyPr wrap="square" lIns="0" tIns="0" rIns="0" bIns="0" rtlCol="0" anchor="t"/>
          <a:lstStyle/>
          <a:p>
            <a:pPr indent="0" marL="0">
              <a:buNone/>
            </a:pPr>
            <a:r>
              <a:rPr lang="en-US" sz="1300" dirty="0">
                <a:solidFill>
                  <a:schemeClr val="tx2"/>
                </a:solidFill>
              </a:rPr>
              <a:t>Real-time detection and decisions</a:t>
            </a:r>
            <a:endParaRPr lang="en-US" sz="1300" dirty="0"/>
          </a:p>
        </p:txBody>
      </p:sp>
      <p:sp>
        <p:nvSpPr>
          <p:cNvPr id="14" name="card"/>
          <p:cNvSpPr/>
          <p:nvPr/>
        </p:nvSpPr>
        <p:spPr>
          <a:xfrm>
            <a:off x="457200" y="2889504"/>
            <a:ext cx="493776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Shape 10"/>
          <p:cNvSpPr/>
          <p:nvPr/>
        </p:nvSpPr>
        <p:spPr>
          <a:xfrm>
            <a:off x="594360" y="3026664"/>
            <a:ext cx="502920" cy="502920"/>
          </a:xfrm>
          <a:prstGeom prst="ellipse">
            <a:avLst/>
          </a:prstGeom>
          <a:solidFill>
            <a:schemeClr val="accent1"/>
          </a:solidFill>
          <a:ln w="12700">
            <a:solidFill>
              <a:schemeClr val="accent1"/>
            </a:solidFill>
            <a:prstDash val="solid"/>
          </a:ln>
        </p:spPr>
      </p:sp>
      <p:pic>
        <p:nvPicPr>
          <p:cNvPr id="16" name="Image 2" descr="FaSync">    </p:cNvPr>
          <p:cNvPicPr>
            <a:picLocks noChangeAspect="1"/>
          </p:cNvPicPr>
          <p:nvPr/>
        </p:nvPicPr>
        <p:blipFill>
          <a:blip r:embed="rId3"/>
          <a:stretch>
            <a:fillRect/>
          </a:stretch>
        </p:blipFill>
        <p:spPr>
          <a:xfrm>
            <a:off x="720090" y="3152394"/>
            <a:ext cx="251460" cy="251460"/>
          </a:xfrm>
          <a:prstGeom prst="rect">
            <a:avLst/>
          </a:prstGeom>
        </p:spPr>
      </p:pic>
      <p:sp>
        <p:nvSpPr>
          <p:cNvPr id="17" name="Text 11"/>
          <p:cNvSpPr txBox="1"/>
          <p:nvPr/>
        </p:nvSpPr>
        <p:spPr>
          <a:xfrm>
            <a:off x="1280160" y="2980944"/>
            <a:ext cx="4023360" cy="320040"/>
          </a:xfrm>
          <a:prstGeom prst="rect">
            <a:avLst/>
          </a:prstGeom>
          <a:noFill/>
          <a:ln/>
        </p:spPr>
        <p:txBody>
          <a:bodyPr wrap="square" lIns="0" tIns="0" rIns="0" bIns="0" rtlCol="0" anchor="t"/>
          <a:lstStyle/>
          <a:p>
            <a:pPr indent="0" marL="0">
              <a:buNone/>
            </a:pPr>
            <a:r>
              <a:rPr lang="en-US" sz="1600" b="1" dirty="0">
                <a:solidFill>
                  <a:schemeClr val="tx1"/>
                </a:solidFill>
              </a:rPr>
              <a:t>Adaptable</a:t>
            </a:r>
            <a:endParaRPr lang="en-US" sz="1600" dirty="0"/>
          </a:p>
        </p:txBody>
      </p:sp>
      <p:sp>
        <p:nvSpPr>
          <p:cNvPr id="18" name="Text 12"/>
          <p:cNvSpPr txBox="1"/>
          <p:nvPr/>
        </p:nvSpPr>
        <p:spPr>
          <a:xfrm>
            <a:off x="1280160" y="3310128"/>
            <a:ext cx="4023360" cy="274320"/>
          </a:xfrm>
          <a:prstGeom prst="rect">
            <a:avLst/>
          </a:prstGeom>
          <a:noFill/>
          <a:ln/>
        </p:spPr>
        <p:txBody>
          <a:bodyPr wrap="square" lIns="0" tIns="0" rIns="0" bIns="0" rtlCol="0" anchor="t"/>
          <a:lstStyle/>
          <a:p>
            <a:pPr indent="0" marL="0">
              <a:buNone/>
            </a:pPr>
            <a:r>
              <a:rPr lang="en-US" sz="1300" dirty="0">
                <a:solidFill>
                  <a:schemeClr val="tx2"/>
                </a:solidFill>
              </a:rPr>
              <a:t>Copes with changing positions and light</a:t>
            </a:r>
            <a:endParaRPr lang="en-US" sz="1300" dirty="0"/>
          </a:p>
        </p:txBody>
      </p:sp>
      <p:sp>
        <p:nvSpPr>
          <p:cNvPr id="19" name="card"/>
          <p:cNvSpPr/>
          <p:nvPr/>
        </p:nvSpPr>
        <p:spPr>
          <a:xfrm>
            <a:off x="457200" y="3785616"/>
            <a:ext cx="493776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0" name="Shape 14"/>
          <p:cNvSpPr/>
          <p:nvPr/>
        </p:nvSpPr>
        <p:spPr>
          <a:xfrm>
            <a:off x="594360" y="3922776"/>
            <a:ext cx="502920" cy="502920"/>
          </a:xfrm>
          <a:prstGeom prst="ellipse">
            <a:avLst/>
          </a:prstGeom>
          <a:solidFill>
            <a:schemeClr val="accent1"/>
          </a:solidFill>
          <a:ln w="12700">
            <a:solidFill>
              <a:schemeClr val="accent1"/>
            </a:solidFill>
            <a:prstDash val="solid"/>
          </a:ln>
        </p:spPr>
      </p:sp>
      <p:pic>
        <p:nvPicPr>
          <p:cNvPr id="21" name="Image 3" descr="FaIndustry">    </p:cNvPr>
          <p:cNvPicPr>
            <a:picLocks noChangeAspect="1"/>
          </p:cNvPicPr>
          <p:nvPr/>
        </p:nvPicPr>
        <p:blipFill>
          <a:blip r:embed="rId4"/>
          <a:stretch>
            <a:fillRect/>
          </a:stretch>
        </p:blipFill>
        <p:spPr>
          <a:xfrm>
            <a:off x="720090" y="4048506"/>
            <a:ext cx="251460" cy="251460"/>
          </a:xfrm>
          <a:prstGeom prst="rect">
            <a:avLst/>
          </a:prstGeom>
        </p:spPr>
      </p:pic>
      <p:sp>
        <p:nvSpPr>
          <p:cNvPr id="22" name="Text 15"/>
          <p:cNvSpPr txBox="1"/>
          <p:nvPr/>
        </p:nvSpPr>
        <p:spPr>
          <a:xfrm>
            <a:off x="1280160" y="3877056"/>
            <a:ext cx="4023360" cy="320040"/>
          </a:xfrm>
          <a:prstGeom prst="rect">
            <a:avLst/>
          </a:prstGeom>
          <a:noFill/>
          <a:ln/>
        </p:spPr>
        <p:txBody>
          <a:bodyPr wrap="square" lIns="0" tIns="0" rIns="0" bIns="0" rtlCol="0" anchor="t"/>
          <a:lstStyle/>
          <a:p>
            <a:pPr indent="0" marL="0">
              <a:buNone/>
            </a:pPr>
            <a:r>
              <a:rPr lang="en-US" sz="1600" b="1" dirty="0">
                <a:solidFill>
                  <a:schemeClr val="tx1"/>
                </a:solidFill>
              </a:rPr>
              <a:t>Industry 4.0 ready</a:t>
            </a:r>
            <a:endParaRPr lang="en-US" sz="1600" dirty="0"/>
          </a:p>
        </p:txBody>
      </p:sp>
      <p:sp>
        <p:nvSpPr>
          <p:cNvPr id="23" name="Text 16"/>
          <p:cNvSpPr txBox="1"/>
          <p:nvPr/>
        </p:nvSpPr>
        <p:spPr>
          <a:xfrm>
            <a:off x="1280160" y="4206240"/>
            <a:ext cx="4023360" cy="274320"/>
          </a:xfrm>
          <a:prstGeom prst="rect">
            <a:avLst/>
          </a:prstGeom>
          <a:noFill/>
          <a:ln/>
        </p:spPr>
        <p:txBody>
          <a:bodyPr wrap="square" lIns="0" tIns="0" rIns="0" bIns="0" rtlCol="0" anchor="t"/>
          <a:lstStyle/>
          <a:p>
            <a:pPr indent="0" marL="0">
              <a:buNone/>
            </a:pPr>
            <a:r>
              <a:rPr lang="en-US" sz="1300" dirty="0">
                <a:solidFill>
                  <a:schemeClr val="tx2"/>
                </a:solidFill>
              </a:rPr>
              <a:t>Smart sorting and material handling</a:t>
            </a:r>
            <a:endParaRPr lang="en-US" sz="1300" dirty="0"/>
          </a:p>
        </p:txBody>
      </p:sp>
      <p:sp>
        <p:nvSpPr>
          <p:cNvPr id="24" name="card"/>
          <p:cNvSpPr/>
          <p:nvPr/>
        </p:nvSpPr>
        <p:spPr>
          <a:xfrm>
            <a:off x="5669280" y="1097280"/>
            <a:ext cx="3017520" cy="3447288"/>
          </a:xfrm>
          <a:prstGeom prst="roundRect">
            <a:avLst>
              <a:gd name="adj" fmla="val 3030"/>
            </a:avLst>
          </a:prstGeom>
          <a:solidFill>
            <a:schemeClr val="tx1"/>
          </a:solidFill>
          <a:ln w="12700">
            <a:solidFill>
              <a:schemeClr val="tx1"/>
            </a:solidFill>
            <a:prstDash val="solid"/>
          </a:ln>
          <a:effectLst>
            <a:outerShdw sx="100000" sy="100000" kx="0" ky="0" algn="bl" rotWithShape="0" blurRad="101600" dist="25400" dir="5400000">
              <a:srgbClr val="000000">
                <a:alpha val="14000"/>
              </a:srgbClr>
            </a:outerShdw>
          </a:effectLst>
        </p:spPr>
      </p:sp>
      <p:sp>
        <p:nvSpPr>
          <p:cNvPr id="25" name="Text 18"/>
          <p:cNvSpPr txBox="1"/>
          <p:nvPr/>
        </p:nvSpPr>
        <p:spPr>
          <a:xfrm>
            <a:off x="5897880" y="1280160"/>
            <a:ext cx="2560320" cy="320040"/>
          </a:xfrm>
          <a:prstGeom prst="rect">
            <a:avLst/>
          </a:prstGeom>
          <a:noFill/>
          <a:ln/>
        </p:spPr>
        <p:txBody>
          <a:bodyPr wrap="square" lIns="0" tIns="0" rIns="0" bIns="0" rtlCol="0" anchor="t"/>
          <a:lstStyle/>
          <a:p>
            <a:pPr indent="0" marL="0">
              <a:buNone/>
            </a:pPr>
            <a:r>
              <a:rPr lang="en-US" sz="1400" b="1" dirty="0">
                <a:solidFill>
                  <a:schemeClr val="accent2"/>
                </a:solidFill>
              </a:rPr>
              <a:t>The core idea</a:t>
            </a:r>
            <a:endParaRPr lang="en-US" sz="1400" dirty="0"/>
          </a:p>
        </p:txBody>
      </p:sp>
      <p:sp>
        <p:nvSpPr>
          <p:cNvPr id="26" name="Shape 19"/>
          <p:cNvSpPr/>
          <p:nvPr/>
        </p:nvSpPr>
        <p:spPr>
          <a:xfrm>
            <a:off x="5897880" y="1737360"/>
            <a:ext cx="548640" cy="548640"/>
          </a:xfrm>
          <a:prstGeom prst="ellipse">
            <a:avLst/>
          </a:prstGeom>
          <a:solidFill>
            <a:schemeClr val="accent1"/>
          </a:solidFill>
          <a:ln w="12700">
            <a:solidFill>
              <a:schemeClr val="accent1"/>
            </a:solidFill>
            <a:prstDash val="solid"/>
          </a:ln>
        </p:spPr>
      </p:sp>
      <p:sp>
        <p:nvSpPr>
          <p:cNvPr id="27" name="Text 20"/>
          <p:cNvSpPr txBox="1"/>
          <p:nvPr/>
        </p:nvSpPr>
        <p:spPr>
          <a:xfrm>
            <a:off x="5897880"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28" name="Text 21"/>
          <p:cNvSpPr txBox="1"/>
          <p:nvPr/>
        </p:nvSpPr>
        <p:spPr>
          <a:xfrm>
            <a:off x="6583680" y="1755648"/>
            <a:ext cx="2011680" cy="548640"/>
          </a:xfrm>
          <a:prstGeom prst="rect">
            <a:avLst/>
          </a:prstGeom>
          <a:noFill/>
          <a:ln/>
        </p:spPr>
        <p:txBody>
          <a:bodyPr wrap="square" lIns="0" tIns="0" rIns="0" bIns="0" rtlCol="0" anchor="ctr"/>
          <a:lstStyle/>
          <a:p>
            <a:pPr indent="0" marL="0">
              <a:buNone/>
            </a:pPr>
            <a:r>
              <a:rPr lang="en-US" sz="1400" dirty="0">
                <a:solidFill>
                  <a:schemeClr val="bg1"/>
                </a:solidFill>
              </a:rPr>
              <a:t>Detect objects with YOLOv8</a:t>
            </a:r>
            <a:endParaRPr lang="en-US" sz="1400" dirty="0"/>
          </a:p>
        </p:txBody>
      </p:sp>
      <p:sp>
        <p:nvSpPr>
          <p:cNvPr id="29" name="Shape 22"/>
          <p:cNvSpPr/>
          <p:nvPr/>
        </p:nvSpPr>
        <p:spPr>
          <a:xfrm>
            <a:off x="5897880" y="2651760"/>
            <a:ext cx="548640" cy="548640"/>
          </a:xfrm>
          <a:prstGeom prst="ellipse">
            <a:avLst/>
          </a:prstGeom>
          <a:solidFill>
            <a:schemeClr val="accent2"/>
          </a:solidFill>
          <a:ln w="12700">
            <a:solidFill>
              <a:schemeClr val="accent2"/>
            </a:solidFill>
            <a:prstDash val="solid"/>
          </a:ln>
        </p:spPr>
      </p:sp>
      <p:sp>
        <p:nvSpPr>
          <p:cNvPr id="30" name="Text 23"/>
          <p:cNvSpPr txBox="1"/>
          <p:nvPr/>
        </p:nvSpPr>
        <p:spPr>
          <a:xfrm>
            <a:off x="5897880" y="26517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31" name="Text 24"/>
          <p:cNvSpPr txBox="1"/>
          <p:nvPr/>
        </p:nvSpPr>
        <p:spPr>
          <a:xfrm>
            <a:off x="6583680" y="2670048"/>
            <a:ext cx="2011680" cy="548640"/>
          </a:xfrm>
          <a:prstGeom prst="rect">
            <a:avLst/>
          </a:prstGeom>
          <a:noFill/>
          <a:ln/>
        </p:spPr>
        <p:txBody>
          <a:bodyPr wrap="square" lIns="0" tIns="0" rIns="0" bIns="0" rtlCol="0" anchor="ctr"/>
          <a:lstStyle/>
          <a:p>
            <a:pPr indent="0" marL="0">
              <a:buNone/>
            </a:pPr>
            <a:r>
              <a:rPr lang="en-US" sz="1400" dirty="0">
                <a:solidFill>
                  <a:schemeClr val="bg1"/>
                </a:solidFill>
              </a:rPr>
              <a:t>3D position by depth + TF</a:t>
            </a:r>
            <a:endParaRPr lang="en-US" sz="1400" dirty="0"/>
          </a:p>
        </p:txBody>
      </p:sp>
      <p:sp>
        <p:nvSpPr>
          <p:cNvPr id="32" name="Shape 25"/>
          <p:cNvSpPr/>
          <p:nvPr/>
        </p:nvSpPr>
        <p:spPr>
          <a:xfrm>
            <a:off x="5897880" y="3566160"/>
            <a:ext cx="548640" cy="548640"/>
          </a:xfrm>
          <a:prstGeom prst="ellipse">
            <a:avLst/>
          </a:prstGeom>
          <a:solidFill>
            <a:schemeClr val="accent4"/>
          </a:solidFill>
          <a:ln w="12700">
            <a:solidFill>
              <a:schemeClr val="accent4"/>
            </a:solidFill>
            <a:prstDash val="solid"/>
          </a:ln>
        </p:spPr>
      </p:sp>
      <p:sp>
        <p:nvSpPr>
          <p:cNvPr id="33" name="Text 26"/>
          <p:cNvSpPr txBox="1"/>
          <p:nvPr/>
        </p:nvSpPr>
        <p:spPr>
          <a:xfrm>
            <a:off x="5897880" y="35661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34" name="Text 27"/>
          <p:cNvSpPr txBox="1"/>
          <p:nvPr/>
        </p:nvSpPr>
        <p:spPr>
          <a:xfrm>
            <a:off x="6583680" y="3584448"/>
            <a:ext cx="2011680" cy="548640"/>
          </a:xfrm>
          <a:prstGeom prst="rect">
            <a:avLst/>
          </a:prstGeom>
          <a:noFill/>
          <a:ln/>
        </p:spPr>
        <p:txBody>
          <a:bodyPr wrap="square" lIns="0" tIns="0" rIns="0" bIns="0" rtlCol="0" anchor="ctr"/>
          <a:lstStyle/>
          <a:p>
            <a:pPr indent="0" marL="0">
              <a:buNone/>
            </a:pPr>
            <a:r>
              <a:rPr lang="en-US" sz="1400" dirty="0">
                <a:solidFill>
                  <a:schemeClr val="bg1"/>
                </a:solidFill>
              </a:rPr>
              <a:t>Joint angles by MATLAB IK</a:t>
            </a:r>
            <a:endParaRPr lang="en-US" sz="14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Why a Dual-Arm Robot?</a:t>
            </a:r>
            <a:endParaRPr lang="en-US" sz="3000" dirty="0"/>
          </a:p>
        </p:txBody>
      </p:sp>
      <p:sp>
        <p:nvSpPr>
          <p:cNvPr id="4" name="card"/>
          <p:cNvSpPr/>
          <p:nvPr/>
        </p:nvSpPr>
        <p:spPr>
          <a:xfrm>
            <a:off x="457200" y="1097280"/>
            <a:ext cx="2560320" cy="1554480"/>
          </a:xfrm>
          <a:prstGeom prst="roundRect">
            <a:avLst>
              <a:gd name="adj" fmla="val 5882"/>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5" name="Shape 2"/>
          <p:cNvSpPr/>
          <p:nvPr/>
        </p:nvSpPr>
        <p:spPr>
          <a:xfrm>
            <a:off x="640080" y="1280160"/>
            <a:ext cx="548640" cy="548640"/>
          </a:xfrm>
          <a:prstGeom prst="ellipse">
            <a:avLst/>
          </a:prstGeom>
          <a:solidFill>
            <a:schemeClr val="accent1"/>
          </a:solidFill>
          <a:ln w="12700">
            <a:solidFill>
              <a:schemeClr val="accent1"/>
            </a:solidFill>
            <a:prstDash val="solid"/>
          </a:ln>
        </p:spPr>
      </p:sp>
      <p:pic>
        <p:nvPicPr>
          <p:cNvPr id="6" name="Image 0" descr="FaSync">    </p:cNvPr>
          <p:cNvPicPr>
            <a:picLocks noChangeAspect="1"/>
          </p:cNvPicPr>
          <p:nvPr/>
        </p:nvPicPr>
        <p:blipFill>
          <a:blip r:embed="rId1"/>
          <a:stretch>
            <a:fillRect/>
          </a:stretch>
        </p:blipFill>
        <p:spPr>
          <a:xfrm>
            <a:off x="777240" y="1417320"/>
            <a:ext cx="274320" cy="274320"/>
          </a:xfrm>
          <a:prstGeom prst="rect">
            <a:avLst/>
          </a:prstGeom>
        </p:spPr>
      </p:pic>
      <p:sp>
        <p:nvSpPr>
          <p:cNvPr id="7" name="Text 3"/>
          <p:cNvSpPr txBox="1"/>
          <p:nvPr/>
        </p:nvSpPr>
        <p:spPr>
          <a:xfrm>
            <a:off x="640080" y="1901952"/>
            <a:ext cx="2286000" cy="320040"/>
          </a:xfrm>
          <a:prstGeom prst="rect">
            <a:avLst/>
          </a:prstGeom>
          <a:noFill/>
          <a:ln/>
        </p:spPr>
        <p:txBody>
          <a:bodyPr wrap="square" lIns="0" tIns="0" rIns="0" bIns="0" rtlCol="0" anchor="t"/>
          <a:lstStyle/>
          <a:p>
            <a:pPr indent="0" marL="0">
              <a:buNone/>
            </a:pPr>
            <a:r>
              <a:rPr lang="en-US" sz="1500" b="1" dirty="0">
                <a:solidFill>
                  <a:schemeClr val="tx1"/>
                </a:solidFill>
              </a:rPr>
              <a:t>Coordinated operation</a:t>
            </a:r>
            <a:endParaRPr lang="en-US" sz="1500" dirty="0"/>
          </a:p>
        </p:txBody>
      </p:sp>
      <p:sp>
        <p:nvSpPr>
          <p:cNvPr id="8" name="Text 4"/>
          <p:cNvSpPr txBox="1"/>
          <p:nvPr/>
        </p:nvSpPr>
        <p:spPr>
          <a:xfrm>
            <a:off x="640080" y="2212848"/>
            <a:ext cx="2240280" cy="384048"/>
          </a:xfrm>
          <a:prstGeom prst="rect">
            <a:avLst/>
          </a:prstGeom>
          <a:noFill/>
          <a:ln/>
        </p:spPr>
        <p:txBody>
          <a:bodyPr wrap="square" lIns="0" tIns="0" rIns="0" bIns="0" rtlCol="0" anchor="t"/>
          <a:lstStyle/>
          <a:p>
            <a:pPr indent="0" marL="0">
              <a:buNone/>
            </a:pPr>
            <a:r>
              <a:rPr lang="en-US" sz="1200" dirty="0">
                <a:solidFill>
                  <a:schemeClr val="tx2"/>
                </a:solidFill>
              </a:rPr>
              <a:t>Both arms act at once, cutting task time</a:t>
            </a:r>
            <a:endParaRPr lang="en-US" sz="1200" dirty="0"/>
          </a:p>
        </p:txBody>
      </p:sp>
      <p:sp>
        <p:nvSpPr>
          <p:cNvPr id="9" name="card"/>
          <p:cNvSpPr/>
          <p:nvPr/>
        </p:nvSpPr>
        <p:spPr>
          <a:xfrm>
            <a:off x="3291840" y="1097280"/>
            <a:ext cx="2560320" cy="1554480"/>
          </a:xfrm>
          <a:prstGeom prst="roundRect">
            <a:avLst>
              <a:gd name="adj" fmla="val 5882"/>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0" name="Shape 6"/>
          <p:cNvSpPr/>
          <p:nvPr/>
        </p:nvSpPr>
        <p:spPr>
          <a:xfrm>
            <a:off x="3474720" y="1280160"/>
            <a:ext cx="548640" cy="548640"/>
          </a:xfrm>
          <a:prstGeom prst="ellipse">
            <a:avLst/>
          </a:prstGeom>
          <a:solidFill>
            <a:schemeClr val="accent2"/>
          </a:solidFill>
          <a:ln w="12700">
            <a:solidFill>
              <a:schemeClr val="accent2"/>
            </a:solidFill>
            <a:prstDash val="solid"/>
          </a:ln>
        </p:spPr>
      </p:sp>
      <p:pic>
        <p:nvPicPr>
          <p:cNvPr id="11" name="Image 1" descr="FaBullseye">    </p:cNvPr>
          <p:cNvPicPr>
            <a:picLocks noChangeAspect="1"/>
          </p:cNvPicPr>
          <p:nvPr/>
        </p:nvPicPr>
        <p:blipFill>
          <a:blip r:embed="rId2"/>
          <a:stretch>
            <a:fillRect/>
          </a:stretch>
        </p:blipFill>
        <p:spPr>
          <a:xfrm>
            <a:off x="3611880" y="1417320"/>
            <a:ext cx="274320" cy="274320"/>
          </a:xfrm>
          <a:prstGeom prst="rect">
            <a:avLst/>
          </a:prstGeom>
        </p:spPr>
      </p:pic>
      <p:sp>
        <p:nvSpPr>
          <p:cNvPr id="12" name="Text 7"/>
          <p:cNvSpPr txBox="1"/>
          <p:nvPr/>
        </p:nvSpPr>
        <p:spPr>
          <a:xfrm>
            <a:off x="3474720" y="1901952"/>
            <a:ext cx="2286000" cy="320040"/>
          </a:xfrm>
          <a:prstGeom prst="rect">
            <a:avLst/>
          </a:prstGeom>
          <a:noFill/>
          <a:ln/>
        </p:spPr>
        <p:txBody>
          <a:bodyPr wrap="square" lIns="0" tIns="0" rIns="0" bIns="0" rtlCol="0" anchor="t"/>
          <a:lstStyle/>
          <a:p>
            <a:pPr indent="0" marL="0">
              <a:buNone/>
            </a:pPr>
            <a:r>
              <a:rPr lang="en-US" sz="1500" b="1" dirty="0">
                <a:solidFill>
                  <a:schemeClr val="tx1"/>
                </a:solidFill>
              </a:rPr>
              <a:t>Precision &amp; stability</a:t>
            </a:r>
            <a:endParaRPr lang="en-US" sz="1500" dirty="0"/>
          </a:p>
        </p:txBody>
      </p:sp>
      <p:sp>
        <p:nvSpPr>
          <p:cNvPr id="13" name="Text 8"/>
          <p:cNvSpPr txBox="1"/>
          <p:nvPr/>
        </p:nvSpPr>
        <p:spPr>
          <a:xfrm>
            <a:off x="3474720" y="2212848"/>
            <a:ext cx="2240280" cy="384048"/>
          </a:xfrm>
          <a:prstGeom prst="rect">
            <a:avLst/>
          </a:prstGeom>
          <a:noFill/>
          <a:ln/>
        </p:spPr>
        <p:txBody>
          <a:bodyPr wrap="square" lIns="0" tIns="0" rIns="0" bIns="0" rtlCol="0" anchor="t"/>
          <a:lstStyle/>
          <a:p>
            <a:pPr indent="0" marL="0">
              <a:buNone/>
            </a:pPr>
            <a:r>
              <a:rPr lang="en-US" sz="1200" dirty="0">
                <a:solidFill>
                  <a:schemeClr val="tx2"/>
                </a:solidFill>
              </a:rPr>
              <a:t>One arm steadies, the other works</a:t>
            </a:r>
            <a:endParaRPr lang="en-US" sz="1200" dirty="0"/>
          </a:p>
        </p:txBody>
      </p:sp>
      <p:sp>
        <p:nvSpPr>
          <p:cNvPr id="14" name="card"/>
          <p:cNvSpPr/>
          <p:nvPr/>
        </p:nvSpPr>
        <p:spPr>
          <a:xfrm>
            <a:off x="6126480" y="1097280"/>
            <a:ext cx="2560320" cy="1554480"/>
          </a:xfrm>
          <a:prstGeom prst="roundRect">
            <a:avLst>
              <a:gd name="adj" fmla="val 5882"/>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Shape 10"/>
          <p:cNvSpPr/>
          <p:nvPr/>
        </p:nvSpPr>
        <p:spPr>
          <a:xfrm>
            <a:off x="6309360" y="1280160"/>
            <a:ext cx="548640" cy="548640"/>
          </a:xfrm>
          <a:prstGeom prst="ellipse">
            <a:avLst/>
          </a:prstGeom>
          <a:solidFill>
            <a:schemeClr val="accent4"/>
          </a:solidFill>
          <a:ln w="12700">
            <a:solidFill>
              <a:schemeClr val="accent4"/>
            </a:solidFill>
            <a:prstDash val="solid"/>
          </a:ln>
        </p:spPr>
      </p:sp>
      <p:pic>
        <p:nvPicPr>
          <p:cNvPr id="16" name="Image 2" descr="FaCogs">    </p:cNvPr>
          <p:cNvPicPr>
            <a:picLocks noChangeAspect="1"/>
          </p:cNvPicPr>
          <p:nvPr/>
        </p:nvPicPr>
        <p:blipFill>
          <a:blip r:embed="rId3"/>
          <a:stretch>
            <a:fillRect/>
          </a:stretch>
        </p:blipFill>
        <p:spPr>
          <a:xfrm>
            <a:off x="6446520" y="1417320"/>
            <a:ext cx="274320" cy="274320"/>
          </a:xfrm>
          <a:prstGeom prst="rect">
            <a:avLst/>
          </a:prstGeom>
        </p:spPr>
      </p:pic>
      <p:sp>
        <p:nvSpPr>
          <p:cNvPr id="17" name="Text 11"/>
          <p:cNvSpPr txBox="1"/>
          <p:nvPr/>
        </p:nvSpPr>
        <p:spPr>
          <a:xfrm>
            <a:off x="6309360" y="1901952"/>
            <a:ext cx="2286000" cy="320040"/>
          </a:xfrm>
          <a:prstGeom prst="rect">
            <a:avLst/>
          </a:prstGeom>
          <a:noFill/>
          <a:ln/>
        </p:spPr>
        <p:txBody>
          <a:bodyPr wrap="square" lIns="0" tIns="0" rIns="0" bIns="0" rtlCol="0" anchor="t"/>
          <a:lstStyle/>
          <a:p>
            <a:pPr indent="0" marL="0">
              <a:buNone/>
            </a:pPr>
            <a:r>
              <a:rPr lang="en-US" sz="1500" b="1" dirty="0">
                <a:solidFill>
                  <a:schemeClr val="tx1"/>
                </a:solidFill>
              </a:rPr>
              <a:t>Complex tasks</a:t>
            </a:r>
            <a:endParaRPr lang="en-US" sz="1500" dirty="0"/>
          </a:p>
        </p:txBody>
      </p:sp>
      <p:sp>
        <p:nvSpPr>
          <p:cNvPr id="18" name="Text 12"/>
          <p:cNvSpPr txBox="1"/>
          <p:nvPr/>
        </p:nvSpPr>
        <p:spPr>
          <a:xfrm>
            <a:off x="6309360" y="2212848"/>
            <a:ext cx="2240280" cy="384048"/>
          </a:xfrm>
          <a:prstGeom prst="rect">
            <a:avLst/>
          </a:prstGeom>
          <a:noFill/>
          <a:ln/>
        </p:spPr>
        <p:txBody>
          <a:bodyPr wrap="square" lIns="0" tIns="0" rIns="0" bIns="0" rtlCol="0" anchor="t"/>
          <a:lstStyle/>
          <a:p>
            <a:pPr indent="0" marL="0">
              <a:buNone/>
            </a:pPr>
            <a:r>
              <a:rPr lang="en-US" sz="1200" dirty="0">
                <a:solidFill>
                  <a:schemeClr val="tx2"/>
                </a:solidFill>
              </a:rPr>
              <a:t>Assembly, alignment, re-orientation</a:t>
            </a:r>
            <a:endParaRPr lang="en-US" sz="1200" dirty="0"/>
          </a:p>
        </p:txBody>
      </p:sp>
      <p:sp>
        <p:nvSpPr>
          <p:cNvPr id="19" name="card"/>
          <p:cNvSpPr/>
          <p:nvPr/>
        </p:nvSpPr>
        <p:spPr>
          <a:xfrm>
            <a:off x="457200" y="2834640"/>
            <a:ext cx="2560320" cy="1554480"/>
          </a:xfrm>
          <a:prstGeom prst="roundRect">
            <a:avLst>
              <a:gd name="adj" fmla="val 5882"/>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0" name="Shape 14"/>
          <p:cNvSpPr/>
          <p:nvPr/>
        </p:nvSpPr>
        <p:spPr>
          <a:xfrm>
            <a:off x="640080" y="3017520"/>
            <a:ext cx="548640" cy="548640"/>
          </a:xfrm>
          <a:prstGeom prst="ellipse">
            <a:avLst/>
          </a:prstGeom>
          <a:solidFill>
            <a:schemeClr val="accent1"/>
          </a:solidFill>
          <a:ln w="12700">
            <a:solidFill>
              <a:schemeClr val="accent1"/>
            </a:solidFill>
            <a:prstDash val="solid"/>
          </a:ln>
        </p:spPr>
      </p:sp>
      <p:pic>
        <p:nvPicPr>
          <p:cNvPr id="21" name="Image 3" descr="FaBolt">    </p:cNvPr>
          <p:cNvPicPr>
            <a:picLocks noChangeAspect="1"/>
          </p:cNvPicPr>
          <p:nvPr/>
        </p:nvPicPr>
        <p:blipFill>
          <a:blip r:embed="rId4"/>
          <a:stretch>
            <a:fillRect/>
          </a:stretch>
        </p:blipFill>
        <p:spPr>
          <a:xfrm>
            <a:off x="777240" y="3154680"/>
            <a:ext cx="274320" cy="274320"/>
          </a:xfrm>
          <a:prstGeom prst="rect">
            <a:avLst/>
          </a:prstGeom>
        </p:spPr>
      </p:pic>
      <p:sp>
        <p:nvSpPr>
          <p:cNvPr id="22" name="Text 15"/>
          <p:cNvSpPr txBox="1"/>
          <p:nvPr/>
        </p:nvSpPr>
        <p:spPr>
          <a:xfrm>
            <a:off x="640080" y="3639312"/>
            <a:ext cx="2286000" cy="320040"/>
          </a:xfrm>
          <a:prstGeom prst="rect">
            <a:avLst/>
          </a:prstGeom>
          <a:noFill/>
          <a:ln/>
        </p:spPr>
        <p:txBody>
          <a:bodyPr wrap="square" lIns="0" tIns="0" rIns="0" bIns="0" rtlCol="0" anchor="t"/>
          <a:lstStyle/>
          <a:p>
            <a:pPr indent="0" marL="0">
              <a:buNone/>
            </a:pPr>
            <a:r>
              <a:rPr lang="en-US" sz="1500" b="1" dirty="0">
                <a:solidFill>
                  <a:schemeClr val="tx1"/>
                </a:solidFill>
              </a:rPr>
              <a:t>Higher productivity</a:t>
            </a:r>
            <a:endParaRPr lang="en-US" sz="1500" dirty="0"/>
          </a:p>
        </p:txBody>
      </p:sp>
      <p:sp>
        <p:nvSpPr>
          <p:cNvPr id="23" name="Text 16"/>
          <p:cNvSpPr txBox="1"/>
          <p:nvPr/>
        </p:nvSpPr>
        <p:spPr>
          <a:xfrm>
            <a:off x="640080" y="3950208"/>
            <a:ext cx="2240280" cy="384048"/>
          </a:xfrm>
          <a:prstGeom prst="rect">
            <a:avLst/>
          </a:prstGeom>
          <a:noFill/>
          <a:ln/>
        </p:spPr>
        <p:txBody>
          <a:bodyPr wrap="square" lIns="0" tIns="0" rIns="0" bIns="0" rtlCol="0" anchor="t"/>
          <a:lstStyle/>
          <a:p>
            <a:pPr indent="0" marL="0">
              <a:buNone/>
            </a:pPr>
            <a:r>
              <a:rPr lang="en-US" sz="1200" dirty="0">
                <a:solidFill>
                  <a:schemeClr val="tx2"/>
                </a:solidFill>
              </a:rPr>
              <a:t>Parallel execution raises throughput</a:t>
            </a:r>
            <a:endParaRPr lang="en-US" sz="1200" dirty="0"/>
          </a:p>
        </p:txBody>
      </p:sp>
      <p:sp>
        <p:nvSpPr>
          <p:cNvPr id="24" name="card"/>
          <p:cNvSpPr/>
          <p:nvPr/>
        </p:nvSpPr>
        <p:spPr>
          <a:xfrm>
            <a:off x="3291840" y="2834640"/>
            <a:ext cx="2560320" cy="1554480"/>
          </a:xfrm>
          <a:prstGeom prst="roundRect">
            <a:avLst>
              <a:gd name="adj" fmla="val 5882"/>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5" name="Shape 18"/>
          <p:cNvSpPr/>
          <p:nvPr/>
        </p:nvSpPr>
        <p:spPr>
          <a:xfrm>
            <a:off x="3474720" y="3017520"/>
            <a:ext cx="548640" cy="548640"/>
          </a:xfrm>
          <a:prstGeom prst="ellipse">
            <a:avLst/>
          </a:prstGeom>
          <a:solidFill>
            <a:schemeClr val="accent2"/>
          </a:solidFill>
          <a:ln w="12700">
            <a:solidFill>
              <a:schemeClr val="accent2"/>
            </a:solidFill>
            <a:prstDash val="solid"/>
          </a:ln>
        </p:spPr>
      </p:sp>
      <p:pic>
        <p:nvPicPr>
          <p:cNvPr id="26" name="Image 4" descr="FaLayerGroup">    </p:cNvPr>
          <p:cNvPicPr>
            <a:picLocks noChangeAspect="1"/>
          </p:cNvPicPr>
          <p:nvPr/>
        </p:nvPicPr>
        <p:blipFill>
          <a:blip r:embed="rId5"/>
          <a:stretch>
            <a:fillRect/>
          </a:stretch>
        </p:blipFill>
        <p:spPr>
          <a:xfrm>
            <a:off x="3611880" y="3154680"/>
            <a:ext cx="274320" cy="274320"/>
          </a:xfrm>
          <a:prstGeom prst="rect">
            <a:avLst/>
          </a:prstGeom>
        </p:spPr>
      </p:pic>
      <p:sp>
        <p:nvSpPr>
          <p:cNvPr id="27" name="Text 19"/>
          <p:cNvSpPr txBox="1"/>
          <p:nvPr/>
        </p:nvSpPr>
        <p:spPr>
          <a:xfrm>
            <a:off x="3474720" y="3639312"/>
            <a:ext cx="2286000" cy="320040"/>
          </a:xfrm>
          <a:prstGeom prst="rect">
            <a:avLst/>
          </a:prstGeom>
          <a:noFill/>
          <a:ln/>
        </p:spPr>
        <p:txBody>
          <a:bodyPr wrap="square" lIns="0" tIns="0" rIns="0" bIns="0" rtlCol="0" anchor="t"/>
          <a:lstStyle/>
          <a:p>
            <a:pPr indent="0" marL="0">
              <a:buNone/>
            </a:pPr>
            <a:r>
              <a:rPr lang="en-US" sz="1500" b="1" dirty="0">
                <a:solidFill>
                  <a:schemeClr val="tx1"/>
                </a:solidFill>
              </a:rPr>
              <a:t>Flexibility</a:t>
            </a:r>
            <a:endParaRPr lang="en-US" sz="1500" dirty="0"/>
          </a:p>
        </p:txBody>
      </p:sp>
      <p:sp>
        <p:nvSpPr>
          <p:cNvPr id="28" name="Text 20"/>
          <p:cNvSpPr txBox="1"/>
          <p:nvPr/>
        </p:nvSpPr>
        <p:spPr>
          <a:xfrm>
            <a:off x="3474720" y="3950208"/>
            <a:ext cx="2240280" cy="384048"/>
          </a:xfrm>
          <a:prstGeom prst="rect">
            <a:avLst/>
          </a:prstGeom>
          <a:noFill/>
          <a:ln/>
        </p:spPr>
        <p:txBody>
          <a:bodyPr wrap="square" lIns="0" tIns="0" rIns="0" bIns="0" rtlCol="0" anchor="t"/>
          <a:lstStyle/>
          <a:p>
            <a:pPr indent="0" marL="0">
              <a:buNone/>
            </a:pPr>
            <a:r>
              <a:rPr lang="en-US" sz="1200" dirty="0">
                <a:solidFill>
                  <a:schemeClr val="tx2"/>
                </a:solidFill>
              </a:rPr>
              <a:t>New objects and tasks, same hardware</a:t>
            </a:r>
            <a:endParaRPr lang="en-US" sz="1200" dirty="0"/>
          </a:p>
        </p:txBody>
      </p:sp>
      <p:sp>
        <p:nvSpPr>
          <p:cNvPr id="29" name="card"/>
          <p:cNvSpPr/>
          <p:nvPr/>
        </p:nvSpPr>
        <p:spPr>
          <a:xfrm>
            <a:off x="6126480" y="2834640"/>
            <a:ext cx="2560320" cy="1554480"/>
          </a:xfrm>
          <a:prstGeom prst="roundRect">
            <a:avLst>
              <a:gd name="adj" fmla="val 5882"/>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30" name="Shape 22"/>
          <p:cNvSpPr/>
          <p:nvPr/>
        </p:nvSpPr>
        <p:spPr>
          <a:xfrm>
            <a:off x="6309360" y="3017520"/>
            <a:ext cx="548640" cy="548640"/>
          </a:xfrm>
          <a:prstGeom prst="ellipse">
            <a:avLst/>
          </a:prstGeom>
          <a:solidFill>
            <a:schemeClr val="accent4"/>
          </a:solidFill>
          <a:ln w="12700">
            <a:solidFill>
              <a:schemeClr val="accent4"/>
            </a:solidFill>
            <a:prstDash val="solid"/>
          </a:ln>
        </p:spPr>
      </p:sp>
      <p:pic>
        <p:nvPicPr>
          <p:cNvPr id="31" name="Image 5" descr="FaShieldAlt">    </p:cNvPr>
          <p:cNvPicPr>
            <a:picLocks noChangeAspect="1"/>
          </p:cNvPicPr>
          <p:nvPr/>
        </p:nvPicPr>
        <p:blipFill>
          <a:blip r:embed="rId6"/>
          <a:stretch>
            <a:fillRect/>
          </a:stretch>
        </p:blipFill>
        <p:spPr>
          <a:xfrm>
            <a:off x="6446520" y="3154680"/>
            <a:ext cx="274320" cy="274320"/>
          </a:xfrm>
          <a:prstGeom prst="rect">
            <a:avLst/>
          </a:prstGeom>
        </p:spPr>
      </p:pic>
      <p:sp>
        <p:nvSpPr>
          <p:cNvPr id="32" name="Text 23"/>
          <p:cNvSpPr txBox="1"/>
          <p:nvPr/>
        </p:nvSpPr>
        <p:spPr>
          <a:xfrm>
            <a:off x="6309360" y="3639312"/>
            <a:ext cx="2286000" cy="320040"/>
          </a:xfrm>
          <a:prstGeom prst="rect">
            <a:avLst/>
          </a:prstGeom>
          <a:noFill/>
          <a:ln/>
        </p:spPr>
        <p:txBody>
          <a:bodyPr wrap="square" lIns="0" tIns="0" rIns="0" bIns="0" rtlCol="0" anchor="t"/>
          <a:lstStyle/>
          <a:p>
            <a:pPr indent="0" marL="0">
              <a:buNone/>
            </a:pPr>
            <a:r>
              <a:rPr lang="en-US" sz="1500" b="1" dirty="0">
                <a:solidFill>
                  <a:schemeClr val="tx1"/>
                </a:solidFill>
              </a:rPr>
              <a:t>Safer for humans</a:t>
            </a:r>
            <a:endParaRPr lang="en-US" sz="1500" dirty="0"/>
          </a:p>
        </p:txBody>
      </p:sp>
      <p:sp>
        <p:nvSpPr>
          <p:cNvPr id="33" name="Text 24"/>
          <p:cNvSpPr txBox="1"/>
          <p:nvPr/>
        </p:nvSpPr>
        <p:spPr>
          <a:xfrm>
            <a:off x="6309360" y="3950208"/>
            <a:ext cx="2240280" cy="384048"/>
          </a:xfrm>
          <a:prstGeom prst="rect">
            <a:avLst/>
          </a:prstGeom>
          <a:noFill/>
          <a:ln/>
        </p:spPr>
        <p:txBody>
          <a:bodyPr wrap="square" lIns="0" tIns="0" rIns="0" bIns="0" rtlCol="0" anchor="t"/>
          <a:lstStyle/>
          <a:p>
            <a:pPr indent="0" marL="0">
              <a:buNone/>
            </a:pPr>
            <a:r>
              <a:rPr lang="en-US" sz="1200" dirty="0">
                <a:solidFill>
                  <a:schemeClr val="tx2"/>
                </a:solidFill>
              </a:rPr>
              <a:t>Takes over hazardous, repetitive work</a:t>
            </a:r>
            <a:endParaRPr lang="en-US" sz="12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Problem Statement</a:t>
            </a:r>
            <a:endParaRPr lang="en-US" sz="3000" dirty="0"/>
          </a:p>
        </p:txBody>
      </p:sp>
      <p:sp>
        <p:nvSpPr>
          <p:cNvPr id="4" name="card"/>
          <p:cNvSpPr/>
          <p:nvPr/>
        </p:nvSpPr>
        <p:spPr>
          <a:xfrm>
            <a:off x="457200" y="1097280"/>
            <a:ext cx="4023360" cy="1234440"/>
          </a:xfrm>
          <a:prstGeom prst="roundRect">
            <a:avLst>
              <a:gd name="adj" fmla="val 740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5" name="Shape 2"/>
          <p:cNvSpPr/>
          <p:nvPr/>
        </p:nvSpPr>
        <p:spPr>
          <a:xfrm>
            <a:off x="640080" y="1371600"/>
            <a:ext cx="640080" cy="640080"/>
          </a:xfrm>
          <a:prstGeom prst="ellipse">
            <a:avLst/>
          </a:prstGeom>
          <a:solidFill>
            <a:schemeClr val="accent4"/>
          </a:solidFill>
          <a:ln w="12700">
            <a:solidFill>
              <a:schemeClr val="accent4"/>
            </a:solidFill>
            <a:prstDash val="solid"/>
          </a:ln>
        </p:spPr>
      </p:sp>
      <p:sp>
        <p:nvSpPr>
          <p:cNvPr id="6" name="Text 3"/>
          <p:cNvSpPr txBox="1"/>
          <p:nvPr/>
        </p:nvSpPr>
        <p:spPr>
          <a:xfrm>
            <a:off x="640080" y="13716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7" name="Text 4"/>
          <p:cNvSpPr txBox="1"/>
          <p:nvPr/>
        </p:nvSpPr>
        <p:spPr>
          <a:xfrm>
            <a:off x="1463040" y="1280160"/>
            <a:ext cx="2926080" cy="320040"/>
          </a:xfrm>
          <a:prstGeom prst="rect">
            <a:avLst/>
          </a:prstGeom>
          <a:noFill/>
          <a:ln/>
        </p:spPr>
        <p:txBody>
          <a:bodyPr wrap="square" lIns="0" tIns="0" rIns="0" bIns="0" rtlCol="0" anchor="t"/>
          <a:lstStyle/>
          <a:p>
            <a:pPr indent="0" marL="0">
              <a:buNone/>
            </a:pPr>
            <a:r>
              <a:rPr lang="en-US" sz="1600" b="1" dirty="0">
                <a:solidFill>
                  <a:schemeClr val="tx1"/>
                </a:solidFill>
              </a:rPr>
              <a:t>Fixed programs</a:t>
            </a:r>
            <a:endParaRPr lang="en-US" sz="1600" dirty="0"/>
          </a:p>
        </p:txBody>
      </p:sp>
      <p:sp>
        <p:nvSpPr>
          <p:cNvPr id="8" name="Text 5"/>
          <p:cNvSpPr txBox="1"/>
          <p:nvPr/>
        </p:nvSpPr>
        <p:spPr>
          <a:xfrm>
            <a:off x="1463040" y="1664208"/>
            <a:ext cx="2926080" cy="548640"/>
          </a:xfrm>
          <a:prstGeom prst="rect">
            <a:avLst/>
          </a:prstGeom>
          <a:noFill/>
          <a:ln/>
        </p:spPr>
        <p:txBody>
          <a:bodyPr wrap="square" lIns="0" tIns="0" rIns="0" bIns="0" rtlCol="0" anchor="t"/>
          <a:lstStyle/>
          <a:p>
            <a:pPr indent="0" marL="0">
              <a:buNone/>
            </a:pPr>
            <a:r>
              <a:rPr lang="en-US" sz="1300" dirty="0">
                <a:solidFill>
                  <a:schemeClr val="tx2"/>
                </a:solidFill>
              </a:rPr>
              <a:t>Robots fail when object position or lighting changes</a:t>
            </a:r>
            <a:endParaRPr lang="en-US" sz="1300" dirty="0"/>
          </a:p>
        </p:txBody>
      </p:sp>
      <p:sp>
        <p:nvSpPr>
          <p:cNvPr id="9" name="card"/>
          <p:cNvSpPr/>
          <p:nvPr/>
        </p:nvSpPr>
        <p:spPr>
          <a:xfrm>
            <a:off x="4663440" y="1097280"/>
            <a:ext cx="4023360" cy="1234440"/>
          </a:xfrm>
          <a:prstGeom prst="roundRect">
            <a:avLst>
              <a:gd name="adj" fmla="val 740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0" name="Shape 7"/>
          <p:cNvSpPr/>
          <p:nvPr/>
        </p:nvSpPr>
        <p:spPr>
          <a:xfrm>
            <a:off x="4846320" y="1371600"/>
            <a:ext cx="640080" cy="640080"/>
          </a:xfrm>
          <a:prstGeom prst="ellipse">
            <a:avLst/>
          </a:prstGeom>
          <a:solidFill>
            <a:schemeClr val="accent4"/>
          </a:solidFill>
          <a:ln w="12700">
            <a:solidFill>
              <a:schemeClr val="accent4"/>
            </a:solidFill>
            <a:prstDash val="solid"/>
          </a:ln>
        </p:spPr>
      </p:sp>
      <p:sp>
        <p:nvSpPr>
          <p:cNvPr id="11" name="Text 8"/>
          <p:cNvSpPr txBox="1"/>
          <p:nvPr/>
        </p:nvSpPr>
        <p:spPr>
          <a:xfrm>
            <a:off x="4846320" y="13716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2" name="Text 9"/>
          <p:cNvSpPr txBox="1"/>
          <p:nvPr/>
        </p:nvSpPr>
        <p:spPr>
          <a:xfrm>
            <a:off x="5669280" y="1280160"/>
            <a:ext cx="2926080" cy="320040"/>
          </a:xfrm>
          <a:prstGeom prst="rect">
            <a:avLst/>
          </a:prstGeom>
          <a:noFill/>
          <a:ln/>
        </p:spPr>
        <p:txBody>
          <a:bodyPr wrap="square" lIns="0" tIns="0" rIns="0" bIns="0" rtlCol="0" anchor="t"/>
          <a:lstStyle/>
          <a:p>
            <a:pPr indent="0" marL="0">
              <a:buNone/>
            </a:pPr>
            <a:r>
              <a:rPr lang="en-US" sz="1600" b="1" dirty="0">
                <a:solidFill>
                  <a:schemeClr val="tx1"/>
                </a:solidFill>
              </a:rPr>
              <a:t>Weak perception</a:t>
            </a:r>
            <a:endParaRPr lang="en-US" sz="1600" dirty="0"/>
          </a:p>
        </p:txBody>
      </p:sp>
      <p:sp>
        <p:nvSpPr>
          <p:cNvPr id="13" name="Text 10"/>
          <p:cNvSpPr txBox="1"/>
          <p:nvPr/>
        </p:nvSpPr>
        <p:spPr>
          <a:xfrm>
            <a:off x="5669280" y="1664208"/>
            <a:ext cx="2926080" cy="548640"/>
          </a:xfrm>
          <a:prstGeom prst="rect">
            <a:avLst/>
          </a:prstGeom>
          <a:noFill/>
          <a:ln/>
        </p:spPr>
        <p:txBody>
          <a:bodyPr wrap="square" lIns="0" tIns="0" rIns="0" bIns="0" rtlCol="0" anchor="t"/>
          <a:lstStyle/>
          <a:p>
            <a:pPr indent="0" marL="0">
              <a:buNone/>
            </a:pPr>
            <a:r>
              <a:rPr lang="en-US" sz="1300" dirty="0">
                <a:solidFill>
                  <a:schemeClr val="tx2"/>
                </a:solidFill>
              </a:rPr>
              <a:t>Traditional vision struggles with complex scenes</a:t>
            </a:r>
            <a:endParaRPr lang="en-US" sz="1300" dirty="0"/>
          </a:p>
        </p:txBody>
      </p:sp>
      <p:sp>
        <p:nvSpPr>
          <p:cNvPr id="14" name="card"/>
          <p:cNvSpPr/>
          <p:nvPr/>
        </p:nvSpPr>
        <p:spPr>
          <a:xfrm>
            <a:off x="457200" y="2514600"/>
            <a:ext cx="4023360" cy="1234440"/>
          </a:xfrm>
          <a:prstGeom prst="roundRect">
            <a:avLst>
              <a:gd name="adj" fmla="val 740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Shape 12"/>
          <p:cNvSpPr/>
          <p:nvPr/>
        </p:nvSpPr>
        <p:spPr>
          <a:xfrm>
            <a:off x="640080" y="2788920"/>
            <a:ext cx="640080" cy="640080"/>
          </a:xfrm>
          <a:prstGeom prst="ellipse">
            <a:avLst/>
          </a:prstGeom>
          <a:solidFill>
            <a:schemeClr val="accent4"/>
          </a:solidFill>
          <a:ln w="12700">
            <a:solidFill>
              <a:schemeClr val="accent4"/>
            </a:solidFill>
            <a:prstDash val="solid"/>
          </a:ln>
        </p:spPr>
      </p:sp>
      <p:sp>
        <p:nvSpPr>
          <p:cNvPr id="16" name="Text 13"/>
          <p:cNvSpPr txBox="1"/>
          <p:nvPr/>
        </p:nvSpPr>
        <p:spPr>
          <a:xfrm>
            <a:off x="640080" y="27889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7" name="Text 14"/>
          <p:cNvSpPr txBox="1"/>
          <p:nvPr/>
        </p:nvSpPr>
        <p:spPr>
          <a:xfrm>
            <a:off x="1463040" y="2697480"/>
            <a:ext cx="2926080" cy="320040"/>
          </a:xfrm>
          <a:prstGeom prst="rect">
            <a:avLst/>
          </a:prstGeom>
          <a:noFill/>
          <a:ln/>
        </p:spPr>
        <p:txBody>
          <a:bodyPr wrap="square" lIns="0" tIns="0" rIns="0" bIns="0" rtlCol="0" anchor="t"/>
          <a:lstStyle/>
          <a:p>
            <a:pPr indent="0" marL="0">
              <a:buNone/>
            </a:pPr>
            <a:r>
              <a:rPr lang="en-US" sz="1600" b="1" dirty="0">
                <a:solidFill>
                  <a:schemeClr val="tx1"/>
                </a:solidFill>
              </a:rPr>
              <a:t>Vision and motion not integrated</a:t>
            </a:r>
            <a:endParaRPr lang="en-US" sz="1600" dirty="0"/>
          </a:p>
        </p:txBody>
      </p:sp>
      <p:sp>
        <p:nvSpPr>
          <p:cNvPr id="18" name="Text 15"/>
          <p:cNvSpPr txBox="1"/>
          <p:nvPr/>
        </p:nvSpPr>
        <p:spPr>
          <a:xfrm>
            <a:off x="1463040" y="3081528"/>
            <a:ext cx="2926080" cy="548640"/>
          </a:xfrm>
          <a:prstGeom prst="rect">
            <a:avLst/>
          </a:prstGeom>
          <a:noFill/>
          <a:ln/>
        </p:spPr>
        <p:txBody>
          <a:bodyPr wrap="square" lIns="0" tIns="0" rIns="0" bIns="0" rtlCol="0" anchor="t"/>
          <a:lstStyle/>
          <a:p>
            <a:pPr indent="0" marL="0">
              <a:buNone/>
            </a:pPr>
            <a:r>
              <a:rPr lang="en-US" sz="1300" dirty="0">
                <a:solidFill>
                  <a:schemeClr val="tx2"/>
                </a:solidFill>
              </a:rPr>
              <a:t>Dual-arm coordination needs both together</a:t>
            </a:r>
            <a:endParaRPr lang="en-US" sz="1300" dirty="0"/>
          </a:p>
        </p:txBody>
      </p:sp>
      <p:sp>
        <p:nvSpPr>
          <p:cNvPr id="19" name="card"/>
          <p:cNvSpPr/>
          <p:nvPr/>
        </p:nvSpPr>
        <p:spPr>
          <a:xfrm>
            <a:off x="4663440" y="2514600"/>
            <a:ext cx="4023360" cy="1234440"/>
          </a:xfrm>
          <a:prstGeom prst="roundRect">
            <a:avLst>
              <a:gd name="adj" fmla="val 740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0" name="Shape 17"/>
          <p:cNvSpPr/>
          <p:nvPr/>
        </p:nvSpPr>
        <p:spPr>
          <a:xfrm>
            <a:off x="4846320" y="2788920"/>
            <a:ext cx="640080" cy="640080"/>
          </a:xfrm>
          <a:prstGeom prst="ellipse">
            <a:avLst/>
          </a:prstGeom>
          <a:solidFill>
            <a:schemeClr val="accent4"/>
          </a:solidFill>
          <a:ln w="12700">
            <a:solidFill>
              <a:schemeClr val="accent4"/>
            </a:solidFill>
            <a:prstDash val="solid"/>
          </a:ln>
        </p:spPr>
      </p:sp>
      <p:sp>
        <p:nvSpPr>
          <p:cNvPr id="21" name="Text 18"/>
          <p:cNvSpPr txBox="1"/>
          <p:nvPr/>
        </p:nvSpPr>
        <p:spPr>
          <a:xfrm>
            <a:off x="4846320" y="27889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2" name="Text 19"/>
          <p:cNvSpPr txBox="1"/>
          <p:nvPr/>
        </p:nvSpPr>
        <p:spPr>
          <a:xfrm>
            <a:off x="5669280" y="2697480"/>
            <a:ext cx="2926080" cy="320040"/>
          </a:xfrm>
          <a:prstGeom prst="rect">
            <a:avLst/>
          </a:prstGeom>
          <a:noFill/>
          <a:ln/>
        </p:spPr>
        <p:txBody>
          <a:bodyPr wrap="square" lIns="0" tIns="0" rIns="0" bIns="0" rtlCol="0" anchor="t"/>
          <a:lstStyle/>
          <a:p>
            <a:pPr indent="0" marL="0">
              <a:buNone/>
            </a:pPr>
            <a:r>
              <a:rPr lang="en-US" sz="1600" b="1" dirty="0">
                <a:solidFill>
                  <a:schemeClr val="tx1"/>
                </a:solidFill>
              </a:rPr>
              <a:t>Hardware is costly</a:t>
            </a:r>
            <a:endParaRPr lang="en-US" sz="1600" dirty="0"/>
          </a:p>
        </p:txBody>
      </p:sp>
      <p:sp>
        <p:nvSpPr>
          <p:cNvPr id="23" name="Text 20"/>
          <p:cNvSpPr txBox="1"/>
          <p:nvPr/>
        </p:nvSpPr>
        <p:spPr>
          <a:xfrm>
            <a:off x="5669280" y="3081528"/>
            <a:ext cx="2926080" cy="548640"/>
          </a:xfrm>
          <a:prstGeom prst="rect">
            <a:avLst/>
          </a:prstGeom>
          <a:noFill/>
          <a:ln/>
        </p:spPr>
        <p:txBody>
          <a:bodyPr wrap="square" lIns="0" tIns="0" rIns="0" bIns="0" rtlCol="0" anchor="t"/>
          <a:lstStyle/>
          <a:p>
            <a:pPr indent="0" marL="0">
              <a:buNone/>
            </a:pPr>
            <a:r>
              <a:rPr lang="en-US" sz="1300" dirty="0">
                <a:solidFill>
                  <a:schemeClr val="tx2"/>
                </a:solidFill>
              </a:rPr>
              <a:t>Testing on real robots is risky and slow</a:t>
            </a:r>
            <a:endParaRPr lang="en-US" sz="1300" dirty="0"/>
          </a:p>
        </p:txBody>
      </p:sp>
      <p:sp>
        <p:nvSpPr>
          <p:cNvPr id="24" name="card"/>
          <p:cNvSpPr/>
          <p:nvPr/>
        </p:nvSpPr>
        <p:spPr>
          <a:xfrm>
            <a:off x="457200" y="4023360"/>
            <a:ext cx="8229600" cy="640080"/>
          </a:xfrm>
          <a:prstGeom prst="roundRect">
            <a:avLst>
              <a:gd name="adj" fmla="val 14286"/>
            </a:avLst>
          </a:prstGeom>
          <a:solidFill>
            <a:schemeClr val="accent1"/>
          </a:solidFill>
          <a:ln w="12700">
            <a:solidFill>
              <a:schemeClr val="accent1"/>
            </a:solidFill>
            <a:prstDash val="solid"/>
          </a:ln>
          <a:effectLst>
            <a:outerShdw sx="100000" sy="100000" kx="0" ky="0" algn="bl" rotWithShape="0" blurRad="101600" dist="25400" dir="5400000">
              <a:srgbClr val="000000">
                <a:alpha val="14000"/>
              </a:srgbClr>
            </a:outerShdw>
          </a:effectLst>
        </p:spPr>
      </p:sp>
      <p:sp>
        <p:nvSpPr>
          <p:cNvPr id="25" name="Text 22"/>
          <p:cNvSpPr txBox="1"/>
          <p:nvPr/>
        </p:nvSpPr>
        <p:spPr>
          <a:xfrm>
            <a:off x="640080" y="4023360"/>
            <a:ext cx="7863840" cy="640080"/>
          </a:xfrm>
          <a:prstGeom prst="rect">
            <a:avLst/>
          </a:prstGeom>
          <a:noFill/>
          <a:ln/>
        </p:spPr>
        <p:txBody>
          <a:bodyPr wrap="square" lIns="0" tIns="0" rIns="0" bIns="0" rtlCol="0" anchor="ctr"/>
          <a:lstStyle/>
          <a:p>
            <a:pPr algn="ctr" indent="0" marL="0">
              <a:buNone/>
            </a:pPr>
            <a:r>
              <a:rPr lang="en-US" sz="1700" b="1" dirty="0">
                <a:solidFill>
                  <a:schemeClr val="bg1"/>
                </a:solidFill>
              </a:rPr>
              <a:t>Answer: build and validate a vision-guided pipeline in simulation first</a:t>
            </a:r>
            <a:endParaRPr lang="en-US" sz="17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Objectives</a:t>
            </a:r>
            <a:endParaRPr lang="en-US" sz="3000" dirty="0"/>
          </a:p>
        </p:txBody>
      </p:sp>
      <p:sp>
        <p:nvSpPr>
          <p:cNvPr id="4" name="card"/>
          <p:cNvSpPr/>
          <p:nvPr/>
        </p:nvSpPr>
        <p:spPr>
          <a:xfrm>
            <a:off x="457200" y="1051560"/>
            <a:ext cx="8229600" cy="822960"/>
          </a:xfrm>
          <a:prstGeom prst="roundRect">
            <a:avLst>
              <a:gd name="adj" fmla="val 11111"/>
            </a:avLst>
          </a:prstGeom>
          <a:solidFill>
            <a:schemeClr val="tx1"/>
          </a:solidFill>
          <a:ln w="12700">
            <a:solidFill>
              <a:schemeClr val="tx1"/>
            </a:solidFill>
            <a:prstDash val="solid"/>
          </a:ln>
          <a:effectLst>
            <a:outerShdw sx="100000" sy="100000" kx="0" ky="0" algn="bl" rotWithShape="0" blurRad="101600" dist="25400" dir="5400000">
              <a:srgbClr val="000000">
                <a:alpha val="14000"/>
              </a:srgbClr>
            </a:outerShdw>
          </a:effectLst>
        </p:spPr>
      </p:sp>
      <p:sp>
        <p:nvSpPr>
          <p:cNvPr id="5" name="Text 2"/>
          <p:cNvSpPr txBox="1"/>
          <p:nvPr/>
        </p:nvSpPr>
        <p:spPr>
          <a:xfrm>
            <a:off x="685800" y="1115568"/>
            <a:ext cx="2743200" cy="228600"/>
          </a:xfrm>
          <a:prstGeom prst="rect">
            <a:avLst/>
          </a:prstGeom>
          <a:noFill/>
          <a:ln/>
        </p:spPr>
        <p:txBody>
          <a:bodyPr wrap="square" lIns="0" tIns="0" rIns="0" bIns="0" rtlCol="0" anchor="t"/>
          <a:lstStyle/>
          <a:p>
            <a:pPr indent="0" marL="0">
              <a:buNone/>
            </a:pPr>
            <a:r>
              <a:rPr lang="en-US" sz="1100" b="1" dirty="0">
                <a:solidFill>
                  <a:schemeClr val="accent2"/>
                </a:solidFill>
              </a:rPr>
              <a:t>GENERAL OBJECTIVE</a:t>
            </a:r>
            <a:endParaRPr lang="en-US" sz="1100" dirty="0"/>
          </a:p>
        </p:txBody>
      </p:sp>
      <p:sp>
        <p:nvSpPr>
          <p:cNvPr id="6" name="Text 3"/>
          <p:cNvSpPr txBox="1"/>
          <p:nvPr/>
        </p:nvSpPr>
        <p:spPr>
          <a:xfrm>
            <a:off x="685800" y="1344168"/>
            <a:ext cx="7772400" cy="502920"/>
          </a:xfrm>
          <a:prstGeom prst="rect">
            <a:avLst/>
          </a:prstGeom>
          <a:noFill/>
          <a:ln/>
        </p:spPr>
        <p:txBody>
          <a:bodyPr wrap="square" lIns="0" tIns="0" rIns="0" bIns="0" rtlCol="0" anchor="ctr"/>
          <a:lstStyle/>
          <a:p>
            <a:pPr indent="0" marL="0">
              <a:buNone/>
            </a:pPr>
            <a:r>
              <a:rPr lang="en-US" sz="1500" dirty="0">
                <a:solidFill>
                  <a:schemeClr val="bg1"/>
                </a:solidFill>
              </a:rPr>
              <a:t>Detect objects, estimate their 3D position and move to them using inverse kinematics in a simulated dual-arm system</a:t>
            </a:r>
            <a:endParaRPr lang="en-US" sz="1500" dirty="0"/>
          </a:p>
        </p:txBody>
      </p:sp>
      <p:sp>
        <p:nvSpPr>
          <p:cNvPr id="7" name="card"/>
          <p:cNvSpPr/>
          <p:nvPr/>
        </p:nvSpPr>
        <p:spPr>
          <a:xfrm>
            <a:off x="457200" y="2057400"/>
            <a:ext cx="2560320" cy="1097280"/>
          </a:xfrm>
          <a:prstGeom prst="roundRect">
            <a:avLst>
              <a:gd name="adj" fmla="val 8333"/>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8" name="Shape 5"/>
          <p:cNvSpPr/>
          <p:nvPr/>
        </p:nvSpPr>
        <p:spPr>
          <a:xfrm>
            <a:off x="594360" y="2331720"/>
            <a:ext cx="502920" cy="502920"/>
          </a:xfrm>
          <a:prstGeom prst="ellipse">
            <a:avLst/>
          </a:prstGeom>
          <a:solidFill>
            <a:schemeClr val="accent1"/>
          </a:solidFill>
          <a:ln w="12700">
            <a:solidFill>
              <a:schemeClr val="accent1"/>
            </a:solidFill>
            <a:prstDash val="solid"/>
          </a:ln>
        </p:spPr>
      </p:sp>
      <p:pic>
        <p:nvPicPr>
          <p:cNvPr id="9" name="Image 0" descr="FaCamera">    </p:cNvPr>
          <p:cNvPicPr>
            <a:picLocks noChangeAspect="1"/>
          </p:cNvPicPr>
          <p:nvPr/>
        </p:nvPicPr>
        <p:blipFill>
          <a:blip r:embed="rId1"/>
          <a:stretch>
            <a:fillRect/>
          </a:stretch>
        </p:blipFill>
        <p:spPr>
          <a:xfrm>
            <a:off x="720090" y="2457450"/>
            <a:ext cx="251460" cy="251460"/>
          </a:xfrm>
          <a:prstGeom prst="rect">
            <a:avLst/>
          </a:prstGeom>
        </p:spPr>
      </p:pic>
      <p:sp>
        <p:nvSpPr>
          <p:cNvPr id="10" name="Text 6"/>
          <p:cNvSpPr txBox="1"/>
          <p:nvPr/>
        </p:nvSpPr>
        <p:spPr>
          <a:xfrm>
            <a:off x="1234440" y="2286000"/>
            <a:ext cx="1737360" cy="320040"/>
          </a:xfrm>
          <a:prstGeom prst="rect">
            <a:avLst/>
          </a:prstGeom>
          <a:noFill/>
          <a:ln/>
        </p:spPr>
        <p:txBody>
          <a:bodyPr wrap="square" lIns="0" tIns="0" rIns="0" bIns="0" rtlCol="0" anchor="t"/>
          <a:lstStyle/>
          <a:p>
            <a:pPr indent="0" marL="0">
              <a:buNone/>
            </a:pPr>
            <a:r>
              <a:rPr lang="en-US" sz="1400" b="1" dirty="0">
                <a:solidFill>
                  <a:schemeClr val="tx1"/>
                </a:solidFill>
              </a:rPr>
              <a:t>Visual perception</a:t>
            </a:r>
            <a:endParaRPr lang="en-US" sz="1400" dirty="0"/>
          </a:p>
        </p:txBody>
      </p:sp>
      <p:sp>
        <p:nvSpPr>
          <p:cNvPr id="11" name="Text 7"/>
          <p:cNvSpPr txBox="1"/>
          <p:nvPr/>
        </p:nvSpPr>
        <p:spPr>
          <a:xfrm>
            <a:off x="1234440" y="2624328"/>
            <a:ext cx="1737360" cy="457200"/>
          </a:xfrm>
          <a:prstGeom prst="rect">
            <a:avLst/>
          </a:prstGeom>
          <a:noFill/>
          <a:ln/>
        </p:spPr>
        <p:txBody>
          <a:bodyPr wrap="square" lIns="0" tIns="0" rIns="0" bIns="0" rtlCol="0" anchor="t"/>
          <a:lstStyle/>
          <a:p>
            <a:pPr indent="0" marL="0">
              <a:buNone/>
            </a:pPr>
            <a:r>
              <a:rPr lang="en-US" sz="1200" dirty="0">
                <a:solidFill>
                  <a:schemeClr val="tx2"/>
                </a:solidFill>
              </a:rPr>
              <a:t>YOLOv8 boxes, labels, confidence</a:t>
            </a:r>
            <a:endParaRPr lang="en-US" sz="1200" dirty="0"/>
          </a:p>
        </p:txBody>
      </p:sp>
      <p:sp>
        <p:nvSpPr>
          <p:cNvPr id="12" name="card"/>
          <p:cNvSpPr/>
          <p:nvPr/>
        </p:nvSpPr>
        <p:spPr>
          <a:xfrm>
            <a:off x="3291840" y="2057400"/>
            <a:ext cx="2560320" cy="1097280"/>
          </a:xfrm>
          <a:prstGeom prst="roundRect">
            <a:avLst>
              <a:gd name="adj" fmla="val 8333"/>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3" name="Shape 9"/>
          <p:cNvSpPr/>
          <p:nvPr/>
        </p:nvSpPr>
        <p:spPr>
          <a:xfrm>
            <a:off x="3429000" y="2331720"/>
            <a:ext cx="502920" cy="502920"/>
          </a:xfrm>
          <a:prstGeom prst="ellipse">
            <a:avLst/>
          </a:prstGeom>
          <a:solidFill>
            <a:schemeClr val="accent2"/>
          </a:solidFill>
          <a:ln w="12700">
            <a:solidFill>
              <a:schemeClr val="accent2"/>
            </a:solidFill>
            <a:prstDash val="solid"/>
          </a:ln>
        </p:spPr>
      </p:sp>
      <p:pic>
        <p:nvPicPr>
          <p:cNvPr id="14" name="Image 1" descr="FaLayerGroup">    </p:cNvPr>
          <p:cNvPicPr>
            <a:picLocks noChangeAspect="1"/>
          </p:cNvPicPr>
          <p:nvPr/>
        </p:nvPicPr>
        <p:blipFill>
          <a:blip r:embed="rId2"/>
          <a:stretch>
            <a:fillRect/>
          </a:stretch>
        </p:blipFill>
        <p:spPr>
          <a:xfrm>
            <a:off x="3554730" y="2457450"/>
            <a:ext cx="251460" cy="251460"/>
          </a:xfrm>
          <a:prstGeom prst="rect">
            <a:avLst/>
          </a:prstGeom>
        </p:spPr>
      </p:pic>
      <p:sp>
        <p:nvSpPr>
          <p:cNvPr id="15" name="Text 10"/>
          <p:cNvSpPr txBox="1"/>
          <p:nvPr/>
        </p:nvSpPr>
        <p:spPr>
          <a:xfrm>
            <a:off x="4069080" y="2286000"/>
            <a:ext cx="1737360" cy="320040"/>
          </a:xfrm>
          <a:prstGeom prst="rect">
            <a:avLst/>
          </a:prstGeom>
          <a:noFill/>
          <a:ln/>
        </p:spPr>
        <p:txBody>
          <a:bodyPr wrap="square" lIns="0" tIns="0" rIns="0" bIns="0" rtlCol="0" anchor="t"/>
          <a:lstStyle/>
          <a:p>
            <a:pPr indent="0" marL="0">
              <a:buNone/>
            </a:pPr>
            <a:r>
              <a:rPr lang="en-US" sz="1400" b="1" dirty="0">
                <a:solidFill>
                  <a:schemeClr val="tx1"/>
                </a:solidFill>
              </a:rPr>
              <a:t>Depth sensing</a:t>
            </a:r>
            <a:endParaRPr lang="en-US" sz="1400" dirty="0"/>
          </a:p>
        </p:txBody>
      </p:sp>
      <p:sp>
        <p:nvSpPr>
          <p:cNvPr id="16" name="Text 11"/>
          <p:cNvSpPr txBox="1"/>
          <p:nvPr/>
        </p:nvSpPr>
        <p:spPr>
          <a:xfrm>
            <a:off x="4069080" y="2624328"/>
            <a:ext cx="1737360" cy="457200"/>
          </a:xfrm>
          <a:prstGeom prst="rect">
            <a:avLst/>
          </a:prstGeom>
          <a:noFill/>
          <a:ln/>
        </p:spPr>
        <p:txBody>
          <a:bodyPr wrap="square" lIns="0" tIns="0" rIns="0" bIns="0" rtlCol="0" anchor="t"/>
          <a:lstStyle/>
          <a:p>
            <a:pPr indent="0" marL="0">
              <a:buNone/>
            </a:pPr>
            <a:r>
              <a:rPr lang="en-US" sz="1200" dirty="0">
                <a:solidFill>
                  <a:schemeClr val="tx2"/>
                </a:solidFill>
              </a:rPr>
              <a:t>RGB-D data through ROS 2</a:t>
            </a:r>
            <a:endParaRPr lang="en-US" sz="1200" dirty="0"/>
          </a:p>
        </p:txBody>
      </p:sp>
      <p:sp>
        <p:nvSpPr>
          <p:cNvPr id="17" name="card"/>
          <p:cNvSpPr/>
          <p:nvPr/>
        </p:nvSpPr>
        <p:spPr>
          <a:xfrm>
            <a:off x="6126480" y="2057400"/>
            <a:ext cx="2560320" cy="1097280"/>
          </a:xfrm>
          <a:prstGeom prst="roundRect">
            <a:avLst>
              <a:gd name="adj" fmla="val 8333"/>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8" name="Shape 13"/>
          <p:cNvSpPr/>
          <p:nvPr/>
        </p:nvSpPr>
        <p:spPr>
          <a:xfrm>
            <a:off x="6263640" y="2331720"/>
            <a:ext cx="502920" cy="502920"/>
          </a:xfrm>
          <a:prstGeom prst="ellipse">
            <a:avLst/>
          </a:prstGeom>
          <a:solidFill>
            <a:schemeClr val="accent3"/>
          </a:solidFill>
          <a:ln w="12700">
            <a:solidFill>
              <a:schemeClr val="accent3"/>
            </a:solidFill>
            <a:prstDash val="solid"/>
          </a:ln>
        </p:spPr>
      </p:sp>
      <p:pic>
        <p:nvPicPr>
          <p:cNvPr id="19" name="Image 2" descr="FaBullseye">    </p:cNvPr>
          <p:cNvPicPr>
            <a:picLocks noChangeAspect="1"/>
          </p:cNvPicPr>
          <p:nvPr/>
        </p:nvPicPr>
        <p:blipFill>
          <a:blip r:embed="rId3"/>
          <a:stretch>
            <a:fillRect/>
          </a:stretch>
        </p:blipFill>
        <p:spPr>
          <a:xfrm>
            <a:off x="6389370" y="2457450"/>
            <a:ext cx="251460" cy="251460"/>
          </a:xfrm>
          <a:prstGeom prst="rect">
            <a:avLst/>
          </a:prstGeom>
        </p:spPr>
      </p:pic>
      <p:sp>
        <p:nvSpPr>
          <p:cNvPr id="20" name="Text 14"/>
          <p:cNvSpPr txBox="1"/>
          <p:nvPr/>
        </p:nvSpPr>
        <p:spPr>
          <a:xfrm>
            <a:off x="6903720" y="2286000"/>
            <a:ext cx="1737360" cy="320040"/>
          </a:xfrm>
          <a:prstGeom prst="rect">
            <a:avLst/>
          </a:prstGeom>
          <a:noFill/>
          <a:ln/>
        </p:spPr>
        <p:txBody>
          <a:bodyPr wrap="square" lIns="0" tIns="0" rIns="0" bIns="0" rtlCol="0" anchor="t"/>
          <a:lstStyle/>
          <a:p>
            <a:pPr indent="0" marL="0">
              <a:buNone/>
            </a:pPr>
            <a:r>
              <a:rPr lang="en-US" sz="1400" b="1" dirty="0">
                <a:solidFill>
                  <a:schemeClr val="tx1"/>
                </a:solidFill>
              </a:rPr>
              <a:t>3D localisation</a:t>
            </a:r>
            <a:endParaRPr lang="en-US" sz="1400" dirty="0"/>
          </a:p>
        </p:txBody>
      </p:sp>
      <p:sp>
        <p:nvSpPr>
          <p:cNvPr id="21" name="Text 15"/>
          <p:cNvSpPr txBox="1"/>
          <p:nvPr/>
        </p:nvSpPr>
        <p:spPr>
          <a:xfrm>
            <a:off x="6903720" y="2624328"/>
            <a:ext cx="1737360" cy="457200"/>
          </a:xfrm>
          <a:prstGeom prst="rect">
            <a:avLst/>
          </a:prstGeom>
          <a:noFill/>
          <a:ln/>
        </p:spPr>
        <p:txBody>
          <a:bodyPr wrap="square" lIns="0" tIns="0" rIns="0" bIns="0" rtlCol="0" anchor="t"/>
          <a:lstStyle/>
          <a:p>
            <a:pPr indent="0" marL="0">
              <a:buNone/>
            </a:pPr>
            <a:r>
              <a:rPr lang="en-US" sz="1200" dirty="0">
                <a:solidFill>
                  <a:schemeClr val="tx2"/>
                </a:solidFill>
              </a:rPr>
              <a:t>Pixels to X, Y, Z</a:t>
            </a:r>
            <a:endParaRPr lang="en-US" sz="1200" dirty="0"/>
          </a:p>
        </p:txBody>
      </p:sp>
      <p:sp>
        <p:nvSpPr>
          <p:cNvPr id="22" name="card"/>
          <p:cNvSpPr/>
          <p:nvPr/>
        </p:nvSpPr>
        <p:spPr>
          <a:xfrm>
            <a:off x="457200" y="3337560"/>
            <a:ext cx="2560320" cy="1097280"/>
          </a:xfrm>
          <a:prstGeom prst="roundRect">
            <a:avLst>
              <a:gd name="adj" fmla="val 8333"/>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3" name="Shape 17"/>
          <p:cNvSpPr/>
          <p:nvPr/>
        </p:nvSpPr>
        <p:spPr>
          <a:xfrm>
            <a:off x="594360" y="3611880"/>
            <a:ext cx="502920" cy="502920"/>
          </a:xfrm>
          <a:prstGeom prst="ellipse">
            <a:avLst/>
          </a:prstGeom>
          <a:solidFill>
            <a:schemeClr val="accent1"/>
          </a:solidFill>
          <a:ln w="12700">
            <a:solidFill>
              <a:schemeClr val="accent1"/>
            </a:solidFill>
            <a:prstDash val="solid"/>
          </a:ln>
        </p:spPr>
      </p:sp>
      <p:pic>
        <p:nvPicPr>
          <p:cNvPr id="24" name="Image 3" descr="FaProjectDiagram">    </p:cNvPr>
          <p:cNvPicPr>
            <a:picLocks noChangeAspect="1"/>
          </p:cNvPicPr>
          <p:nvPr/>
        </p:nvPicPr>
        <p:blipFill>
          <a:blip r:embed="rId4"/>
          <a:stretch>
            <a:fillRect/>
          </a:stretch>
        </p:blipFill>
        <p:spPr>
          <a:xfrm>
            <a:off x="720090" y="3737610"/>
            <a:ext cx="251460" cy="251460"/>
          </a:xfrm>
          <a:prstGeom prst="rect">
            <a:avLst/>
          </a:prstGeom>
        </p:spPr>
      </p:pic>
      <p:sp>
        <p:nvSpPr>
          <p:cNvPr id="25" name="Text 18"/>
          <p:cNvSpPr txBox="1"/>
          <p:nvPr/>
        </p:nvSpPr>
        <p:spPr>
          <a:xfrm>
            <a:off x="1234440" y="3566160"/>
            <a:ext cx="1737360" cy="320040"/>
          </a:xfrm>
          <a:prstGeom prst="rect">
            <a:avLst/>
          </a:prstGeom>
          <a:noFill/>
          <a:ln/>
        </p:spPr>
        <p:txBody>
          <a:bodyPr wrap="square" lIns="0" tIns="0" rIns="0" bIns="0" rtlCol="0" anchor="t"/>
          <a:lstStyle/>
          <a:p>
            <a:pPr indent="0" marL="0">
              <a:buNone/>
            </a:pPr>
            <a:r>
              <a:rPr lang="en-US" sz="1400" b="1" dirty="0">
                <a:solidFill>
                  <a:schemeClr val="tx1"/>
                </a:solidFill>
              </a:rPr>
              <a:t>Coordinate mapping</a:t>
            </a:r>
            <a:endParaRPr lang="en-US" sz="1400" dirty="0"/>
          </a:p>
        </p:txBody>
      </p:sp>
      <p:sp>
        <p:nvSpPr>
          <p:cNvPr id="26" name="Text 19"/>
          <p:cNvSpPr txBox="1"/>
          <p:nvPr/>
        </p:nvSpPr>
        <p:spPr>
          <a:xfrm>
            <a:off x="1234440" y="3904488"/>
            <a:ext cx="1737360" cy="457200"/>
          </a:xfrm>
          <a:prstGeom prst="rect">
            <a:avLst/>
          </a:prstGeom>
          <a:noFill/>
          <a:ln/>
        </p:spPr>
        <p:txBody>
          <a:bodyPr wrap="square" lIns="0" tIns="0" rIns="0" bIns="0" rtlCol="0" anchor="t"/>
          <a:lstStyle/>
          <a:p>
            <a:pPr indent="0" marL="0">
              <a:buNone/>
            </a:pPr>
            <a:r>
              <a:rPr lang="en-US" sz="1200" dirty="0">
                <a:solidFill>
                  <a:schemeClr val="tx2"/>
                </a:solidFill>
              </a:rPr>
              <a:t>TF camera to robot base</a:t>
            </a:r>
            <a:endParaRPr lang="en-US" sz="1200" dirty="0"/>
          </a:p>
        </p:txBody>
      </p:sp>
      <p:sp>
        <p:nvSpPr>
          <p:cNvPr id="27" name="card"/>
          <p:cNvSpPr/>
          <p:nvPr/>
        </p:nvSpPr>
        <p:spPr>
          <a:xfrm>
            <a:off x="3291840" y="3337560"/>
            <a:ext cx="2560320" cy="1097280"/>
          </a:xfrm>
          <a:prstGeom prst="roundRect">
            <a:avLst>
              <a:gd name="adj" fmla="val 8333"/>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8" name="Shape 21"/>
          <p:cNvSpPr/>
          <p:nvPr/>
        </p:nvSpPr>
        <p:spPr>
          <a:xfrm>
            <a:off x="3429000" y="3611880"/>
            <a:ext cx="502920" cy="502920"/>
          </a:xfrm>
          <a:prstGeom prst="ellipse">
            <a:avLst/>
          </a:prstGeom>
          <a:solidFill>
            <a:schemeClr val="accent2"/>
          </a:solidFill>
          <a:ln w="12700">
            <a:solidFill>
              <a:schemeClr val="accent2"/>
            </a:solidFill>
            <a:prstDash val="solid"/>
          </a:ln>
        </p:spPr>
      </p:sp>
      <p:pic>
        <p:nvPicPr>
          <p:cNvPr id="29" name="Image 4" descr="FaCogs">    </p:cNvPr>
          <p:cNvPicPr>
            <a:picLocks noChangeAspect="1"/>
          </p:cNvPicPr>
          <p:nvPr/>
        </p:nvPicPr>
        <p:blipFill>
          <a:blip r:embed="rId5"/>
          <a:stretch>
            <a:fillRect/>
          </a:stretch>
        </p:blipFill>
        <p:spPr>
          <a:xfrm>
            <a:off x="3554730" y="3737610"/>
            <a:ext cx="251460" cy="251460"/>
          </a:xfrm>
          <a:prstGeom prst="rect">
            <a:avLst/>
          </a:prstGeom>
        </p:spPr>
      </p:pic>
      <p:sp>
        <p:nvSpPr>
          <p:cNvPr id="30" name="Text 22"/>
          <p:cNvSpPr txBox="1"/>
          <p:nvPr/>
        </p:nvSpPr>
        <p:spPr>
          <a:xfrm>
            <a:off x="4069080" y="3566160"/>
            <a:ext cx="1737360" cy="320040"/>
          </a:xfrm>
          <a:prstGeom prst="rect">
            <a:avLst/>
          </a:prstGeom>
          <a:noFill/>
          <a:ln/>
        </p:spPr>
        <p:txBody>
          <a:bodyPr wrap="square" lIns="0" tIns="0" rIns="0" bIns="0" rtlCol="0" anchor="t"/>
          <a:lstStyle/>
          <a:p>
            <a:pPr indent="0" marL="0">
              <a:buNone/>
            </a:pPr>
            <a:r>
              <a:rPr lang="en-US" sz="1400" b="1" dirty="0">
                <a:solidFill>
                  <a:schemeClr val="tx1"/>
                </a:solidFill>
              </a:rPr>
              <a:t>Motion control</a:t>
            </a:r>
            <a:endParaRPr lang="en-US" sz="1400" dirty="0"/>
          </a:p>
        </p:txBody>
      </p:sp>
      <p:sp>
        <p:nvSpPr>
          <p:cNvPr id="31" name="Text 23"/>
          <p:cNvSpPr txBox="1"/>
          <p:nvPr/>
        </p:nvSpPr>
        <p:spPr>
          <a:xfrm>
            <a:off x="4069080" y="3904488"/>
            <a:ext cx="1737360" cy="457200"/>
          </a:xfrm>
          <a:prstGeom prst="rect">
            <a:avLst/>
          </a:prstGeom>
          <a:noFill/>
          <a:ln/>
        </p:spPr>
        <p:txBody>
          <a:bodyPr wrap="square" lIns="0" tIns="0" rIns="0" bIns="0" rtlCol="0" anchor="t"/>
          <a:lstStyle/>
          <a:p>
            <a:pPr indent="0" marL="0">
              <a:buNone/>
            </a:pPr>
            <a:r>
              <a:rPr lang="en-US" sz="1200" dirty="0">
                <a:solidFill>
                  <a:schemeClr val="tx2"/>
                </a:solidFill>
              </a:rPr>
              <a:t>Joint commands in Isaac Sim</a:t>
            </a:r>
            <a:endParaRPr lang="en-US" sz="1200" dirty="0"/>
          </a:p>
        </p:txBody>
      </p:sp>
      <p:sp>
        <p:nvSpPr>
          <p:cNvPr id="32" name="card"/>
          <p:cNvSpPr/>
          <p:nvPr/>
        </p:nvSpPr>
        <p:spPr>
          <a:xfrm>
            <a:off x="6126480" y="3337560"/>
            <a:ext cx="2560320" cy="1097280"/>
          </a:xfrm>
          <a:prstGeom prst="roundRect">
            <a:avLst>
              <a:gd name="adj" fmla="val 8333"/>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33" name="Shape 25"/>
          <p:cNvSpPr/>
          <p:nvPr/>
        </p:nvSpPr>
        <p:spPr>
          <a:xfrm>
            <a:off x="6263640" y="3611880"/>
            <a:ext cx="502920" cy="502920"/>
          </a:xfrm>
          <a:prstGeom prst="ellipse">
            <a:avLst/>
          </a:prstGeom>
          <a:solidFill>
            <a:schemeClr val="accent3"/>
          </a:solidFill>
          <a:ln w="12700">
            <a:solidFill>
              <a:schemeClr val="accent3"/>
            </a:solidFill>
            <a:prstDash val="solid"/>
          </a:ln>
        </p:spPr>
      </p:sp>
      <p:pic>
        <p:nvPicPr>
          <p:cNvPr id="34" name="Image 5" descr="FaChartLine">    </p:cNvPr>
          <p:cNvPicPr>
            <a:picLocks noChangeAspect="1"/>
          </p:cNvPicPr>
          <p:nvPr/>
        </p:nvPicPr>
        <p:blipFill>
          <a:blip r:embed="rId6"/>
          <a:stretch>
            <a:fillRect/>
          </a:stretch>
        </p:blipFill>
        <p:spPr>
          <a:xfrm>
            <a:off x="6389370" y="3737610"/>
            <a:ext cx="251460" cy="251460"/>
          </a:xfrm>
          <a:prstGeom prst="rect">
            <a:avLst/>
          </a:prstGeom>
        </p:spPr>
      </p:pic>
      <p:sp>
        <p:nvSpPr>
          <p:cNvPr id="35" name="Text 26"/>
          <p:cNvSpPr txBox="1"/>
          <p:nvPr/>
        </p:nvSpPr>
        <p:spPr>
          <a:xfrm>
            <a:off x="6903720" y="3566160"/>
            <a:ext cx="1737360" cy="320040"/>
          </a:xfrm>
          <a:prstGeom prst="rect">
            <a:avLst/>
          </a:prstGeom>
          <a:noFill/>
          <a:ln/>
        </p:spPr>
        <p:txBody>
          <a:bodyPr wrap="square" lIns="0" tIns="0" rIns="0" bIns="0" rtlCol="0" anchor="t"/>
          <a:lstStyle/>
          <a:p>
            <a:pPr indent="0" marL="0">
              <a:buNone/>
            </a:pPr>
            <a:r>
              <a:rPr lang="en-US" sz="1400" b="1" dirty="0">
                <a:solidFill>
                  <a:schemeClr val="tx1"/>
                </a:solidFill>
              </a:rPr>
              <a:t>Evaluation</a:t>
            </a:r>
            <a:endParaRPr lang="en-US" sz="1400" dirty="0"/>
          </a:p>
        </p:txBody>
      </p:sp>
      <p:sp>
        <p:nvSpPr>
          <p:cNvPr id="36" name="Text 27"/>
          <p:cNvSpPr txBox="1"/>
          <p:nvPr/>
        </p:nvSpPr>
        <p:spPr>
          <a:xfrm>
            <a:off x="6903720" y="3904488"/>
            <a:ext cx="1737360" cy="457200"/>
          </a:xfrm>
          <a:prstGeom prst="rect">
            <a:avLst/>
          </a:prstGeom>
          <a:noFill/>
          <a:ln/>
        </p:spPr>
        <p:txBody>
          <a:bodyPr wrap="square" lIns="0" tIns="0" rIns="0" bIns="0" rtlCol="0" anchor="t"/>
          <a:lstStyle/>
          <a:p>
            <a:pPr indent="0" marL="0">
              <a:buNone/>
            </a:pPr>
            <a:r>
              <a:rPr lang="en-US" sz="1200" dirty="0">
                <a:solidFill>
                  <a:schemeClr val="tx2"/>
                </a:solidFill>
              </a:rPr>
              <a:t>MATLAB IK and accuracy limits</a:t>
            </a:r>
            <a:endParaRPr lang="en-US" sz="12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Literature Survey and Research Gap</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926080"/>
                <a:gridCol w="2926080"/>
                <a:gridCol w="2377440"/>
              </a:tblGrid>
              <a:tr h="384048">
                <a:tc>
                  <a:txBody>
                    <a:bodyPr/>
                    <a:lstStyle/>
                    <a:p>
                      <a:pPr indent="0" marL="0">
                        <a:buNone/>
                      </a:pPr>
                      <a:r>
                        <a:rPr lang="en-US" sz="1200" b="1" dirty="0">
                          <a:solidFill>
                            <a:schemeClr val="bg1"/>
                          </a:solidFill>
                        </a:rPr>
                        <a:t>Work</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they did</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Gap</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tx1"/>
                    </a:solidFill>
                  </a:tcPr>
                </a:tc>
              </a:tr>
              <a:tr h="384048">
                <a:tc>
                  <a:txBody>
                    <a:bodyPr/>
                    <a:lstStyle/>
                    <a:p>
                      <a:pPr indent="0" marL="0">
                        <a:buNone/>
                      </a:pPr>
                      <a:r>
                        <a:rPr lang="en-US" sz="1100" dirty="0">
                          <a:solidFill>
                            <a:schemeClr val="tx2"/>
                          </a:solidFill>
                        </a:rPr>
                        <a:t>YOLO (Redmon, 2016)</a:t>
                      </a:r>
                      <a:endParaRPr lang="en-US" sz="11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rPr>
                        <a:t>Real-time detection in one pass</a:t>
                      </a:r>
                      <a:endParaRPr lang="en-US" sz="11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rPr>
                        <a:t>No depth, no manipulation</a:t>
                      </a:r>
                      <a:endParaRPr lang="en-US" sz="11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r>
              <a:tr h="384048">
                <a:tc>
                  <a:txBody>
                    <a:bodyPr/>
                    <a:lstStyle/>
                    <a:p>
                      <a:pPr indent="0" marL="0">
                        <a:buNone/>
                      </a:pPr>
                      <a:r>
                        <a:rPr lang="en-US" sz="1100" dirty="0">
                          <a:solidFill>
                            <a:schemeClr val="tx2"/>
                          </a:solidFill>
                        </a:rPr>
                        <a:t>Dual-arm pick-and-place (Harada, 2012)</a:t>
                      </a:r>
                      <a:endParaRPr lang="en-US" sz="11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rPr>
                        <a:t>Synchronised dual-arm trajectories</a:t>
                      </a:r>
                      <a:endParaRPr lang="en-US" sz="11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rPr>
                        <a:t>No AI perception</a:t>
                      </a:r>
                      <a:endParaRPr lang="en-US" sz="11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r>
              <a:tr h="384048">
                <a:tc>
                  <a:txBody>
                    <a:bodyPr/>
                    <a:lstStyle/>
                    <a:p>
                      <a:pPr indent="0" marL="0">
                        <a:buNone/>
                      </a:pPr>
                      <a:r>
                        <a:rPr lang="en-US" sz="1100" dirty="0">
                          <a:solidFill>
                            <a:schemeClr val="tx2"/>
                          </a:solidFill>
                        </a:rPr>
                        <a:t>Hand-eye coordination (Levine, 2018)</a:t>
                      </a:r>
                      <a:endParaRPr lang="en-US" sz="11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rPr>
                        <a:t>End-to-end grasp learning</a:t>
                      </a:r>
                      <a:endParaRPr lang="en-US" sz="11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rPr>
                        <a:t>Huge real-world data needed</a:t>
                      </a:r>
                      <a:endParaRPr lang="en-US" sz="11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r>
              <a:tr h="384048">
                <a:tc>
                  <a:txBody>
                    <a:bodyPr/>
                    <a:lstStyle/>
                    <a:p>
                      <a:pPr indent="0" marL="0">
                        <a:buNone/>
                      </a:pPr>
                      <a:r>
                        <a:rPr lang="en-US" sz="1100" dirty="0">
                          <a:solidFill>
                            <a:schemeClr val="tx2"/>
                          </a:solidFill>
                        </a:rPr>
                        <a:t>6D pose (Le, 2021)</a:t>
                      </a:r>
                      <a:endParaRPr lang="en-US" sz="11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rPr>
                        <a:t>Deep learning + 3D vision pose</a:t>
                      </a:r>
                      <a:endParaRPr lang="en-US" sz="11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rPr>
                        <a:t>Pose only, no robot control</a:t>
                      </a:r>
                      <a:endParaRPr lang="en-US" sz="11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r>
              <a:tr h="384048">
                <a:tc>
                  <a:txBody>
                    <a:bodyPr/>
                    <a:lstStyle/>
                    <a:p>
                      <a:pPr indent="0" marL="0">
                        <a:buNone/>
                      </a:pPr>
                      <a:r>
                        <a:rPr lang="en-US" sz="1100" dirty="0">
                          <a:solidFill>
                            <a:schemeClr val="tx2"/>
                          </a:solidFill>
                        </a:rPr>
                        <a:t>Deep RL grasping (Chen, 2023)</a:t>
                      </a:r>
                      <a:endParaRPr lang="en-US" sz="11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rPr>
                        <a:t>Grasping learned by interaction</a:t>
                      </a:r>
                      <a:endParaRPr lang="en-US" sz="11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rPr>
                        <a:t>High compute, long training</a:t>
                      </a:r>
                      <a:endParaRPr lang="en-US" sz="11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r>
              <a:tr h="384048">
                <a:tc>
                  <a:txBody>
                    <a:bodyPr/>
                    <a:lstStyle/>
                    <a:p>
                      <a:pPr indent="0" marL="0">
                        <a:buNone/>
                      </a:pPr>
                      <a:r>
                        <a:rPr lang="en-US" sz="1100" dirty="0">
                          <a:solidFill>
                            <a:schemeClr val="tx2"/>
                          </a:solidFill>
                        </a:rPr>
                        <a:t>Push and grasp (Wang, 2025)</a:t>
                      </a:r>
                      <a:endParaRPr lang="en-US" sz="11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rPr>
                        <a:t>Dual-arm clutter handling</a:t>
                      </a:r>
                      <a:endParaRPr lang="en-US" sz="11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rPr>
                        <a:t>Complex learning methods</a:t>
                      </a:r>
                      <a:endParaRPr lang="en-US" sz="11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r>
            </a:tbl>
          </a:graphicData>
        </a:graphic>
      </p:graphicFrame>
      <p:sp>
        <p:nvSpPr>
          <p:cNvPr id="5" name="card"/>
          <p:cNvSpPr/>
          <p:nvPr/>
        </p:nvSpPr>
        <p:spPr>
          <a:xfrm>
            <a:off x="457200" y="4023360"/>
            <a:ext cx="8229600" cy="640080"/>
          </a:xfrm>
          <a:prstGeom prst="roundRect">
            <a:avLst>
              <a:gd name="adj" fmla="val 14286"/>
            </a:avLst>
          </a:prstGeom>
          <a:solidFill>
            <a:schemeClr val="accent2"/>
          </a:solidFill>
          <a:ln w="12700">
            <a:solidFill>
              <a:schemeClr val="accent2"/>
            </a:solidFill>
            <a:prstDash val="solid"/>
          </a:ln>
          <a:effectLst>
            <a:outerShdw sx="100000" sy="100000" kx="0" ky="0" algn="bl" rotWithShape="0" blurRad="101600" dist="25400" dir="5400000">
              <a:srgbClr val="000000">
                <a:alpha val="14000"/>
              </a:srgbClr>
            </a:outerShdw>
          </a:effectLst>
        </p:spPr>
      </p:sp>
      <p:sp>
        <p:nvSpPr>
          <p:cNvPr id="6" name="Text 2"/>
          <p:cNvSpPr txBox="1"/>
          <p:nvPr/>
        </p:nvSpPr>
        <p:spPr>
          <a:xfrm>
            <a:off x="640080" y="4023360"/>
            <a:ext cx="7863840" cy="640080"/>
          </a:xfrm>
          <a:prstGeom prst="rect">
            <a:avLst/>
          </a:prstGeom>
          <a:noFill/>
          <a:ln/>
        </p:spPr>
        <p:txBody>
          <a:bodyPr wrap="square" lIns="0" tIns="0" rIns="0" bIns="0" rtlCol="0" anchor="ctr"/>
          <a:lstStyle/>
          <a:p>
            <a:pPr algn="ctr" indent="0" marL="0">
              <a:buNone/>
            </a:pPr>
            <a:r>
              <a:rPr lang="en-US" sz="1600" b="1" dirty="0">
                <a:solidFill>
                  <a:schemeClr val="tx1"/>
                </a:solidFill>
              </a:rPr>
              <a:t>Gap: no integrated YOLO + depth + TF + IK pipeline for a dual-arm robot</a:t>
            </a:r>
            <a:endParaRPr lang="en-US" sz="16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System Architecture</a:t>
            </a:r>
            <a:endParaRPr lang="en-US" sz="3000" dirty="0"/>
          </a:p>
        </p:txBody>
      </p:sp>
      <p:sp>
        <p:nvSpPr>
          <p:cNvPr id="4" name="card"/>
          <p:cNvSpPr/>
          <p:nvPr/>
        </p:nvSpPr>
        <p:spPr>
          <a:xfrm>
            <a:off x="457200" y="1097280"/>
            <a:ext cx="2377440" cy="2834640"/>
          </a:xfrm>
          <a:prstGeom prst="roundRect">
            <a:avLst>
              <a:gd name="adj" fmla="val 3846"/>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5" name="Shape 2"/>
          <p:cNvSpPr/>
          <p:nvPr/>
        </p:nvSpPr>
        <p:spPr>
          <a:xfrm>
            <a:off x="1371600" y="1234440"/>
            <a:ext cx="548640" cy="548640"/>
          </a:xfrm>
          <a:prstGeom prst="ellipse">
            <a:avLst/>
          </a:prstGeom>
          <a:solidFill>
            <a:schemeClr val="accent1"/>
          </a:solidFill>
          <a:ln w="12700">
            <a:solidFill>
              <a:schemeClr val="accent1"/>
            </a:solidFill>
            <a:prstDash val="solid"/>
          </a:ln>
        </p:spPr>
      </p:sp>
      <p:pic>
        <p:nvPicPr>
          <p:cNvPr id="6" name="Image 0" descr="FaCamera">    </p:cNvPr>
          <p:cNvPicPr>
            <a:picLocks noChangeAspect="1"/>
          </p:cNvPicPr>
          <p:nvPr/>
        </p:nvPicPr>
        <p:blipFill>
          <a:blip r:embed="rId1"/>
          <a:stretch>
            <a:fillRect/>
          </a:stretch>
        </p:blipFill>
        <p:spPr>
          <a:xfrm>
            <a:off x="1508760" y="1371600"/>
            <a:ext cx="274320" cy="274320"/>
          </a:xfrm>
          <a:prstGeom prst="rect">
            <a:avLst/>
          </a:prstGeom>
        </p:spPr>
      </p:pic>
      <p:sp>
        <p:nvSpPr>
          <p:cNvPr id="7" name="Text 3"/>
          <p:cNvSpPr txBox="1"/>
          <p:nvPr/>
        </p:nvSpPr>
        <p:spPr>
          <a:xfrm>
            <a:off x="548640" y="1874520"/>
            <a:ext cx="2194560" cy="274320"/>
          </a:xfrm>
          <a:prstGeom prst="rect">
            <a:avLst/>
          </a:prstGeom>
          <a:noFill/>
          <a:ln/>
        </p:spPr>
        <p:txBody>
          <a:bodyPr wrap="square" lIns="0" tIns="0" rIns="0" bIns="0" rtlCol="0" anchor="t"/>
          <a:lstStyle/>
          <a:p>
            <a:pPr algn="ctr" indent="0" marL="0">
              <a:buNone/>
            </a:pPr>
            <a:r>
              <a:rPr lang="en-US" sz="1300" b="1" dirty="0">
                <a:solidFill>
                  <a:schemeClr val="tx1"/>
                </a:solidFill>
              </a:rPr>
              <a:t>PERCEPTION</a:t>
            </a:r>
            <a:endParaRPr lang="en-US" sz="1300" dirty="0"/>
          </a:p>
        </p:txBody>
      </p:sp>
      <p:sp>
        <p:nvSpPr>
          <p:cNvPr id="8" name="Text 4"/>
          <p:cNvSpPr txBox="1"/>
          <p:nvPr/>
        </p:nvSpPr>
        <p:spPr>
          <a:xfrm>
            <a:off x="640080" y="2286000"/>
            <a:ext cx="2011680" cy="457200"/>
          </a:xfrm>
          <a:prstGeom prst="rect">
            <a:avLst/>
          </a:prstGeom>
          <a:noFill/>
          <a:ln/>
        </p:spPr>
        <p:txBody>
          <a:bodyPr wrap="square" lIns="0" tIns="0" rIns="0" bIns="0" rtlCol="0" anchor="ctr"/>
          <a:lstStyle/>
          <a:p>
            <a:pPr algn="ctr" indent="0" marL="0">
              <a:buNone/>
            </a:pPr>
            <a:r>
              <a:rPr lang="en-US" sz="1400" dirty="0">
                <a:solidFill>
                  <a:schemeClr val="tx2"/>
                </a:solidFill>
              </a:rPr>
              <a:t>Isaac Sim RGB-D camera</a:t>
            </a:r>
            <a:endParaRPr lang="en-US" sz="1400" dirty="0"/>
          </a:p>
        </p:txBody>
      </p:sp>
      <p:sp>
        <p:nvSpPr>
          <p:cNvPr id="9" name="Text 5"/>
          <p:cNvSpPr txBox="1"/>
          <p:nvPr/>
        </p:nvSpPr>
        <p:spPr>
          <a:xfrm>
            <a:off x="640080" y="2816352"/>
            <a:ext cx="2011680" cy="457200"/>
          </a:xfrm>
          <a:prstGeom prst="rect">
            <a:avLst/>
          </a:prstGeom>
          <a:noFill/>
          <a:ln/>
        </p:spPr>
        <p:txBody>
          <a:bodyPr wrap="square" lIns="0" tIns="0" rIns="0" bIns="0" rtlCol="0" anchor="ctr"/>
          <a:lstStyle/>
          <a:p>
            <a:pPr algn="ctr" indent="0" marL="0">
              <a:buNone/>
            </a:pPr>
            <a:r>
              <a:rPr lang="en-US" sz="1400" dirty="0">
                <a:solidFill>
                  <a:schemeClr val="tx2"/>
                </a:solidFill>
              </a:rPr>
              <a:t>Synthetic dataset</a:t>
            </a:r>
            <a:endParaRPr lang="en-US" sz="1400" dirty="0"/>
          </a:p>
        </p:txBody>
      </p:sp>
      <p:sp>
        <p:nvSpPr>
          <p:cNvPr id="10" name="Text 6"/>
          <p:cNvSpPr txBox="1"/>
          <p:nvPr/>
        </p:nvSpPr>
        <p:spPr>
          <a:xfrm>
            <a:off x="640080" y="3346704"/>
            <a:ext cx="2011680" cy="457200"/>
          </a:xfrm>
          <a:prstGeom prst="rect">
            <a:avLst/>
          </a:prstGeom>
          <a:noFill/>
          <a:ln/>
        </p:spPr>
        <p:txBody>
          <a:bodyPr wrap="square" lIns="0" tIns="0" rIns="0" bIns="0" rtlCol="0" anchor="ctr"/>
          <a:lstStyle/>
          <a:p>
            <a:pPr algn="ctr" indent="0" marL="0">
              <a:buNone/>
            </a:pPr>
            <a:r>
              <a:rPr lang="en-US" sz="1400" dirty="0">
                <a:solidFill>
                  <a:schemeClr val="tx2"/>
                </a:solidFill>
              </a:rPr>
              <a:t>YOLOv8 detection</a:t>
            </a:r>
            <a:endParaRPr lang="en-US" sz="1400" dirty="0"/>
          </a:p>
        </p:txBody>
      </p:sp>
      <p:sp>
        <p:nvSpPr>
          <p:cNvPr id="11" name="Shape 7"/>
          <p:cNvSpPr/>
          <p:nvPr/>
        </p:nvSpPr>
        <p:spPr>
          <a:xfrm>
            <a:off x="2880360" y="2331720"/>
            <a:ext cx="457200" cy="365760"/>
          </a:xfrm>
          <a:prstGeom prst="rightArrow">
            <a:avLst/>
          </a:prstGeom>
          <a:solidFill>
            <a:schemeClr val="tx1"/>
          </a:solidFill>
          <a:ln w="12700">
            <a:solidFill>
              <a:schemeClr val="tx1"/>
            </a:solidFill>
            <a:prstDash val="solid"/>
          </a:ln>
        </p:spPr>
      </p:sp>
      <p:sp>
        <p:nvSpPr>
          <p:cNvPr id="12" name="card"/>
          <p:cNvSpPr/>
          <p:nvPr/>
        </p:nvSpPr>
        <p:spPr>
          <a:xfrm>
            <a:off x="3383280" y="1097280"/>
            <a:ext cx="2377440" cy="2834640"/>
          </a:xfrm>
          <a:prstGeom prst="roundRect">
            <a:avLst>
              <a:gd name="adj" fmla="val 3846"/>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3" name="Shape 9"/>
          <p:cNvSpPr/>
          <p:nvPr/>
        </p:nvSpPr>
        <p:spPr>
          <a:xfrm>
            <a:off x="4297680" y="1234440"/>
            <a:ext cx="548640" cy="548640"/>
          </a:xfrm>
          <a:prstGeom prst="ellipse">
            <a:avLst/>
          </a:prstGeom>
          <a:solidFill>
            <a:schemeClr val="accent2"/>
          </a:solidFill>
          <a:ln w="12700">
            <a:solidFill>
              <a:schemeClr val="accent2"/>
            </a:solidFill>
            <a:prstDash val="solid"/>
          </a:ln>
        </p:spPr>
      </p:sp>
      <p:pic>
        <p:nvPicPr>
          <p:cNvPr id="14" name="Image 1" descr="FaBullseye">    </p:cNvPr>
          <p:cNvPicPr>
            <a:picLocks noChangeAspect="1"/>
          </p:cNvPicPr>
          <p:nvPr/>
        </p:nvPicPr>
        <p:blipFill>
          <a:blip r:embed="rId2"/>
          <a:stretch>
            <a:fillRect/>
          </a:stretch>
        </p:blipFill>
        <p:spPr>
          <a:xfrm>
            <a:off x="4434840" y="1371600"/>
            <a:ext cx="274320" cy="274320"/>
          </a:xfrm>
          <a:prstGeom prst="rect">
            <a:avLst/>
          </a:prstGeom>
        </p:spPr>
      </p:pic>
      <p:sp>
        <p:nvSpPr>
          <p:cNvPr id="15" name="Text 10"/>
          <p:cNvSpPr txBox="1"/>
          <p:nvPr/>
        </p:nvSpPr>
        <p:spPr>
          <a:xfrm>
            <a:off x="3474720" y="1874520"/>
            <a:ext cx="2194560" cy="274320"/>
          </a:xfrm>
          <a:prstGeom prst="rect">
            <a:avLst/>
          </a:prstGeom>
          <a:noFill/>
          <a:ln/>
        </p:spPr>
        <p:txBody>
          <a:bodyPr wrap="square" lIns="0" tIns="0" rIns="0" bIns="0" rtlCol="0" anchor="t"/>
          <a:lstStyle/>
          <a:p>
            <a:pPr algn="ctr" indent="0" marL="0">
              <a:buNone/>
            </a:pPr>
            <a:r>
              <a:rPr lang="en-US" sz="1300" b="1" dirty="0">
                <a:solidFill>
                  <a:schemeClr val="tx1"/>
                </a:solidFill>
              </a:rPr>
              <a:t>SPATIAL UNDERSTANDING</a:t>
            </a:r>
            <a:endParaRPr lang="en-US" sz="1300" dirty="0"/>
          </a:p>
        </p:txBody>
      </p:sp>
      <p:sp>
        <p:nvSpPr>
          <p:cNvPr id="16" name="Text 11"/>
          <p:cNvSpPr txBox="1"/>
          <p:nvPr/>
        </p:nvSpPr>
        <p:spPr>
          <a:xfrm>
            <a:off x="3566160" y="2286000"/>
            <a:ext cx="2011680" cy="457200"/>
          </a:xfrm>
          <a:prstGeom prst="rect">
            <a:avLst/>
          </a:prstGeom>
          <a:noFill/>
          <a:ln/>
        </p:spPr>
        <p:txBody>
          <a:bodyPr wrap="square" lIns="0" tIns="0" rIns="0" bIns="0" rtlCol="0" anchor="ctr"/>
          <a:lstStyle/>
          <a:p>
            <a:pPr algn="ctr" indent="0" marL="0">
              <a:buNone/>
            </a:pPr>
            <a:r>
              <a:rPr lang="en-US" sz="1400" dirty="0">
                <a:solidFill>
                  <a:schemeClr val="tx2"/>
                </a:solidFill>
              </a:rPr>
              <a:t>Depth fusion to X, Y, Z</a:t>
            </a:r>
            <a:endParaRPr lang="en-US" sz="1400" dirty="0"/>
          </a:p>
        </p:txBody>
      </p:sp>
      <p:sp>
        <p:nvSpPr>
          <p:cNvPr id="17" name="Text 12"/>
          <p:cNvSpPr txBox="1"/>
          <p:nvPr/>
        </p:nvSpPr>
        <p:spPr>
          <a:xfrm>
            <a:off x="3566160" y="2816352"/>
            <a:ext cx="2011680" cy="457200"/>
          </a:xfrm>
          <a:prstGeom prst="rect">
            <a:avLst/>
          </a:prstGeom>
          <a:noFill/>
          <a:ln/>
        </p:spPr>
        <p:txBody>
          <a:bodyPr wrap="square" lIns="0" tIns="0" rIns="0" bIns="0" rtlCol="0" anchor="ctr"/>
          <a:lstStyle/>
          <a:p>
            <a:pPr algn="ctr" indent="0" marL="0">
              <a:buNone/>
            </a:pPr>
            <a:r>
              <a:rPr lang="en-US" sz="1400" dirty="0">
                <a:solidFill>
                  <a:schemeClr val="tx2"/>
                </a:solidFill>
              </a:rPr>
              <a:t>ROS 2 TF frames</a:t>
            </a:r>
            <a:endParaRPr lang="en-US" sz="1400" dirty="0"/>
          </a:p>
        </p:txBody>
      </p:sp>
      <p:sp>
        <p:nvSpPr>
          <p:cNvPr id="18" name="Text 13"/>
          <p:cNvSpPr txBox="1"/>
          <p:nvPr/>
        </p:nvSpPr>
        <p:spPr>
          <a:xfrm>
            <a:off x="3566160" y="3346704"/>
            <a:ext cx="2011680" cy="457200"/>
          </a:xfrm>
          <a:prstGeom prst="rect">
            <a:avLst/>
          </a:prstGeom>
          <a:noFill/>
          <a:ln/>
        </p:spPr>
        <p:txBody>
          <a:bodyPr wrap="square" lIns="0" tIns="0" rIns="0" bIns="0" rtlCol="0" anchor="ctr"/>
          <a:lstStyle/>
          <a:p>
            <a:pPr algn="ctr" indent="0" marL="0">
              <a:buNone/>
            </a:pPr>
            <a:r>
              <a:rPr lang="en-US" sz="1400" dirty="0">
                <a:solidFill>
                  <a:schemeClr val="tx2"/>
                </a:solidFill>
              </a:rPr>
              <a:t>Camera to robot base</a:t>
            </a:r>
            <a:endParaRPr lang="en-US" sz="1400" dirty="0"/>
          </a:p>
        </p:txBody>
      </p:sp>
      <p:sp>
        <p:nvSpPr>
          <p:cNvPr id="19" name="Shape 14"/>
          <p:cNvSpPr/>
          <p:nvPr/>
        </p:nvSpPr>
        <p:spPr>
          <a:xfrm>
            <a:off x="5806440" y="2331720"/>
            <a:ext cx="457200" cy="365760"/>
          </a:xfrm>
          <a:prstGeom prst="rightArrow">
            <a:avLst/>
          </a:prstGeom>
          <a:solidFill>
            <a:schemeClr val="tx1"/>
          </a:solidFill>
          <a:ln w="12700">
            <a:solidFill>
              <a:schemeClr val="tx1"/>
            </a:solidFill>
            <a:prstDash val="solid"/>
          </a:ln>
        </p:spPr>
      </p:sp>
      <p:sp>
        <p:nvSpPr>
          <p:cNvPr id="20" name="card"/>
          <p:cNvSpPr/>
          <p:nvPr/>
        </p:nvSpPr>
        <p:spPr>
          <a:xfrm>
            <a:off x="6309360" y="1097280"/>
            <a:ext cx="2377440" cy="2834640"/>
          </a:xfrm>
          <a:prstGeom prst="roundRect">
            <a:avLst>
              <a:gd name="adj" fmla="val 3846"/>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1" name="Shape 16"/>
          <p:cNvSpPr/>
          <p:nvPr/>
        </p:nvSpPr>
        <p:spPr>
          <a:xfrm>
            <a:off x="7223760" y="1234440"/>
            <a:ext cx="548640" cy="548640"/>
          </a:xfrm>
          <a:prstGeom prst="ellipse">
            <a:avLst/>
          </a:prstGeom>
          <a:solidFill>
            <a:schemeClr val="accent4"/>
          </a:solidFill>
          <a:ln w="12700">
            <a:solidFill>
              <a:schemeClr val="accent4"/>
            </a:solidFill>
            <a:prstDash val="solid"/>
          </a:ln>
        </p:spPr>
      </p:sp>
      <p:pic>
        <p:nvPicPr>
          <p:cNvPr id="22" name="Image 2" descr="FaCogs">    </p:cNvPr>
          <p:cNvPicPr>
            <a:picLocks noChangeAspect="1"/>
          </p:cNvPicPr>
          <p:nvPr/>
        </p:nvPicPr>
        <p:blipFill>
          <a:blip r:embed="rId3"/>
          <a:stretch>
            <a:fillRect/>
          </a:stretch>
        </p:blipFill>
        <p:spPr>
          <a:xfrm>
            <a:off x="7360920" y="1371600"/>
            <a:ext cx="274320" cy="274320"/>
          </a:xfrm>
          <a:prstGeom prst="rect">
            <a:avLst/>
          </a:prstGeom>
        </p:spPr>
      </p:pic>
      <p:sp>
        <p:nvSpPr>
          <p:cNvPr id="23" name="Text 17"/>
          <p:cNvSpPr txBox="1"/>
          <p:nvPr/>
        </p:nvSpPr>
        <p:spPr>
          <a:xfrm>
            <a:off x="6400800" y="1874520"/>
            <a:ext cx="2194560" cy="274320"/>
          </a:xfrm>
          <a:prstGeom prst="rect">
            <a:avLst/>
          </a:prstGeom>
          <a:noFill/>
          <a:ln/>
        </p:spPr>
        <p:txBody>
          <a:bodyPr wrap="square" lIns="0" tIns="0" rIns="0" bIns="0" rtlCol="0" anchor="t"/>
          <a:lstStyle/>
          <a:p>
            <a:pPr algn="ctr" indent="0" marL="0">
              <a:buNone/>
            </a:pPr>
            <a:r>
              <a:rPr lang="en-US" sz="1300" b="1" dirty="0">
                <a:solidFill>
                  <a:schemeClr val="tx1"/>
                </a:solidFill>
              </a:rPr>
              <a:t>CONTROL</a:t>
            </a:r>
            <a:endParaRPr lang="en-US" sz="1300" dirty="0"/>
          </a:p>
        </p:txBody>
      </p:sp>
      <p:sp>
        <p:nvSpPr>
          <p:cNvPr id="24" name="Text 18"/>
          <p:cNvSpPr txBox="1"/>
          <p:nvPr/>
        </p:nvSpPr>
        <p:spPr>
          <a:xfrm>
            <a:off x="6492240" y="2286000"/>
            <a:ext cx="2011680" cy="457200"/>
          </a:xfrm>
          <a:prstGeom prst="rect">
            <a:avLst/>
          </a:prstGeom>
          <a:noFill/>
          <a:ln/>
        </p:spPr>
        <p:txBody>
          <a:bodyPr wrap="square" lIns="0" tIns="0" rIns="0" bIns="0" rtlCol="0" anchor="ctr"/>
          <a:lstStyle/>
          <a:p>
            <a:pPr algn="ctr" indent="0" marL="0">
              <a:buNone/>
            </a:pPr>
            <a:r>
              <a:rPr lang="en-US" sz="1400" dirty="0">
                <a:solidFill>
                  <a:schemeClr val="tx2"/>
                </a:solidFill>
              </a:rPr>
              <a:t>MATLAB inverse kinematics</a:t>
            </a:r>
            <a:endParaRPr lang="en-US" sz="1400" dirty="0"/>
          </a:p>
        </p:txBody>
      </p:sp>
      <p:sp>
        <p:nvSpPr>
          <p:cNvPr id="25" name="Text 19"/>
          <p:cNvSpPr txBox="1"/>
          <p:nvPr/>
        </p:nvSpPr>
        <p:spPr>
          <a:xfrm>
            <a:off x="6492240" y="2816352"/>
            <a:ext cx="2011680" cy="457200"/>
          </a:xfrm>
          <a:prstGeom prst="rect">
            <a:avLst/>
          </a:prstGeom>
          <a:noFill/>
          <a:ln/>
        </p:spPr>
        <p:txBody>
          <a:bodyPr wrap="square" lIns="0" tIns="0" rIns="0" bIns="0" rtlCol="0" anchor="ctr"/>
          <a:lstStyle/>
          <a:p>
            <a:pPr algn="ctr" indent="0" marL="0">
              <a:buNone/>
            </a:pPr>
            <a:r>
              <a:rPr lang="en-US" sz="1400" dirty="0">
                <a:solidFill>
                  <a:schemeClr val="tx2"/>
                </a:solidFill>
              </a:rPr>
              <a:t>Joint commands via ROS 2</a:t>
            </a:r>
            <a:endParaRPr lang="en-US" sz="1400" dirty="0"/>
          </a:p>
        </p:txBody>
      </p:sp>
      <p:sp>
        <p:nvSpPr>
          <p:cNvPr id="26" name="Text 20"/>
          <p:cNvSpPr txBox="1"/>
          <p:nvPr/>
        </p:nvSpPr>
        <p:spPr>
          <a:xfrm>
            <a:off x="6492240" y="3346704"/>
            <a:ext cx="2011680" cy="457200"/>
          </a:xfrm>
          <a:prstGeom prst="rect">
            <a:avLst/>
          </a:prstGeom>
          <a:noFill/>
          <a:ln/>
        </p:spPr>
        <p:txBody>
          <a:bodyPr wrap="square" lIns="0" tIns="0" rIns="0" bIns="0" rtlCol="0" anchor="ctr"/>
          <a:lstStyle/>
          <a:p>
            <a:pPr algn="ctr" indent="0" marL="0">
              <a:buNone/>
            </a:pPr>
            <a:r>
              <a:rPr lang="en-US" sz="1400" dirty="0">
                <a:solidFill>
                  <a:schemeClr val="tx2"/>
                </a:solidFill>
              </a:rPr>
              <a:t>Dual-arm pick and place</a:t>
            </a:r>
            <a:endParaRPr lang="en-US" sz="1400" dirty="0"/>
          </a:p>
        </p:txBody>
      </p:sp>
      <p:sp>
        <p:nvSpPr>
          <p:cNvPr id="27" name="card"/>
          <p:cNvSpPr/>
          <p:nvPr/>
        </p:nvSpPr>
        <p:spPr>
          <a:xfrm>
            <a:off x="457200" y="4114800"/>
            <a:ext cx="8229600" cy="548640"/>
          </a:xfrm>
          <a:prstGeom prst="roundRect">
            <a:avLst>
              <a:gd name="adj" fmla="val 16667"/>
            </a:avLst>
          </a:prstGeom>
          <a:solidFill>
            <a:schemeClr val="tx1"/>
          </a:solidFill>
          <a:ln w="12700">
            <a:solidFill>
              <a:schemeClr val="tx1"/>
            </a:solidFill>
            <a:prstDash val="solid"/>
          </a:ln>
          <a:effectLst>
            <a:outerShdw sx="100000" sy="100000" kx="0" ky="0" algn="bl" rotWithShape="0" blurRad="101600" dist="25400" dir="5400000">
              <a:srgbClr val="000000">
                <a:alpha val="14000"/>
              </a:srgbClr>
            </a:outerShdw>
          </a:effectLst>
        </p:spPr>
      </p:sp>
      <p:sp>
        <p:nvSpPr>
          <p:cNvPr id="28" name="Text 22"/>
          <p:cNvSpPr txBox="1"/>
          <p:nvPr/>
        </p:nvSpPr>
        <p:spPr>
          <a:xfrm>
            <a:off x="640080" y="4114800"/>
            <a:ext cx="7863840" cy="548640"/>
          </a:xfrm>
          <a:prstGeom prst="rect">
            <a:avLst/>
          </a:prstGeom>
          <a:noFill/>
          <a:ln/>
        </p:spPr>
        <p:txBody>
          <a:bodyPr wrap="square" lIns="0" tIns="0" rIns="0" bIns="0" rtlCol="0" anchor="ctr"/>
          <a:lstStyle/>
          <a:p>
            <a:pPr algn="ctr" indent="0" marL="0">
              <a:buNone/>
            </a:pPr>
            <a:r>
              <a:rPr lang="en-US" sz="1600" b="1" dirty="0">
                <a:solidFill>
                  <a:schemeClr val="bg1"/>
                </a:solidFill>
              </a:rPr>
              <a:t>Pixels  -&gt;  3D position  -&gt;  Robot frame  -&gt;  Joint angles  -&gt;  Motion</a:t>
            </a:r>
            <a:endParaRPr lang="en-US" sz="16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Tools and Technologies</a:t>
            </a:r>
            <a:endParaRPr lang="en-US" sz="3000" dirty="0"/>
          </a:p>
        </p:txBody>
      </p:sp>
      <p:sp>
        <p:nvSpPr>
          <p:cNvPr id="4" name="card"/>
          <p:cNvSpPr/>
          <p:nvPr/>
        </p:nvSpPr>
        <p:spPr>
          <a:xfrm>
            <a:off x="457200" y="1051560"/>
            <a:ext cx="8229600" cy="621792"/>
          </a:xfrm>
          <a:prstGeom prst="roundRect">
            <a:avLst>
              <a:gd name="adj" fmla="val 14706"/>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5" name="Shape 2"/>
          <p:cNvSpPr/>
          <p:nvPr/>
        </p:nvSpPr>
        <p:spPr>
          <a:xfrm>
            <a:off x="594360" y="1115568"/>
            <a:ext cx="493776" cy="493776"/>
          </a:xfrm>
          <a:prstGeom prst="ellipse">
            <a:avLst/>
          </a:prstGeom>
          <a:solidFill>
            <a:schemeClr val="accent1"/>
          </a:solidFill>
          <a:ln w="12700">
            <a:solidFill>
              <a:schemeClr val="accent1"/>
            </a:solidFill>
            <a:prstDash val="solid"/>
          </a:ln>
        </p:spPr>
      </p:sp>
      <p:pic>
        <p:nvPicPr>
          <p:cNvPr id="6" name="Image 0" descr="FaDesktop">    </p:cNvPr>
          <p:cNvPicPr>
            <a:picLocks noChangeAspect="1"/>
          </p:cNvPicPr>
          <p:nvPr/>
        </p:nvPicPr>
        <p:blipFill>
          <a:blip r:embed="rId1"/>
          <a:stretch>
            <a:fillRect/>
          </a:stretch>
        </p:blipFill>
        <p:spPr>
          <a:xfrm>
            <a:off x="717804" y="1239012"/>
            <a:ext cx="246888" cy="246888"/>
          </a:xfrm>
          <a:prstGeom prst="rect">
            <a:avLst/>
          </a:prstGeom>
        </p:spPr>
      </p:pic>
      <p:sp>
        <p:nvSpPr>
          <p:cNvPr id="7" name="Text 3"/>
          <p:cNvSpPr txBox="1"/>
          <p:nvPr/>
        </p:nvSpPr>
        <p:spPr>
          <a:xfrm>
            <a:off x="1280160" y="1051560"/>
            <a:ext cx="2560320" cy="621792"/>
          </a:xfrm>
          <a:prstGeom prst="rect">
            <a:avLst/>
          </a:prstGeom>
          <a:noFill/>
          <a:ln/>
        </p:spPr>
        <p:txBody>
          <a:bodyPr wrap="square" lIns="0" tIns="0" rIns="0" bIns="0" rtlCol="0" anchor="ctr"/>
          <a:lstStyle/>
          <a:p>
            <a:pPr indent="0" marL="0">
              <a:buNone/>
            </a:pPr>
            <a:r>
              <a:rPr lang="en-US" sz="1500" b="1" dirty="0">
                <a:solidFill>
                  <a:schemeClr val="tx1"/>
                </a:solidFill>
              </a:rPr>
              <a:t>NVIDIA Isaac Sim</a:t>
            </a:r>
            <a:endParaRPr lang="en-US" sz="1500" dirty="0"/>
          </a:p>
        </p:txBody>
      </p:sp>
      <p:sp>
        <p:nvSpPr>
          <p:cNvPr id="8" name="Text 4"/>
          <p:cNvSpPr txBox="1"/>
          <p:nvPr/>
        </p:nvSpPr>
        <p:spPr>
          <a:xfrm>
            <a:off x="3840480" y="1051560"/>
            <a:ext cx="4754880" cy="621792"/>
          </a:xfrm>
          <a:prstGeom prst="rect">
            <a:avLst/>
          </a:prstGeom>
          <a:noFill/>
          <a:ln/>
        </p:spPr>
        <p:txBody>
          <a:bodyPr wrap="square" lIns="0" tIns="0" rIns="0" bIns="0" rtlCol="0" anchor="ctr"/>
          <a:lstStyle/>
          <a:p>
            <a:pPr indent="0" marL="0">
              <a:buNone/>
            </a:pPr>
            <a:r>
              <a:rPr lang="en-US" sz="1400" dirty="0">
                <a:solidFill>
                  <a:schemeClr val="tx2"/>
                </a:solidFill>
              </a:rPr>
              <a:t>Simulated robot, RGB-D camera, synthetic data</a:t>
            </a:r>
            <a:endParaRPr lang="en-US" sz="1400" dirty="0"/>
          </a:p>
        </p:txBody>
      </p:sp>
      <p:sp>
        <p:nvSpPr>
          <p:cNvPr id="9" name="card"/>
          <p:cNvSpPr/>
          <p:nvPr/>
        </p:nvSpPr>
        <p:spPr>
          <a:xfrm>
            <a:off x="457200" y="1783080"/>
            <a:ext cx="8229600" cy="621792"/>
          </a:xfrm>
          <a:prstGeom prst="roundRect">
            <a:avLst>
              <a:gd name="adj" fmla="val 14706"/>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0" name="Shape 6"/>
          <p:cNvSpPr/>
          <p:nvPr/>
        </p:nvSpPr>
        <p:spPr>
          <a:xfrm>
            <a:off x="594360" y="1847088"/>
            <a:ext cx="493776" cy="493776"/>
          </a:xfrm>
          <a:prstGeom prst="ellipse">
            <a:avLst/>
          </a:prstGeom>
          <a:solidFill>
            <a:schemeClr val="accent2"/>
          </a:solidFill>
          <a:ln w="12700">
            <a:solidFill>
              <a:schemeClr val="accent2"/>
            </a:solidFill>
            <a:prstDash val="solid"/>
          </a:ln>
        </p:spPr>
      </p:sp>
      <p:pic>
        <p:nvPicPr>
          <p:cNvPr id="11" name="Image 1" descr="FaBrain">    </p:cNvPr>
          <p:cNvPicPr>
            <a:picLocks noChangeAspect="1"/>
          </p:cNvPicPr>
          <p:nvPr/>
        </p:nvPicPr>
        <p:blipFill>
          <a:blip r:embed="rId2"/>
          <a:stretch>
            <a:fillRect/>
          </a:stretch>
        </p:blipFill>
        <p:spPr>
          <a:xfrm>
            <a:off x="717804" y="1970532"/>
            <a:ext cx="246888" cy="246888"/>
          </a:xfrm>
          <a:prstGeom prst="rect">
            <a:avLst/>
          </a:prstGeom>
        </p:spPr>
      </p:pic>
      <p:sp>
        <p:nvSpPr>
          <p:cNvPr id="12" name="Text 7"/>
          <p:cNvSpPr txBox="1"/>
          <p:nvPr/>
        </p:nvSpPr>
        <p:spPr>
          <a:xfrm>
            <a:off x="1280160" y="1783080"/>
            <a:ext cx="2560320" cy="621792"/>
          </a:xfrm>
          <a:prstGeom prst="rect">
            <a:avLst/>
          </a:prstGeom>
          <a:noFill/>
          <a:ln/>
        </p:spPr>
        <p:txBody>
          <a:bodyPr wrap="square" lIns="0" tIns="0" rIns="0" bIns="0" rtlCol="0" anchor="ctr"/>
          <a:lstStyle/>
          <a:p>
            <a:pPr indent="0" marL="0">
              <a:buNone/>
            </a:pPr>
            <a:r>
              <a:rPr lang="en-US" sz="1500" b="1" dirty="0">
                <a:solidFill>
                  <a:schemeClr val="tx1"/>
                </a:solidFill>
              </a:rPr>
              <a:t>YOLOv8 / YOLOv8n</a:t>
            </a:r>
            <a:endParaRPr lang="en-US" sz="1500" dirty="0"/>
          </a:p>
        </p:txBody>
      </p:sp>
      <p:sp>
        <p:nvSpPr>
          <p:cNvPr id="13" name="Text 8"/>
          <p:cNvSpPr txBox="1"/>
          <p:nvPr/>
        </p:nvSpPr>
        <p:spPr>
          <a:xfrm>
            <a:off x="3840480" y="1783080"/>
            <a:ext cx="4754880" cy="621792"/>
          </a:xfrm>
          <a:prstGeom prst="rect">
            <a:avLst/>
          </a:prstGeom>
          <a:noFill/>
          <a:ln/>
        </p:spPr>
        <p:txBody>
          <a:bodyPr wrap="square" lIns="0" tIns="0" rIns="0" bIns="0" rtlCol="0" anchor="ctr"/>
          <a:lstStyle/>
          <a:p>
            <a:pPr indent="0" marL="0">
              <a:buNone/>
            </a:pPr>
            <a:r>
              <a:rPr lang="en-US" sz="1400" dirty="0">
                <a:solidFill>
                  <a:schemeClr val="tx2"/>
                </a:solidFill>
              </a:rPr>
              <a:t>Detects 8 classes: cube and cylinder in 4 colours</a:t>
            </a:r>
            <a:endParaRPr lang="en-US" sz="1400" dirty="0"/>
          </a:p>
        </p:txBody>
      </p:sp>
      <p:sp>
        <p:nvSpPr>
          <p:cNvPr id="14" name="card"/>
          <p:cNvSpPr/>
          <p:nvPr/>
        </p:nvSpPr>
        <p:spPr>
          <a:xfrm>
            <a:off x="457200" y="2514600"/>
            <a:ext cx="8229600" cy="621792"/>
          </a:xfrm>
          <a:prstGeom prst="roundRect">
            <a:avLst>
              <a:gd name="adj" fmla="val 14706"/>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Shape 10"/>
          <p:cNvSpPr/>
          <p:nvPr/>
        </p:nvSpPr>
        <p:spPr>
          <a:xfrm>
            <a:off x="594360" y="2578608"/>
            <a:ext cx="493776" cy="493776"/>
          </a:xfrm>
          <a:prstGeom prst="ellipse">
            <a:avLst/>
          </a:prstGeom>
          <a:solidFill>
            <a:schemeClr val="accent3"/>
          </a:solidFill>
          <a:ln w="12700">
            <a:solidFill>
              <a:schemeClr val="accent3"/>
            </a:solidFill>
            <a:prstDash val="solid"/>
          </a:ln>
        </p:spPr>
      </p:sp>
      <p:pic>
        <p:nvPicPr>
          <p:cNvPr id="16" name="Image 2" descr="FaProjectDiagram">    </p:cNvPr>
          <p:cNvPicPr>
            <a:picLocks noChangeAspect="1"/>
          </p:cNvPicPr>
          <p:nvPr/>
        </p:nvPicPr>
        <p:blipFill>
          <a:blip r:embed="rId3"/>
          <a:stretch>
            <a:fillRect/>
          </a:stretch>
        </p:blipFill>
        <p:spPr>
          <a:xfrm>
            <a:off x="717804" y="2702052"/>
            <a:ext cx="246888" cy="246888"/>
          </a:xfrm>
          <a:prstGeom prst="rect">
            <a:avLst/>
          </a:prstGeom>
        </p:spPr>
      </p:pic>
      <p:sp>
        <p:nvSpPr>
          <p:cNvPr id="17" name="Text 11"/>
          <p:cNvSpPr txBox="1"/>
          <p:nvPr/>
        </p:nvSpPr>
        <p:spPr>
          <a:xfrm>
            <a:off x="1280160" y="2514600"/>
            <a:ext cx="2560320" cy="621792"/>
          </a:xfrm>
          <a:prstGeom prst="rect">
            <a:avLst/>
          </a:prstGeom>
          <a:noFill/>
          <a:ln/>
        </p:spPr>
        <p:txBody>
          <a:bodyPr wrap="square" lIns="0" tIns="0" rIns="0" bIns="0" rtlCol="0" anchor="ctr"/>
          <a:lstStyle/>
          <a:p>
            <a:pPr indent="0" marL="0">
              <a:buNone/>
            </a:pPr>
            <a:r>
              <a:rPr lang="en-US" sz="1500" b="1" dirty="0">
                <a:solidFill>
                  <a:schemeClr val="tx1"/>
                </a:solidFill>
              </a:rPr>
              <a:t>ROS 2 Humble</a:t>
            </a:r>
            <a:endParaRPr lang="en-US" sz="1500" dirty="0"/>
          </a:p>
        </p:txBody>
      </p:sp>
      <p:sp>
        <p:nvSpPr>
          <p:cNvPr id="18" name="Text 12"/>
          <p:cNvSpPr txBox="1"/>
          <p:nvPr/>
        </p:nvSpPr>
        <p:spPr>
          <a:xfrm>
            <a:off x="3840480" y="2514600"/>
            <a:ext cx="4754880" cy="621792"/>
          </a:xfrm>
          <a:prstGeom prst="rect">
            <a:avLst/>
          </a:prstGeom>
          <a:noFill/>
          <a:ln/>
        </p:spPr>
        <p:txBody>
          <a:bodyPr wrap="square" lIns="0" tIns="0" rIns="0" bIns="0" rtlCol="0" anchor="ctr"/>
          <a:lstStyle/>
          <a:p>
            <a:pPr indent="0" marL="0">
              <a:buNone/>
            </a:pPr>
            <a:r>
              <a:rPr lang="en-US" sz="1400" dirty="0">
                <a:solidFill>
                  <a:schemeClr val="tx2"/>
                </a:solidFill>
              </a:rPr>
              <a:t>Publisher-subscriber links between modules</a:t>
            </a:r>
            <a:endParaRPr lang="en-US" sz="1400" dirty="0"/>
          </a:p>
        </p:txBody>
      </p:sp>
      <p:sp>
        <p:nvSpPr>
          <p:cNvPr id="19" name="card"/>
          <p:cNvSpPr/>
          <p:nvPr/>
        </p:nvSpPr>
        <p:spPr>
          <a:xfrm>
            <a:off x="457200" y="3246120"/>
            <a:ext cx="8229600" cy="621792"/>
          </a:xfrm>
          <a:prstGeom prst="roundRect">
            <a:avLst>
              <a:gd name="adj" fmla="val 14706"/>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0" name="Shape 14"/>
          <p:cNvSpPr/>
          <p:nvPr/>
        </p:nvSpPr>
        <p:spPr>
          <a:xfrm>
            <a:off x="594360" y="3310128"/>
            <a:ext cx="493776" cy="493776"/>
          </a:xfrm>
          <a:prstGeom prst="ellipse">
            <a:avLst/>
          </a:prstGeom>
          <a:solidFill>
            <a:schemeClr val="accent5"/>
          </a:solidFill>
          <a:ln w="12700">
            <a:solidFill>
              <a:schemeClr val="accent5"/>
            </a:solidFill>
            <a:prstDash val="solid"/>
          </a:ln>
        </p:spPr>
      </p:sp>
      <p:pic>
        <p:nvPicPr>
          <p:cNvPr id="21" name="Image 3" descr="FaSync">    </p:cNvPr>
          <p:cNvPicPr>
            <a:picLocks noChangeAspect="1"/>
          </p:cNvPicPr>
          <p:nvPr/>
        </p:nvPicPr>
        <p:blipFill>
          <a:blip r:embed="rId4"/>
          <a:stretch>
            <a:fillRect/>
          </a:stretch>
        </p:blipFill>
        <p:spPr>
          <a:xfrm>
            <a:off x="717804" y="3433572"/>
            <a:ext cx="246888" cy="246888"/>
          </a:xfrm>
          <a:prstGeom prst="rect">
            <a:avLst/>
          </a:prstGeom>
        </p:spPr>
      </p:pic>
      <p:sp>
        <p:nvSpPr>
          <p:cNvPr id="22" name="Text 15"/>
          <p:cNvSpPr txBox="1"/>
          <p:nvPr/>
        </p:nvSpPr>
        <p:spPr>
          <a:xfrm>
            <a:off x="1280160" y="3246120"/>
            <a:ext cx="2560320" cy="621792"/>
          </a:xfrm>
          <a:prstGeom prst="rect">
            <a:avLst/>
          </a:prstGeom>
          <a:noFill/>
          <a:ln/>
        </p:spPr>
        <p:txBody>
          <a:bodyPr wrap="square" lIns="0" tIns="0" rIns="0" bIns="0" rtlCol="0" anchor="ctr"/>
          <a:lstStyle/>
          <a:p>
            <a:pPr indent="0" marL="0">
              <a:buNone/>
            </a:pPr>
            <a:r>
              <a:rPr lang="en-US" sz="1500" b="1" dirty="0">
                <a:solidFill>
                  <a:schemeClr val="tx1"/>
                </a:solidFill>
              </a:rPr>
              <a:t>Action Graph + TF</a:t>
            </a:r>
            <a:endParaRPr lang="en-US" sz="1500" dirty="0"/>
          </a:p>
        </p:txBody>
      </p:sp>
      <p:sp>
        <p:nvSpPr>
          <p:cNvPr id="23" name="Text 16"/>
          <p:cNvSpPr txBox="1"/>
          <p:nvPr/>
        </p:nvSpPr>
        <p:spPr>
          <a:xfrm>
            <a:off x="3840480" y="3246120"/>
            <a:ext cx="4754880" cy="621792"/>
          </a:xfrm>
          <a:prstGeom prst="rect">
            <a:avLst/>
          </a:prstGeom>
          <a:noFill/>
          <a:ln/>
        </p:spPr>
        <p:txBody>
          <a:bodyPr wrap="square" lIns="0" tIns="0" rIns="0" bIns="0" rtlCol="0" anchor="ctr"/>
          <a:lstStyle/>
          <a:p>
            <a:pPr indent="0" marL="0">
              <a:buNone/>
            </a:pPr>
            <a:r>
              <a:rPr lang="en-US" sz="1400" dirty="0">
                <a:solidFill>
                  <a:schemeClr val="tx2"/>
                </a:solidFill>
              </a:rPr>
              <a:t>Streams data, publishes frame transforms</a:t>
            </a:r>
            <a:endParaRPr lang="en-US" sz="1400" dirty="0"/>
          </a:p>
        </p:txBody>
      </p:sp>
      <p:sp>
        <p:nvSpPr>
          <p:cNvPr id="24" name="card"/>
          <p:cNvSpPr/>
          <p:nvPr/>
        </p:nvSpPr>
        <p:spPr>
          <a:xfrm>
            <a:off x="457200" y="3977640"/>
            <a:ext cx="8229600" cy="621792"/>
          </a:xfrm>
          <a:prstGeom prst="roundRect">
            <a:avLst>
              <a:gd name="adj" fmla="val 14706"/>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5" name="Shape 18"/>
          <p:cNvSpPr/>
          <p:nvPr/>
        </p:nvSpPr>
        <p:spPr>
          <a:xfrm>
            <a:off x="594360" y="4041648"/>
            <a:ext cx="493776" cy="493776"/>
          </a:xfrm>
          <a:prstGeom prst="ellipse">
            <a:avLst/>
          </a:prstGeom>
          <a:solidFill>
            <a:schemeClr val="accent4"/>
          </a:solidFill>
          <a:ln w="12700">
            <a:solidFill>
              <a:schemeClr val="accent4"/>
            </a:solidFill>
            <a:prstDash val="solid"/>
          </a:ln>
        </p:spPr>
      </p:sp>
      <p:pic>
        <p:nvPicPr>
          <p:cNvPr id="26" name="Image 4" descr="FaCode">    </p:cNvPr>
          <p:cNvPicPr>
            <a:picLocks noChangeAspect="1"/>
          </p:cNvPicPr>
          <p:nvPr/>
        </p:nvPicPr>
        <p:blipFill>
          <a:blip r:embed="rId5"/>
          <a:stretch>
            <a:fillRect/>
          </a:stretch>
        </p:blipFill>
        <p:spPr>
          <a:xfrm>
            <a:off x="717804" y="4165092"/>
            <a:ext cx="246888" cy="246888"/>
          </a:xfrm>
          <a:prstGeom prst="rect">
            <a:avLst/>
          </a:prstGeom>
        </p:spPr>
      </p:pic>
      <p:sp>
        <p:nvSpPr>
          <p:cNvPr id="27" name="Text 19"/>
          <p:cNvSpPr txBox="1"/>
          <p:nvPr/>
        </p:nvSpPr>
        <p:spPr>
          <a:xfrm>
            <a:off x="1280160" y="3977640"/>
            <a:ext cx="2560320" cy="621792"/>
          </a:xfrm>
          <a:prstGeom prst="rect">
            <a:avLst/>
          </a:prstGeom>
          <a:noFill/>
          <a:ln/>
        </p:spPr>
        <p:txBody>
          <a:bodyPr wrap="square" lIns="0" tIns="0" rIns="0" bIns="0" rtlCol="0" anchor="ctr"/>
          <a:lstStyle/>
          <a:p>
            <a:pPr indent="0" marL="0">
              <a:buNone/>
            </a:pPr>
            <a:r>
              <a:rPr lang="en-US" sz="1500" b="1" dirty="0">
                <a:solidFill>
                  <a:schemeClr val="tx1"/>
                </a:solidFill>
              </a:rPr>
              <a:t>MATLAB Robotics Toolbox</a:t>
            </a:r>
            <a:endParaRPr lang="en-US" sz="1500" dirty="0"/>
          </a:p>
        </p:txBody>
      </p:sp>
      <p:sp>
        <p:nvSpPr>
          <p:cNvPr id="28" name="Text 20"/>
          <p:cNvSpPr txBox="1"/>
          <p:nvPr/>
        </p:nvSpPr>
        <p:spPr>
          <a:xfrm>
            <a:off x="3840480" y="3977640"/>
            <a:ext cx="4754880" cy="621792"/>
          </a:xfrm>
          <a:prstGeom prst="rect">
            <a:avLst/>
          </a:prstGeom>
          <a:noFill/>
          <a:ln/>
        </p:spPr>
        <p:txBody>
          <a:bodyPr wrap="square" lIns="0" tIns="0" rIns="0" bIns="0" rtlCol="0" anchor="ctr"/>
          <a:lstStyle/>
          <a:p>
            <a:pPr indent="0" marL="0">
              <a:buNone/>
            </a:pPr>
            <a:r>
              <a:rPr lang="en-US" sz="1400" dirty="0">
                <a:solidFill>
                  <a:schemeClr val="tx2"/>
                </a:solidFill>
              </a:rPr>
              <a:t>Inverse kinematics for joint angles</a:t>
            </a:r>
            <a:endParaRPr lang="en-US" sz="14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Methodology: Eight Steps</a:t>
            </a:r>
            <a:endParaRPr lang="en-US" sz="3000" dirty="0"/>
          </a:p>
        </p:txBody>
      </p:sp>
      <p:sp>
        <p:nvSpPr>
          <p:cNvPr id="4" name="card"/>
          <p:cNvSpPr/>
          <p:nvPr/>
        </p:nvSpPr>
        <p:spPr>
          <a:xfrm>
            <a:off x="457200" y="1097280"/>
            <a:ext cx="1920240" cy="160020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5" name="Shape 2"/>
          <p:cNvSpPr/>
          <p:nvPr/>
        </p:nvSpPr>
        <p:spPr>
          <a:xfrm>
            <a:off x="594360" y="1234440"/>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594360" y="12344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594360" y="1783080"/>
            <a:ext cx="1691640" cy="274320"/>
          </a:xfrm>
          <a:prstGeom prst="rect">
            <a:avLst/>
          </a:prstGeom>
          <a:noFill/>
          <a:ln/>
        </p:spPr>
        <p:txBody>
          <a:bodyPr wrap="square" lIns="0" tIns="0" rIns="0" bIns="0" rtlCol="0" anchor="t"/>
          <a:lstStyle/>
          <a:p>
            <a:pPr indent="0" marL="0">
              <a:buNone/>
            </a:pPr>
            <a:r>
              <a:rPr lang="en-US" sz="1500" b="1" dirty="0">
                <a:solidFill>
                  <a:schemeClr val="tx1"/>
                </a:solidFill>
              </a:rPr>
              <a:t>Synthetic data</a:t>
            </a:r>
            <a:endParaRPr lang="en-US" sz="1500" dirty="0"/>
          </a:p>
        </p:txBody>
      </p:sp>
      <p:sp>
        <p:nvSpPr>
          <p:cNvPr id="8" name="Text 5"/>
          <p:cNvSpPr txBox="1"/>
          <p:nvPr/>
        </p:nvSpPr>
        <p:spPr>
          <a:xfrm>
            <a:off x="594360" y="2084832"/>
            <a:ext cx="1691640" cy="548640"/>
          </a:xfrm>
          <a:prstGeom prst="rect">
            <a:avLst/>
          </a:prstGeom>
          <a:noFill/>
          <a:ln/>
        </p:spPr>
        <p:txBody>
          <a:bodyPr wrap="square" lIns="0" tIns="0" rIns="0" bIns="0" rtlCol="0" anchor="t"/>
          <a:lstStyle/>
          <a:p>
            <a:pPr indent="0" marL="0">
              <a:buNone/>
            </a:pPr>
            <a:r>
              <a:rPr lang="en-US" sz="1200" dirty="0">
                <a:solidFill>
                  <a:schemeClr val="tx2"/>
                </a:solidFill>
              </a:rPr>
              <a:t>Isaac Sim scenes: RGB, depth, boxes</a:t>
            </a:r>
            <a:endParaRPr lang="en-US" sz="1200" dirty="0"/>
          </a:p>
        </p:txBody>
      </p:sp>
      <p:sp>
        <p:nvSpPr>
          <p:cNvPr id="9" name="card"/>
          <p:cNvSpPr/>
          <p:nvPr/>
        </p:nvSpPr>
        <p:spPr>
          <a:xfrm>
            <a:off x="2560320" y="1097280"/>
            <a:ext cx="1920240" cy="160020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0" name="Shape 7"/>
          <p:cNvSpPr/>
          <p:nvPr/>
        </p:nvSpPr>
        <p:spPr>
          <a:xfrm>
            <a:off x="2697480" y="1234440"/>
            <a:ext cx="457200" cy="457200"/>
          </a:xfrm>
          <a:prstGeom prst="ellipse">
            <a:avLst/>
          </a:prstGeom>
          <a:solidFill>
            <a:schemeClr val="accent1"/>
          </a:solidFill>
          <a:ln w="12700">
            <a:solidFill>
              <a:schemeClr val="accent1"/>
            </a:solidFill>
            <a:prstDash val="solid"/>
          </a:ln>
        </p:spPr>
      </p:sp>
      <p:sp>
        <p:nvSpPr>
          <p:cNvPr id="11" name="Text 8"/>
          <p:cNvSpPr txBox="1"/>
          <p:nvPr/>
        </p:nvSpPr>
        <p:spPr>
          <a:xfrm>
            <a:off x="2697480" y="12344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2697480" y="1783080"/>
            <a:ext cx="1691640" cy="274320"/>
          </a:xfrm>
          <a:prstGeom prst="rect">
            <a:avLst/>
          </a:prstGeom>
          <a:noFill/>
          <a:ln/>
        </p:spPr>
        <p:txBody>
          <a:bodyPr wrap="square" lIns="0" tIns="0" rIns="0" bIns="0" rtlCol="0" anchor="t"/>
          <a:lstStyle/>
          <a:p>
            <a:pPr indent="0" marL="0">
              <a:buNone/>
            </a:pPr>
            <a:r>
              <a:rPr lang="en-US" sz="1500" b="1" dirty="0">
                <a:solidFill>
                  <a:schemeClr val="tx1"/>
                </a:solidFill>
              </a:rPr>
              <a:t>Dataset prep</a:t>
            </a:r>
            <a:endParaRPr lang="en-US" sz="1500" dirty="0"/>
          </a:p>
        </p:txBody>
      </p:sp>
      <p:sp>
        <p:nvSpPr>
          <p:cNvPr id="13" name="Text 10"/>
          <p:cNvSpPr txBox="1"/>
          <p:nvPr/>
        </p:nvSpPr>
        <p:spPr>
          <a:xfrm>
            <a:off x="2697480" y="2084832"/>
            <a:ext cx="1691640" cy="548640"/>
          </a:xfrm>
          <a:prstGeom prst="rect">
            <a:avLst/>
          </a:prstGeom>
          <a:noFill/>
          <a:ln/>
        </p:spPr>
        <p:txBody>
          <a:bodyPr wrap="square" lIns="0" tIns="0" rIns="0" bIns="0" rtlCol="0" anchor="t"/>
          <a:lstStyle/>
          <a:p>
            <a:pPr indent="0" marL="0">
              <a:buNone/>
            </a:pPr>
            <a:r>
              <a:rPr lang="en-US" sz="1200" dirty="0">
                <a:solidFill>
                  <a:schemeClr val="tx2"/>
                </a:solidFill>
              </a:rPr>
              <a:t>YOLO format, train and val split</a:t>
            </a:r>
            <a:endParaRPr lang="en-US" sz="1200" dirty="0"/>
          </a:p>
        </p:txBody>
      </p:sp>
      <p:sp>
        <p:nvSpPr>
          <p:cNvPr id="14" name="card"/>
          <p:cNvSpPr/>
          <p:nvPr/>
        </p:nvSpPr>
        <p:spPr>
          <a:xfrm>
            <a:off x="4663440" y="1097280"/>
            <a:ext cx="1920240" cy="160020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Shape 12"/>
          <p:cNvSpPr/>
          <p:nvPr/>
        </p:nvSpPr>
        <p:spPr>
          <a:xfrm>
            <a:off x="4800600" y="1234440"/>
            <a:ext cx="457200" cy="457200"/>
          </a:xfrm>
          <a:prstGeom prst="ellipse">
            <a:avLst/>
          </a:prstGeom>
          <a:solidFill>
            <a:schemeClr val="accent1"/>
          </a:solidFill>
          <a:ln w="12700">
            <a:solidFill>
              <a:schemeClr val="accent1"/>
            </a:solidFill>
            <a:prstDash val="solid"/>
          </a:ln>
        </p:spPr>
      </p:sp>
      <p:sp>
        <p:nvSpPr>
          <p:cNvPr id="16" name="Text 13"/>
          <p:cNvSpPr txBox="1"/>
          <p:nvPr/>
        </p:nvSpPr>
        <p:spPr>
          <a:xfrm>
            <a:off x="4800600" y="12344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4"/>
          <p:cNvSpPr txBox="1"/>
          <p:nvPr/>
        </p:nvSpPr>
        <p:spPr>
          <a:xfrm>
            <a:off x="4800600" y="1783080"/>
            <a:ext cx="1691640" cy="274320"/>
          </a:xfrm>
          <a:prstGeom prst="rect">
            <a:avLst/>
          </a:prstGeom>
          <a:noFill/>
          <a:ln/>
        </p:spPr>
        <p:txBody>
          <a:bodyPr wrap="square" lIns="0" tIns="0" rIns="0" bIns="0" rtlCol="0" anchor="t"/>
          <a:lstStyle/>
          <a:p>
            <a:pPr indent="0" marL="0">
              <a:buNone/>
            </a:pPr>
            <a:r>
              <a:rPr lang="en-US" sz="1500" b="1" dirty="0">
                <a:solidFill>
                  <a:schemeClr val="tx1"/>
                </a:solidFill>
              </a:rPr>
              <a:t>Training</a:t>
            </a:r>
            <a:endParaRPr lang="en-US" sz="1500" dirty="0"/>
          </a:p>
        </p:txBody>
      </p:sp>
      <p:sp>
        <p:nvSpPr>
          <p:cNvPr id="18" name="Text 15"/>
          <p:cNvSpPr txBox="1"/>
          <p:nvPr/>
        </p:nvSpPr>
        <p:spPr>
          <a:xfrm>
            <a:off x="4800600" y="2084832"/>
            <a:ext cx="1691640" cy="548640"/>
          </a:xfrm>
          <a:prstGeom prst="rect">
            <a:avLst/>
          </a:prstGeom>
          <a:noFill/>
          <a:ln/>
        </p:spPr>
        <p:txBody>
          <a:bodyPr wrap="square" lIns="0" tIns="0" rIns="0" bIns="0" rtlCol="0" anchor="t"/>
          <a:lstStyle/>
          <a:p>
            <a:pPr indent="0" marL="0">
              <a:buNone/>
            </a:pPr>
            <a:r>
              <a:rPr lang="en-US" sz="1200" dirty="0">
                <a:solidFill>
                  <a:schemeClr val="tx2"/>
                </a:solidFill>
              </a:rPr>
              <a:t>YOLOv8 trained, best.pt saved</a:t>
            </a:r>
            <a:endParaRPr lang="en-US" sz="1200" dirty="0"/>
          </a:p>
        </p:txBody>
      </p:sp>
      <p:sp>
        <p:nvSpPr>
          <p:cNvPr id="19" name="card"/>
          <p:cNvSpPr/>
          <p:nvPr/>
        </p:nvSpPr>
        <p:spPr>
          <a:xfrm>
            <a:off x="6766560" y="1097280"/>
            <a:ext cx="1920240" cy="160020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0" name="Shape 17"/>
          <p:cNvSpPr/>
          <p:nvPr/>
        </p:nvSpPr>
        <p:spPr>
          <a:xfrm>
            <a:off x="6903720" y="1234440"/>
            <a:ext cx="457200" cy="457200"/>
          </a:xfrm>
          <a:prstGeom prst="ellipse">
            <a:avLst/>
          </a:prstGeom>
          <a:solidFill>
            <a:schemeClr val="accent1"/>
          </a:solidFill>
          <a:ln w="12700">
            <a:solidFill>
              <a:schemeClr val="accent1"/>
            </a:solidFill>
            <a:prstDash val="solid"/>
          </a:ln>
        </p:spPr>
      </p:sp>
      <p:sp>
        <p:nvSpPr>
          <p:cNvPr id="21" name="Text 18"/>
          <p:cNvSpPr txBox="1"/>
          <p:nvPr/>
        </p:nvSpPr>
        <p:spPr>
          <a:xfrm>
            <a:off x="6903720" y="12344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2" name="Text 19"/>
          <p:cNvSpPr txBox="1"/>
          <p:nvPr/>
        </p:nvSpPr>
        <p:spPr>
          <a:xfrm>
            <a:off x="6903720" y="1783080"/>
            <a:ext cx="1691640" cy="274320"/>
          </a:xfrm>
          <a:prstGeom prst="rect">
            <a:avLst/>
          </a:prstGeom>
          <a:noFill/>
          <a:ln/>
        </p:spPr>
        <p:txBody>
          <a:bodyPr wrap="square" lIns="0" tIns="0" rIns="0" bIns="0" rtlCol="0" anchor="t"/>
          <a:lstStyle/>
          <a:p>
            <a:pPr indent="0" marL="0">
              <a:buNone/>
            </a:pPr>
            <a:r>
              <a:rPr lang="en-US" sz="1500" b="1" dirty="0">
                <a:solidFill>
                  <a:schemeClr val="tx1"/>
                </a:solidFill>
              </a:rPr>
              <a:t>Validation</a:t>
            </a:r>
            <a:endParaRPr lang="en-US" sz="1500" dirty="0"/>
          </a:p>
        </p:txBody>
      </p:sp>
      <p:sp>
        <p:nvSpPr>
          <p:cNvPr id="23" name="Text 20"/>
          <p:cNvSpPr txBox="1"/>
          <p:nvPr/>
        </p:nvSpPr>
        <p:spPr>
          <a:xfrm>
            <a:off x="6903720" y="2084832"/>
            <a:ext cx="1691640" cy="548640"/>
          </a:xfrm>
          <a:prstGeom prst="rect">
            <a:avLst/>
          </a:prstGeom>
          <a:noFill/>
          <a:ln/>
        </p:spPr>
        <p:txBody>
          <a:bodyPr wrap="square" lIns="0" tIns="0" rIns="0" bIns="0" rtlCol="0" anchor="t"/>
          <a:lstStyle/>
          <a:p>
            <a:pPr indent="0" marL="0">
              <a:buNone/>
            </a:pPr>
            <a:r>
              <a:rPr lang="en-US" sz="1200" dirty="0">
                <a:solidFill>
                  <a:schemeClr val="tx2"/>
                </a:solidFill>
              </a:rPr>
              <a:t>Precision, recall, visual check</a:t>
            </a:r>
            <a:endParaRPr lang="en-US" sz="1200" dirty="0"/>
          </a:p>
        </p:txBody>
      </p:sp>
      <p:sp>
        <p:nvSpPr>
          <p:cNvPr id="24" name="card"/>
          <p:cNvSpPr/>
          <p:nvPr/>
        </p:nvSpPr>
        <p:spPr>
          <a:xfrm>
            <a:off x="457200" y="2880360"/>
            <a:ext cx="1920240" cy="160020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5" name="Shape 22"/>
          <p:cNvSpPr/>
          <p:nvPr/>
        </p:nvSpPr>
        <p:spPr>
          <a:xfrm>
            <a:off x="594360" y="3017520"/>
            <a:ext cx="457200" cy="457200"/>
          </a:xfrm>
          <a:prstGeom prst="ellipse">
            <a:avLst/>
          </a:prstGeom>
          <a:solidFill>
            <a:schemeClr val="accent2"/>
          </a:solidFill>
          <a:ln w="12700">
            <a:solidFill>
              <a:schemeClr val="accent2"/>
            </a:solidFill>
            <a:prstDash val="solid"/>
          </a:ln>
        </p:spPr>
      </p:sp>
      <p:sp>
        <p:nvSpPr>
          <p:cNvPr id="26" name="Text 23"/>
          <p:cNvSpPr txBox="1"/>
          <p:nvPr/>
        </p:nvSpPr>
        <p:spPr>
          <a:xfrm>
            <a:off x="594360" y="30175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7" name="Text 24"/>
          <p:cNvSpPr txBox="1"/>
          <p:nvPr/>
        </p:nvSpPr>
        <p:spPr>
          <a:xfrm>
            <a:off x="594360" y="3566160"/>
            <a:ext cx="1691640" cy="274320"/>
          </a:xfrm>
          <a:prstGeom prst="rect">
            <a:avLst/>
          </a:prstGeom>
          <a:noFill/>
          <a:ln/>
        </p:spPr>
        <p:txBody>
          <a:bodyPr wrap="square" lIns="0" tIns="0" rIns="0" bIns="0" rtlCol="0" anchor="t"/>
          <a:lstStyle/>
          <a:p>
            <a:pPr indent="0" marL="0">
              <a:buNone/>
            </a:pPr>
            <a:r>
              <a:rPr lang="en-US" sz="1500" b="1" dirty="0">
                <a:solidFill>
                  <a:schemeClr val="tx1"/>
                </a:solidFill>
              </a:rPr>
              <a:t>Depth fusion</a:t>
            </a:r>
            <a:endParaRPr lang="en-US" sz="1500" dirty="0"/>
          </a:p>
        </p:txBody>
      </p:sp>
      <p:sp>
        <p:nvSpPr>
          <p:cNvPr id="28" name="Text 25"/>
          <p:cNvSpPr txBox="1"/>
          <p:nvPr/>
        </p:nvSpPr>
        <p:spPr>
          <a:xfrm>
            <a:off x="594360" y="3867912"/>
            <a:ext cx="1691640" cy="548640"/>
          </a:xfrm>
          <a:prstGeom prst="rect">
            <a:avLst/>
          </a:prstGeom>
          <a:noFill/>
          <a:ln/>
        </p:spPr>
        <p:txBody>
          <a:bodyPr wrap="square" lIns="0" tIns="0" rIns="0" bIns="0" rtlCol="0" anchor="t"/>
          <a:lstStyle/>
          <a:p>
            <a:pPr indent="0" marL="0">
              <a:buNone/>
            </a:pPr>
            <a:r>
              <a:rPr lang="en-US" sz="1200" dirty="0">
                <a:solidFill>
                  <a:schemeClr val="tx2"/>
                </a:solidFill>
              </a:rPr>
              <a:t>Box centre + depth gives X, Y, Z</a:t>
            </a:r>
            <a:endParaRPr lang="en-US" sz="1200" dirty="0"/>
          </a:p>
        </p:txBody>
      </p:sp>
      <p:sp>
        <p:nvSpPr>
          <p:cNvPr id="29" name="card"/>
          <p:cNvSpPr/>
          <p:nvPr/>
        </p:nvSpPr>
        <p:spPr>
          <a:xfrm>
            <a:off x="2560320" y="2880360"/>
            <a:ext cx="1920240" cy="160020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30" name="Shape 27"/>
          <p:cNvSpPr/>
          <p:nvPr/>
        </p:nvSpPr>
        <p:spPr>
          <a:xfrm>
            <a:off x="2697480" y="3017520"/>
            <a:ext cx="457200" cy="457200"/>
          </a:xfrm>
          <a:prstGeom prst="ellipse">
            <a:avLst/>
          </a:prstGeom>
          <a:solidFill>
            <a:schemeClr val="accent2"/>
          </a:solidFill>
          <a:ln w="12700">
            <a:solidFill>
              <a:schemeClr val="accent2"/>
            </a:solidFill>
            <a:prstDash val="solid"/>
          </a:ln>
        </p:spPr>
      </p:sp>
      <p:sp>
        <p:nvSpPr>
          <p:cNvPr id="31" name="Text 28"/>
          <p:cNvSpPr txBox="1"/>
          <p:nvPr/>
        </p:nvSpPr>
        <p:spPr>
          <a:xfrm>
            <a:off x="2697480" y="30175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2" name="Text 29"/>
          <p:cNvSpPr txBox="1"/>
          <p:nvPr/>
        </p:nvSpPr>
        <p:spPr>
          <a:xfrm>
            <a:off x="2697480" y="3566160"/>
            <a:ext cx="1691640" cy="274320"/>
          </a:xfrm>
          <a:prstGeom prst="rect">
            <a:avLst/>
          </a:prstGeom>
          <a:noFill/>
          <a:ln/>
        </p:spPr>
        <p:txBody>
          <a:bodyPr wrap="square" lIns="0" tIns="0" rIns="0" bIns="0" rtlCol="0" anchor="t"/>
          <a:lstStyle/>
          <a:p>
            <a:pPr indent="0" marL="0">
              <a:buNone/>
            </a:pPr>
            <a:r>
              <a:rPr lang="en-US" sz="1500" b="1" dirty="0">
                <a:solidFill>
                  <a:schemeClr val="tx1"/>
                </a:solidFill>
              </a:rPr>
              <a:t>Frame transform</a:t>
            </a:r>
            <a:endParaRPr lang="en-US" sz="1500" dirty="0"/>
          </a:p>
        </p:txBody>
      </p:sp>
      <p:sp>
        <p:nvSpPr>
          <p:cNvPr id="33" name="Text 30"/>
          <p:cNvSpPr txBox="1"/>
          <p:nvPr/>
        </p:nvSpPr>
        <p:spPr>
          <a:xfrm>
            <a:off x="2697480" y="3867912"/>
            <a:ext cx="1691640" cy="548640"/>
          </a:xfrm>
          <a:prstGeom prst="rect">
            <a:avLst/>
          </a:prstGeom>
          <a:noFill/>
          <a:ln/>
        </p:spPr>
        <p:txBody>
          <a:bodyPr wrap="square" lIns="0" tIns="0" rIns="0" bIns="0" rtlCol="0" anchor="t"/>
          <a:lstStyle/>
          <a:p>
            <a:pPr indent="0" marL="0">
              <a:buNone/>
            </a:pPr>
            <a:r>
              <a:rPr lang="en-US" sz="1200" dirty="0">
                <a:solidFill>
                  <a:schemeClr val="tx2"/>
                </a:solidFill>
              </a:rPr>
              <a:t>Camera to robot base via TF</a:t>
            </a:r>
            <a:endParaRPr lang="en-US" sz="1200" dirty="0"/>
          </a:p>
        </p:txBody>
      </p:sp>
      <p:sp>
        <p:nvSpPr>
          <p:cNvPr id="34" name="card"/>
          <p:cNvSpPr/>
          <p:nvPr/>
        </p:nvSpPr>
        <p:spPr>
          <a:xfrm>
            <a:off x="4663440" y="2880360"/>
            <a:ext cx="1920240" cy="160020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35" name="Shape 32"/>
          <p:cNvSpPr/>
          <p:nvPr/>
        </p:nvSpPr>
        <p:spPr>
          <a:xfrm>
            <a:off x="4800600" y="3017520"/>
            <a:ext cx="457200" cy="457200"/>
          </a:xfrm>
          <a:prstGeom prst="ellipse">
            <a:avLst/>
          </a:prstGeom>
          <a:solidFill>
            <a:schemeClr val="accent4"/>
          </a:solidFill>
          <a:ln w="12700">
            <a:solidFill>
              <a:schemeClr val="accent4"/>
            </a:solidFill>
            <a:prstDash val="solid"/>
          </a:ln>
        </p:spPr>
      </p:sp>
      <p:sp>
        <p:nvSpPr>
          <p:cNvPr id="36" name="Text 33"/>
          <p:cNvSpPr txBox="1"/>
          <p:nvPr/>
        </p:nvSpPr>
        <p:spPr>
          <a:xfrm>
            <a:off x="4800600" y="30175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37" name="Text 34"/>
          <p:cNvSpPr txBox="1"/>
          <p:nvPr/>
        </p:nvSpPr>
        <p:spPr>
          <a:xfrm>
            <a:off x="4800600" y="3566160"/>
            <a:ext cx="1691640" cy="274320"/>
          </a:xfrm>
          <a:prstGeom prst="rect">
            <a:avLst/>
          </a:prstGeom>
          <a:noFill/>
          <a:ln/>
        </p:spPr>
        <p:txBody>
          <a:bodyPr wrap="square" lIns="0" tIns="0" rIns="0" bIns="0" rtlCol="0" anchor="t"/>
          <a:lstStyle/>
          <a:p>
            <a:pPr indent="0" marL="0">
              <a:buNone/>
            </a:pPr>
            <a:r>
              <a:rPr lang="en-US" sz="1500" b="1" dirty="0">
                <a:solidFill>
                  <a:schemeClr val="tx1"/>
                </a:solidFill>
              </a:rPr>
              <a:t>Grasp + IK</a:t>
            </a:r>
            <a:endParaRPr lang="en-US" sz="1500" dirty="0"/>
          </a:p>
        </p:txBody>
      </p:sp>
      <p:sp>
        <p:nvSpPr>
          <p:cNvPr id="38" name="Text 35"/>
          <p:cNvSpPr txBox="1"/>
          <p:nvPr/>
        </p:nvSpPr>
        <p:spPr>
          <a:xfrm>
            <a:off x="4800600" y="3867912"/>
            <a:ext cx="1691640" cy="548640"/>
          </a:xfrm>
          <a:prstGeom prst="rect">
            <a:avLst/>
          </a:prstGeom>
          <a:noFill/>
          <a:ln/>
        </p:spPr>
        <p:txBody>
          <a:bodyPr wrap="square" lIns="0" tIns="0" rIns="0" bIns="0" rtlCol="0" anchor="t"/>
          <a:lstStyle/>
          <a:p>
            <a:pPr indent="0" marL="0">
              <a:buNone/>
            </a:pPr>
            <a:r>
              <a:rPr lang="en-US" sz="1200" dirty="0">
                <a:solidFill>
                  <a:schemeClr val="tx2"/>
                </a:solidFill>
              </a:rPr>
              <a:t>MATLAB joint angles</a:t>
            </a:r>
            <a:endParaRPr lang="en-US" sz="1200" dirty="0"/>
          </a:p>
        </p:txBody>
      </p:sp>
      <p:sp>
        <p:nvSpPr>
          <p:cNvPr id="39" name="card"/>
          <p:cNvSpPr/>
          <p:nvPr/>
        </p:nvSpPr>
        <p:spPr>
          <a:xfrm>
            <a:off x="6766560" y="2880360"/>
            <a:ext cx="1920240" cy="160020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0" name="Shape 37"/>
          <p:cNvSpPr/>
          <p:nvPr/>
        </p:nvSpPr>
        <p:spPr>
          <a:xfrm>
            <a:off x="6903720" y="3017520"/>
            <a:ext cx="457200" cy="457200"/>
          </a:xfrm>
          <a:prstGeom prst="ellipse">
            <a:avLst/>
          </a:prstGeom>
          <a:solidFill>
            <a:schemeClr val="accent4"/>
          </a:solidFill>
          <a:ln w="12700">
            <a:solidFill>
              <a:schemeClr val="accent4"/>
            </a:solidFill>
            <a:prstDash val="solid"/>
          </a:ln>
        </p:spPr>
      </p:sp>
      <p:sp>
        <p:nvSpPr>
          <p:cNvPr id="41" name="Text 38"/>
          <p:cNvSpPr txBox="1"/>
          <p:nvPr/>
        </p:nvSpPr>
        <p:spPr>
          <a:xfrm>
            <a:off x="6903720" y="30175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42" name="Text 39"/>
          <p:cNvSpPr txBox="1"/>
          <p:nvPr/>
        </p:nvSpPr>
        <p:spPr>
          <a:xfrm>
            <a:off x="6903720" y="3566160"/>
            <a:ext cx="1691640" cy="274320"/>
          </a:xfrm>
          <a:prstGeom prst="rect">
            <a:avLst/>
          </a:prstGeom>
          <a:noFill/>
          <a:ln/>
        </p:spPr>
        <p:txBody>
          <a:bodyPr wrap="square" lIns="0" tIns="0" rIns="0" bIns="0" rtlCol="0" anchor="t"/>
          <a:lstStyle/>
          <a:p>
            <a:pPr indent="0" marL="0">
              <a:buNone/>
            </a:pPr>
            <a:r>
              <a:rPr lang="en-US" sz="1500" b="1" dirty="0">
                <a:solidFill>
                  <a:schemeClr val="tx1"/>
                </a:solidFill>
              </a:rPr>
              <a:t>Pick and place</a:t>
            </a:r>
            <a:endParaRPr lang="en-US" sz="1500" dirty="0"/>
          </a:p>
        </p:txBody>
      </p:sp>
      <p:sp>
        <p:nvSpPr>
          <p:cNvPr id="43" name="Text 40"/>
          <p:cNvSpPr txBox="1"/>
          <p:nvPr/>
        </p:nvSpPr>
        <p:spPr>
          <a:xfrm>
            <a:off x="6903720" y="3867912"/>
            <a:ext cx="1691640" cy="548640"/>
          </a:xfrm>
          <a:prstGeom prst="rect">
            <a:avLst/>
          </a:prstGeom>
          <a:noFill/>
          <a:ln/>
        </p:spPr>
        <p:txBody>
          <a:bodyPr wrap="square" lIns="0" tIns="0" rIns="0" bIns="0" rtlCol="0" anchor="t"/>
          <a:lstStyle/>
          <a:p>
            <a:pPr indent="0" marL="0">
              <a:buNone/>
            </a:pPr>
            <a:r>
              <a:rPr lang="en-US" sz="1200" dirty="0">
                <a:solidFill>
                  <a:schemeClr val="tx2"/>
                </a:solidFill>
              </a:rPr>
              <a:t>Dual-arm motion executed</a:t>
            </a:r>
            <a:endParaRPr lang="en-US" sz="12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Step 1: Synthetic Data in Isaac Sim</a:t>
            </a:r>
            <a:endParaRPr lang="en-US" sz="3000" dirty="0"/>
          </a:p>
        </p:txBody>
      </p:sp>
      <p:sp>
        <p:nvSpPr>
          <p:cNvPr id="4" name="Shape 1"/>
          <p:cNvSpPr/>
          <p:nvPr/>
        </p:nvSpPr>
        <p:spPr>
          <a:xfrm>
            <a:off x="402336" y="1178770"/>
            <a:ext cx="5047488" cy="3220299"/>
          </a:xfrm>
          <a:prstGeom prst="roundRect">
            <a:avLst>
              <a:gd name="adj" fmla="val 170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pic>
        <p:nvPicPr>
          <p:cNvPr id="5" name="Image 0" descr="Isaac Sim environment">    </p:cNvPr>
          <p:cNvPicPr>
            <a:picLocks noChangeAspect="1"/>
          </p:cNvPicPr>
          <p:nvPr/>
        </p:nvPicPr>
        <p:blipFill>
          <a:blip r:embed="rId1"/>
          <a:stretch>
            <a:fillRect/>
          </a:stretch>
        </p:blipFill>
        <p:spPr>
          <a:xfrm>
            <a:off x="457200" y="1233634"/>
            <a:ext cx="4937760" cy="3110571"/>
          </a:xfrm>
          <a:prstGeom prst="rect">
            <a:avLst/>
          </a:prstGeom>
        </p:spPr>
      </p:pic>
      <p:sp>
        <p:nvSpPr>
          <p:cNvPr id="6" name="card"/>
          <p:cNvSpPr/>
          <p:nvPr/>
        </p:nvSpPr>
        <p:spPr>
          <a:xfrm>
            <a:off x="5669280" y="1097280"/>
            <a:ext cx="3017520" cy="1051560"/>
          </a:xfrm>
          <a:prstGeom prst="roundRect">
            <a:avLst>
              <a:gd name="adj" fmla="val 8696"/>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7" name="Shape 3"/>
          <p:cNvSpPr/>
          <p:nvPr/>
        </p:nvSpPr>
        <p:spPr>
          <a:xfrm>
            <a:off x="5806440" y="1371600"/>
            <a:ext cx="502920" cy="502920"/>
          </a:xfrm>
          <a:prstGeom prst="ellipse">
            <a:avLst/>
          </a:prstGeom>
          <a:solidFill>
            <a:schemeClr val="accent1"/>
          </a:solidFill>
          <a:ln w="12700">
            <a:solidFill>
              <a:schemeClr val="accent1"/>
            </a:solidFill>
            <a:prstDash val="solid"/>
          </a:ln>
        </p:spPr>
      </p:sp>
      <p:pic>
        <p:nvPicPr>
          <p:cNvPr id="8" name="Image 1" descr="FaCube">    </p:cNvPr>
          <p:cNvPicPr>
            <a:picLocks noChangeAspect="1"/>
          </p:cNvPicPr>
          <p:nvPr/>
        </p:nvPicPr>
        <p:blipFill>
          <a:blip r:embed="rId2"/>
          <a:stretch>
            <a:fillRect/>
          </a:stretch>
        </p:blipFill>
        <p:spPr>
          <a:xfrm>
            <a:off x="5932170" y="1497330"/>
            <a:ext cx="251460" cy="251460"/>
          </a:xfrm>
          <a:prstGeom prst="rect">
            <a:avLst/>
          </a:prstGeom>
        </p:spPr>
      </p:pic>
      <p:sp>
        <p:nvSpPr>
          <p:cNvPr id="9" name="Text 4"/>
          <p:cNvSpPr txBox="1"/>
          <p:nvPr/>
        </p:nvSpPr>
        <p:spPr>
          <a:xfrm>
            <a:off x="6446520" y="1234440"/>
            <a:ext cx="2194560" cy="274320"/>
          </a:xfrm>
          <a:prstGeom prst="rect">
            <a:avLst/>
          </a:prstGeom>
          <a:noFill/>
          <a:ln/>
        </p:spPr>
        <p:txBody>
          <a:bodyPr wrap="square" lIns="0" tIns="0" rIns="0" bIns="0" rtlCol="0" anchor="t"/>
          <a:lstStyle/>
          <a:p>
            <a:pPr indent="0" marL="0">
              <a:buNone/>
            </a:pPr>
            <a:r>
              <a:rPr lang="en-US" sz="1500" b="1" dirty="0">
                <a:solidFill>
                  <a:schemeClr val="tx1"/>
                </a:solidFill>
              </a:rPr>
              <a:t>Scene</a:t>
            </a:r>
            <a:endParaRPr lang="en-US" sz="1500" dirty="0"/>
          </a:p>
        </p:txBody>
      </p:sp>
      <p:sp>
        <p:nvSpPr>
          <p:cNvPr id="10" name="Text 5"/>
          <p:cNvSpPr txBox="1"/>
          <p:nvPr/>
        </p:nvSpPr>
        <p:spPr>
          <a:xfrm>
            <a:off x="6446520" y="1536192"/>
            <a:ext cx="2194560" cy="548640"/>
          </a:xfrm>
          <a:prstGeom prst="rect">
            <a:avLst/>
          </a:prstGeom>
          <a:noFill/>
          <a:ln/>
        </p:spPr>
        <p:txBody>
          <a:bodyPr wrap="square" lIns="0" tIns="0" rIns="0" bIns="0" rtlCol="0" anchor="t"/>
          <a:lstStyle/>
          <a:p>
            <a:pPr indent="0" marL="0">
              <a:buNone/>
            </a:pPr>
            <a:r>
              <a:rPr lang="en-US" sz="1200" dirty="0">
                <a:solidFill>
                  <a:schemeClr val="tx2"/>
                </a:solidFill>
              </a:rPr>
              <a:t>Table, dual-arm robot, 8 object types</a:t>
            </a:r>
            <a:endParaRPr lang="en-US" sz="1200" dirty="0"/>
          </a:p>
        </p:txBody>
      </p:sp>
      <p:sp>
        <p:nvSpPr>
          <p:cNvPr id="11" name="card"/>
          <p:cNvSpPr/>
          <p:nvPr/>
        </p:nvSpPr>
        <p:spPr>
          <a:xfrm>
            <a:off x="5669280" y="2286000"/>
            <a:ext cx="3017520" cy="1051560"/>
          </a:xfrm>
          <a:prstGeom prst="roundRect">
            <a:avLst>
              <a:gd name="adj" fmla="val 8696"/>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2" name="Shape 7"/>
          <p:cNvSpPr/>
          <p:nvPr/>
        </p:nvSpPr>
        <p:spPr>
          <a:xfrm>
            <a:off x="5806440" y="2560320"/>
            <a:ext cx="502920" cy="502920"/>
          </a:xfrm>
          <a:prstGeom prst="ellipse">
            <a:avLst/>
          </a:prstGeom>
          <a:solidFill>
            <a:schemeClr val="accent2"/>
          </a:solidFill>
          <a:ln w="12700">
            <a:solidFill>
              <a:schemeClr val="accent2"/>
            </a:solidFill>
            <a:prstDash val="solid"/>
          </a:ln>
        </p:spPr>
      </p:sp>
      <p:pic>
        <p:nvPicPr>
          <p:cNvPr id="13" name="Image 2" descr="FaSync">    </p:cNvPr>
          <p:cNvPicPr>
            <a:picLocks noChangeAspect="1"/>
          </p:cNvPicPr>
          <p:nvPr/>
        </p:nvPicPr>
        <p:blipFill>
          <a:blip r:embed="rId3"/>
          <a:stretch>
            <a:fillRect/>
          </a:stretch>
        </p:blipFill>
        <p:spPr>
          <a:xfrm>
            <a:off x="5932170" y="2686050"/>
            <a:ext cx="251460" cy="251460"/>
          </a:xfrm>
          <a:prstGeom prst="rect">
            <a:avLst/>
          </a:prstGeom>
        </p:spPr>
      </p:pic>
      <p:sp>
        <p:nvSpPr>
          <p:cNvPr id="14" name="Text 8"/>
          <p:cNvSpPr txBox="1"/>
          <p:nvPr/>
        </p:nvSpPr>
        <p:spPr>
          <a:xfrm>
            <a:off x="6446520" y="2423160"/>
            <a:ext cx="2194560" cy="274320"/>
          </a:xfrm>
          <a:prstGeom prst="rect">
            <a:avLst/>
          </a:prstGeom>
          <a:noFill/>
          <a:ln/>
        </p:spPr>
        <p:txBody>
          <a:bodyPr wrap="square" lIns="0" tIns="0" rIns="0" bIns="0" rtlCol="0" anchor="t"/>
          <a:lstStyle/>
          <a:p>
            <a:pPr indent="0" marL="0">
              <a:buNone/>
            </a:pPr>
            <a:r>
              <a:rPr lang="en-US" sz="1500" b="1" dirty="0">
                <a:solidFill>
                  <a:schemeClr val="tx1"/>
                </a:solidFill>
              </a:rPr>
              <a:t>Variation</a:t>
            </a:r>
            <a:endParaRPr lang="en-US" sz="1500" dirty="0"/>
          </a:p>
        </p:txBody>
      </p:sp>
      <p:sp>
        <p:nvSpPr>
          <p:cNvPr id="15" name="Text 9"/>
          <p:cNvSpPr txBox="1"/>
          <p:nvPr/>
        </p:nvSpPr>
        <p:spPr>
          <a:xfrm>
            <a:off x="6446520" y="2724912"/>
            <a:ext cx="2194560" cy="548640"/>
          </a:xfrm>
          <a:prstGeom prst="rect">
            <a:avLst/>
          </a:prstGeom>
          <a:noFill/>
          <a:ln/>
        </p:spPr>
        <p:txBody>
          <a:bodyPr wrap="square" lIns="0" tIns="0" rIns="0" bIns="0" rtlCol="0" anchor="t"/>
          <a:lstStyle/>
          <a:p>
            <a:pPr indent="0" marL="0">
              <a:buNone/>
            </a:pPr>
            <a:r>
              <a:rPr lang="en-US" sz="1200" dirty="0">
                <a:solidFill>
                  <a:schemeClr val="tx2"/>
                </a:solidFill>
              </a:rPr>
              <a:t>Position, orientation, lighting, viewpoint</a:t>
            </a:r>
            <a:endParaRPr lang="en-US" sz="1200" dirty="0"/>
          </a:p>
        </p:txBody>
      </p:sp>
      <p:sp>
        <p:nvSpPr>
          <p:cNvPr id="16" name="card"/>
          <p:cNvSpPr/>
          <p:nvPr/>
        </p:nvSpPr>
        <p:spPr>
          <a:xfrm>
            <a:off x="5669280" y="3474720"/>
            <a:ext cx="3017520" cy="1051560"/>
          </a:xfrm>
          <a:prstGeom prst="roundRect">
            <a:avLst>
              <a:gd name="adj" fmla="val 8696"/>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7" name="Shape 11"/>
          <p:cNvSpPr/>
          <p:nvPr/>
        </p:nvSpPr>
        <p:spPr>
          <a:xfrm>
            <a:off x="5806440" y="3749040"/>
            <a:ext cx="502920" cy="502920"/>
          </a:xfrm>
          <a:prstGeom prst="ellipse">
            <a:avLst/>
          </a:prstGeom>
          <a:solidFill>
            <a:schemeClr val="accent4"/>
          </a:solidFill>
          <a:ln w="12700">
            <a:solidFill>
              <a:schemeClr val="accent4"/>
            </a:solidFill>
            <a:prstDash val="solid"/>
          </a:ln>
        </p:spPr>
      </p:sp>
      <p:pic>
        <p:nvPicPr>
          <p:cNvPr id="18" name="Image 3" descr="FaDatabase">    </p:cNvPr>
          <p:cNvPicPr>
            <a:picLocks noChangeAspect="1"/>
          </p:cNvPicPr>
          <p:nvPr/>
        </p:nvPicPr>
        <p:blipFill>
          <a:blip r:embed="rId4"/>
          <a:stretch>
            <a:fillRect/>
          </a:stretch>
        </p:blipFill>
        <p:spPr>
          <a:xfrm>
            <a:off x="5932170" y="3874770"/>
            <a:ext cx="251460" cy="251460"/>
          </a:xfrm>
          <a:prstGeom prst="rect">
            <a:avLst/>
          </a:prstGeom>
        </p:spPr>
      </p:pic>
      <p:sp>
        <p:nvSpPr>
          <p:cNvPr id="19" name="Text 12"/>
          <p:cNvSpPr txBox="1"/>
          <p:nvPr/>
        </p:nvSpPr>
        <p:spPr>
          <a:xfrm>
            <a:off x="6446520" y="3611880"/>
            <a:ext cx="2194560" cy="274320"/>
          </a:xfrm>
          <a:prstGeom prst="rect">
            <a:avLst/>
          </a:prstGeom>
          <a:noFill/>
          <a:ln/>
        </p:spPr>
        <p:txBody>
          <a:bodyPr wrap="square" lIns="0" tIns="0" rIns="0" bIns="0" rtlCol="0" anchor="t"/>
          <a:lstStyle/>
          <a:p>
            <a:pPr indent="0" marL="0">
              <a:buNone/>
            </a:pPr>
            <a:r>
              <a:rPr lang="en-US" sz="1500" b="1" dirty="0">
                <a:solidFill>
                  <a:schemeClr val="tx1"/>
                </a:solidFill>
              </a:rPr>
              <a:t>Output</a:t>
            </a:r>
            <a:endParaRPr lang="en-US" sz="1500" dirty="0"/>
          </a:p>
        </p:txBody>
      </p:sp>
      <p:sp>
        <p:nvSpPr>
          <p:cNvPr id="20" name="Text 13"/>
          <p:cNvSpPr txBox="1"/>
          <p:nvPr/>
        </p:nvSpPr>
        <p:spPr>
          <a:xfrm>
            <a:off x="6446520" y="3913632"/>
            <a:ext cx="2194560" cy="548640"/>
          </a:xfrm>
          <a:prstGeom prst="rect">
            <a:avLst/>
          </a:prstGeom>
          <a:noFill/>
          <a:ln/>
        </p:spPr>
        <p:txBody>
          <a:bodyPr wrap="square" lIns="0" tIns="0" rIns="0" bIns="0" rtlCol="0" anchor="t"/>
          <a:lstStyle/>
          <a:p>
            <a:pPr indent="0" marL="0">
              <a:buNone/>
            </a:pPr>
            <a:r>
              <a:rPr lang="en-US" sz="1200" dirty="0">
                <a:solidFill>
                  <a:schemeClr val="tx2"/>
                </a:solidFill>
              </a:rPr>
              <a:t>RGB images, depth maps, 2D boxes</a:t>
            </a:r>
            <a:endParaRPr lang="en-US" sz="12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Step 2: Dataset Preparation (YOLO Format)</a:t>
            </a:r>
            <a:endParaRPr lang="en-US" sz="3000" dirty="0"/>
          </a:p>
        </p:txBody>
      </p:sp>
      <p:sp>
        <p:nvSpPr>
          <p:cNvPr id="4" name="card"/>
          <p:cNvSpPr/>
          <p:nvPr/>
        </p:nvSpPr>
        <p:spPr>
          <a:xfrm>
            <a:off x="457200" y="1097280"/>
            <a:ext cx="1554480" cy="548640"/>
          </a:xfrm>
          <a:prstGeom prst="roundRect">
            <a:avLst>
              <a:gd name="adj" fmla="val 16667"/>
            </a:avLst>
          </a:prstGeom>
          <a:solidFill>
            <a:schemeClr val="tx1"/>
          </a:solidFill>
          <a:ln w="12700">
            <a:solidFill>
              <a:schemeClr val="tx1"/>
            </a:solidFill>
            <a:prstDash val="solid"/>
          </a:ln>
          <a:effectLst>
            <a:outerShdw sx="100000" sy="100000" kx="0" ky="0" algn="bl" rotWithShape="0" blurRad="101600" dist="25400" dir="5400000">
              <a:srgbClr val="000000">
                <a:alpha val="14000"/>
              </a:srgbClr>
            </a:outerShdw>
          </a:effectLst>
        </p:spPr>
      </p:sp>
      <p:sp>
        <p:nvSpPr>
          <p:cNvPr id="5" name="Text 2"/>
          <p:cNvSpPr txBox="1"/>
          <p:nvPr/>
        </p:nvSpPr>
        <p:spPr>
          <a:xfrm>
            <a:off x="457200" y="1097280"/>
            <a:ext cx="1554480" cy="548640"/>
          </a:xfrm>
          <a:prstGeom prst="rect">
            <a:avLst/>
          </a:prstGeom>
          <a:noFill/>
          <a:ln/>
        </p:spPr>
        <p:txBody>
          <a:bodyPr wrap="square" lIns="0" tIns="0" rIns="0" bIns="0" rtlCol="0" anchor="ctr"/>
          <a:lstStyle/>
          <a:p>
            <a:pPr algn="ctr" indent="0" marL="0">
              <a:buNone/>
            </a:pPr>
            <a:r>
              <a:rPr lang="en-US" sz="1500" b="1" dirty="0">
                <a:solidFill>
                  <a:schemeClr val="bg1"/>
                </a:solidFill>
              </a:rPr>
              <a:t>class_id</a:t>
            </a:r>
            <a:endParaRPr lang="en-US" sz="1500" dirty="0"/>
          </a:p>
        </p:txBody>
      </p:sp>
      <p:sp>
        <p:nvSpPr>
          <p:cNvPr id="6" name="card"/>
          <p:cNvSpPr/>
          <p:nvPr/>
        </p:nvSpPr>
        <p:spPr>
          <a:xfrm>
            <a:off x="2139696" y="1097280"/>
            <a:ext cx="1554480" cy="548640"/>
          </a:xfrm>
          <a:prstGeom prst="roundRect">
            <a:avLst>
              <a:gd name="adj" fmla="val 16667"/>
            </a:avLst>
          </a:prstGeom>
          <a:solidFill>
            <a:schemeClr val="accent1"/>
          </a:solidFill>
          <a:ln w="12700">
            <a:solidFill>
              <a:schemeClr val="accent1"/>
            </a:solidFill>
            <a:prstDash val="solid"/>
          </a:ln>
          <a:effectLst>
            <a:outerShdw sx="100000" sy="100000" kx="0" ky="0" algn="bl" rotWithShape="0" blurRad="101600" dist="25400" dir="5400000">
              <a:srgbClr val="000000">
                <a:alpha val="14000"/>
              </a:srgbClr>
            </a:outerShdw>
          </a:effectLst>
        </p:spPr>
      </p:sp>
      <p:sp>
        <p:nvSpPr>
          <p:cNvPr id="7" name="Text 4"/>
          <p:cNvSpPr txBox="1"/>
          <p:nvPr/>
        </p:nvSpPr>
        <p:spPr>
          <a:xfrm>
            <a:off x="2139696" y="1097280"/>
            <a:ext cx="1554480" cy="548640"/>
          </a:xfrm>
          <a:prstGeom prst="rect">
            <a:avLst/>
          </a:prstGeom>
          <a:noFill/>
          <a:ln/>
        </p:spPr>
        <p:txBody>
          <a:bodyPr wrap="square" lIns="0" tIns="0" rIns="0" bIns="0" rtlCol="0" anchor="ctr"/>
          <a:lstStyle/>
          <a:p>
            <a:pPr algn="ctr" indent="0" marL="0">
              <a:buNone/>
            </a:pPr>
            <a:r>
              <a:rPr lang="en-US" sz="1500" b="1" dirty="0">
                <a:solidFill>
                  <a:schemeClr val="bg1"/>
                </a:solidFill>
              </a:rPr>
              <a:t>x_center</a:t>
            </a:r>
            <a:endParaRPr lang="en-US" sz="1500" dirty="0"/>
          </a:p>
        </p:txBody>
      </p:sp>
      <p:sp>
        <p:nvSpPr>
          <p:cNvPr id="8" name="card"/>
          <p:cNvSpPr/>
          <p:nvPr/>
        </p:nvSpPr>
        <p:spPr>
          <a:xfrm>
            <a:off x="3822192" y="1097280"/>
            <a:ext cx="1554480" cy="548640"/>
          </a:xfrm>
          <a:prstGeom prst="roundRect">
            <a:avLst>
              <a:gd name="adj" fmla="val 16667"/>
            </a:avLst>
          </a:prstGeom>
          <a:solidFill>
            <a:schemeClr val="accent1"/>
          </a:solidFill>
          <a:ln w="12700">
            <a:solidFill>
              <a:schemeClr val="accent1"/>
            </a:solidFill>
            <a:prstDash val="solid"/>
          </a:ln>
          <a:effectLst>
            <a:outerShdw sx="100000" sy="100000" kx="0" ky="0" algn="bl" rotWithShape="0" blurRad="101600" dist="25400" dir="5400000">
              <a:srgbClr val="000000">
                <a:alpha val="14000"/>
              </a:srgbClr>
            </a:outerShdw>
          </a:effectLst>
        </p:spPr>
      </p:sp>
      <p:sp>
        <p:nvSpPr>
          <p:cNvPr id="9" name="Text 6"/>
          <p:cNvSpPr txBox="1"/>
          <p:nvPr/>
        </p:nvSpPr>
        <p:spPr>
          <a:xfrm>
            <a:off x="3822192" y="1097280"/>
            <a:ext cx="1554480" cy="548640"/>
          </a:xfrm>
          <a:prstGeom prst="rect">
            <a:avLst/>
          </a:prstGeom>
          <a:noFill/>
          <a:ln/>
        </p:spPr>
        <p:txBody>
          <a:bodyPr wrap="square" lIns="0" tIns="0" rIns="0" bIns="0" rtlCol="0" anchor="ctr"/>
          <a:lstStyle/>
          <a:p>
            <a:pPr algn="ctr" indent="0" marL="0">
              <a:buNone/>
            </a:pPr>
            <a:r>
              <a:rPr lang="en-US" sz="1500" b="1" dirty="0">
                <a:solidFill>
                  <a:schemeClr val="bg1"/>
                </a:solidFill>
              </a:rPr>
              <a:t>y_center</a:t>
            </a:r>
            <a:endParaRPr lang="en-US" sz="1500" dirty="0"/>
          </a:p>
        </p:txBody>
      </p:sp>
      <p:sp>
        <p:nvSpPr>
          <p:cNvPr id="10" name="card"/>
          <p:cNvSpPr/>
          <p:nvPr/>
        </p:nvSpPr>
        <p:spPr>
          <a:xfrm>
            <a:off x="5504688" y="1097280"/>
            <a:ext cx="1554480" cy="548640"/>
          </a:xfrm>
          <a:prstGeom prst="roundRect">
            <a:avLst>
              <a:gd name="adj" fmla="val 16667"/>
            </a:avLst>
          </a:prstGeom>
          <a:solidFill>
            <a:schemeClr val="accent2"/>
          </a:solidFill>
          <a:ln w="12700">
            <a:solidFill>
              <a:schemeClr val="accent2"/>
            </a:solidFill>
            <a:prstDash val="solid"/>
          </a:ln>
          <a:effectLst>
            <a:outerShdw sx="100000" sy="100000" kx="0" ky="0" algn="bl" rotWithShape="0" blurRad="101600" dist="25400" dir="5400000">
              <a:srgbClr val="000000">
                <a:alpha val="14000"/>
              </a:srgbClr>
            </a:outerShdw>
          </a:effectLst>
        </p:spPr>
      </p:sp>
      <p:sp>
        <p:nvSpPr>
          <p:cNvPr id="11" name="Text 8"/>
          <p:cNvSpPr txBox="1"/>
          <p:nvPr/>
        </p:nvSpPr>
        <p:spPr>
          <a:xfrm>
            <a:off x="5504688" y="1097280"/>
            <a:ext cx="1554480" cy="548640"/>
          </a:xfrm>
          <a:prstGeom prst="rect">
            <a:avLst/>
          </a:prstGeom>
          <a:noFill/>
          <a:ln/>
        </p:spPr>
        <p:txBody>
          <a:bodyPr wrap="square" lIns="0" tIns="0" rIns="0" bIns="0" rtlCol="0" anchor="ctr"/>
          <a:lstStyle/>
          <a:p>
            <a:pPr algn="ctr" indent="0" marL="0">
              <a:buNone/>
            </a:pPr>
            <a:r>
              <a:rPr lang="en-US" sz="1500" b="1" dirty="0">
                <a:solidFill>
                  <a:schemeClr val="tx1"/>
                </a:solidFill>
              </a:rPr>
              <a:t>width</a:t>
            </a:r>
            <a:endParaRPr lang="en-US" sz="1500" dirty="0"/>
          </a:p>
        </p:txBody>
      </p:sp>
      <p:sp>
        <p:nvSpPr>
          <p:cNvPr id="12" name="card"/>
          <p:cNvSpPr/>
          <p:nvPr/>
        </p:nvSpPr>
        <p:spPr>
          <a:xfrm>
            <a:off x="7187184" y="1097280"/>
            <a:ext cx="1554480" cy="548640"/>
          </a:xfrm>
          <a:prstGeom prst="roundRect">
            <a:avLst>
              <a:gd name="adj" fmla="val 16667"/>
            </a:avLst>
          </a:prstGeom>
          <a:solidFill>
            <a:schemeClr val="accent2"/>
          </a:solidFill>
          <a:ln w="12700">
            <a:solidFill>
              <a:schemeClr val="accent2"/>
            </a:solidFill>
            <a:prstDash val="solid"/>
          </a:ln>
          <a:effectLst>
            <a:outerShdw sx="100000" sy="100000" kx="0" ky="0" algn="bl" rotWithShape="0" blurRad="101600" dist="25400" dir="5400000">
              <a:srgbClr val="000000">
                <a:alpha val="14000"/>
              </a:srgbClr>
            </a:outerShdw>
          </a:effectLst>
        </p:spPr>
      </p:sp>
      <p:sp>
        <p:nvSpPr>
          <p:cNvPr id="13" name="Text 10"/>
          <p:cNvSpPr txBox="1"/>
          <p:nvPr/>
        </p:nvSpPr>
        <p:spPr>
          <a:xfrm>
            <a:off x="7187184" y="1097280"/>
            <a:ext cx="1554480" cy="548640"/>
          </a:xfrm>
          <a:prstGeom prst="rect">
            <a:avLst/>
          </a:prstGeom>
          <a:noFill/>
          <a:ln/>
        </p:spPr>
        <p:txBody>
          <a:bodyPr wrap="square" lIns="0" tIns="0" rIns="0" bIns="0" rtlCol="0" anchor="ctr"/>
          <a:lstStyle/>
          <a:p>
            <a:pPr algn="ctr" indent="0" marL="0">
              <a:buNone/>
            </a:pPr>
            <a:r>
              <a:rPr lang="en-US" sz="1500" b="1" dirty="0">
                <a:solidFill>
                  <a:schemeClr val="tx1"/>
                </a:solidFill>
              </a:rPr>
              <a:t>height</a:t>
            </a:r>
            <a:endParaRPr lang="en-US" sz="1500" dirty="0"/>
          </a:p>
        </p:txBody>
      </p:sp>
      <p:sp>
        <p:nvSpPr>
          <p:cNvPr id="14" name="Text 11"/>
          <p:cNvSpPr txBox="1"/>
          <p:nvPr/>
        </p:nvSpPr>
        <p:spPr>
          <a:xfrm>
            <a:off x="457200" y="1828800"/>
            <a:ext cx="3931920" cy="274320"/>
          </a:xfrm>
          <a:prstGeom prst="rect">
            <a:avLst/>
          </a:prstGeom>
          <a:noFill/>
          <a:ln/>
        </p:spPr>
        <p:txBody>
          <a:bodyPr wrap="square" lIns="0" tIns="0" rIns="0" bIns="0" rtlCol="0" anchor="t"/>
          <a:lstStyle/>
          <a:p>
            <a:pPr indent="0" marL="0">
              <a:buNone/>
            </a:pPr>
            <a:r>
              <a:rPr lang="en-US" sz="1300" b="1" dirty="0">
                <a:solidFill>
                  <a:schemeClr val="tx1"/>
                </a:solidFill>
              </a:rPr>
              <a:t>Label file (one line per object)</a:t>
            </a:r>
            <a:endParaRPr lang="en-US" sz="1300" dirty="0"/>
          </a:p>
        </p:txBody>
      </p:sp>
      <p:sp>
        <p:nvSpPr>
          <p:cNvPr id="15" name="Shape 12"/>
          <p:cNvSpPr/>
          <p:nvPr/>
        </p:nvSpPr>
        <p:spPr>
          <a:xfrm>
            <a:off x="402336" y="2391815"/>
            <a:ext cx="4041648" cy="1434290"/>
          </a:xfrm>
          <a:prstGeom prst="roundRect">
            <a:avLst>
              <a:gd name="adj" fmla="val 3825"/>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pic>
        <p:nvPicPr>
          <p:cNvPr id="16" name="Image 0" descr="YOLO labels">    </p:cNvPr>
          <p:cNvPicPr>
            <a:picLocks noChangeAspect="1"/>
          </p:cNvPicPr>
          <p:nvPr/>
        </p:nvPicPr>
        <p:blipFill>
          <a:blip r:embed="rId1"/>
          <a:stretch>
            <a:fillRect/>
          </a:stretch>
        </p:blipFill>
        <p:spPr>
          <a:xfrm>
            <a:off x="457200" y="2446679"/>
            <a:ext cx="3931920" cy="1324562"/>
          </a:xfrm>
          <a:prstGeom prst="rect">
            <a:avLst/>
          </a:prstGeom>
        </p:spPr>
      </p:pic>
      <p:sp>
        <p:nvSpPr>
          <p:cNvPr id="17" name="Text 13"/>
          <p:cNvSpPr txBox="1"/>
          <p:nvPr/>
        </p:nvSpPr>
        <p:spPr>
          <a:xfrm>
            <a:off x="4754880" y="1828800"/>
            <a:ext cx="3931920" cy="274320"/>
          </a:xfrm>
          <a:prstGeom prst="rect">
            <a:avLst/>
          </a:prstGeom>
          <a:noFill/>
          <a:ln/>
        </p:spPr>
        <p:txBody>
          <a:bodyPr wrap="square" lIns="0" tIns="0" rIns="0" bIns="0" rtlCol="0" anchor="t"/>
          <a:lstStyle/>
          <a:p>
            <a:pPr indent="0" marL="0">
              <a:buNone/>
            </a:pPr>
            <a:r>
              <a:rPr lang="en-US" sz="1300" b="1" dirty="0">
                <a:solidFill>
                  <a:schemeClr val="tx1"/>
                </a:solidFill>
              </a:rPr>
              <a:t>Matching RGB image</a:t>
            </a:r>
            <a:endParaRPr lang="en-US" sz="1300" dirty="0"/>
          </a:p>
        </p:txBody>
      </p:sp>
      <p:sp>
        <p:nvSpPr>
          <p:cNvPr id="18" name="Shape 14"/>
          <p:cNvSpPr/>
          <p:nvPr/>
        </p:nvSpPr>
        <p:spPr>
          <a:xfrm>
            <a:off x="5141150" y="2139696"/>
            <a:ext cx="3159381" cy="2395728"/>
          </a:xfrm>
          <a:prstGeom prst="roundRect">
            <a:avLst>
              <a:gd name="adj" fmla="val 229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pic>
        <p:nvPicPr>
          <p:cNvPr id="19" name="Image 1" descr="RGB image">    </p:cNvPr>
          <p:cNvPicPr>
            <a:picLocks noChangeAspect="1"/>
          </p:cNvPicPr>
          <p:nvPr/>
        </p:nvPicPr>
        <p:blipFill>
          <a:blip r:embed="rId2"/>
          <a:stretch>
            <a:fillRect/>
          </a:stretch>
        </p:blipFill>
        <p:spPr>
          <a:xfrm>
            <a:off x="5196014" y="2194560"/>
            <a:ext cx="3049653" cy="2286000"/>
          </a:xfrm>
          <a:prstGeom prst="rect">
            <a:avLst/>
          </a:prstGeom>
        </p:spPr>
      </p:pic>
      <p:sp>
        <p:nvSpPr>
          <p:cNvPr id="20" name="Text 15"/>
          <p:cNvSpPr txBox="1"/>
          <p:nvPr/>
        </p:nvSpPr>
        <p:spPr>
          <a:xfrm>
            <a:off x="457200" y="4160520"/>
            <a:ext cx="3931920" cy="457200"/>
          </a:xfrm>
          <a:prstGeom prst="rect">
            <a:avLst/>
          </a:prstGeom>
          <a:noFill/>
          <a:ln/>
        </p:spPr>
        <p:txBody>
          <a:bodyPr wrap="square" lIns="0" tIns="0" rIns="0" bIns="0" rtlCol="0" anchor="t"/>
          <a:lstStyle/>
          <a:p>
            <a:pPr indent="0" marL="0">
              <a:buNone/>
            </a:pPr>
            <a:r>
              <a:rPr lang="en-US" sz="1200" dirty="0">
                <a:solidFill>
                  <a:schemeClr val="accent5"/>
                </a:solidFill>
              </a:rPr>
              <a:t>Values normalised 0 to 1, so labels are independent of image size</a:t>
            </a:r>
            <a:endParaRPr lang="en-US" sz="12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Steps 3 and 4: Training and Validation</a:t>
            </a:r>
            <a:endParaRPr lang="en-US" sz="3000" dirty="0"/>
          </a:p>
        </p:txBody>
      </p:sp>
      <p:sp>
        <p:nvSpPr>
          <p:cNvPr id="4" name="card"/>
          <p:cNvSpPr/>
          <p:nvPr/>
        </p:nvSpPr>
        <p:spPr>
          <a:xfrm>
            <a:off x="457200" y="1097280"/>
            <a:ext cx="3017520" cy="3520440"/>
          </a:xfrm>
          <a:prstGeom prst="roundRect">
            <a:avLst>
              <a:gd name="adj" fmla="val 303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5" name="Text 2"/>
          <p:cNvSpPr txBox="1"/>
          <p:nvPr/>
        </p:nvSpPr>
        <p:spPr>
          <a:xfrm>
            <a:off x="640080" y="1234440"/>
            <a:ext cx="2651760" cy="274320"/>
          </a:xfrm>
          <a:prstGeom prst="rect">
            <a:avLst/>
          </a:prstGeom>
          <a:noFill/>
          <a:ln/>
        </p:spPr>
        <p:txBody>
          <a:bodyPr wrap="square" lIns="0" tIns="0" rIns="0" bIns="0" rtlCol="0" anchor="t"/>
          <a:lstStyle/>
          <a:p>
            <a:pPr indent="0" marL="0">
              <a:buNone/>
            </a:pPr>
            <a:r>
              <a:rPr lang="en-US" sz="1500" b="1" dirty="0">
                <a:solidFill>
                  <a:schemeClr val="accent1"/>
                </a:solidFill>
              </a:rPr>
              <a:t>Process</a:t>
            </a:r>
            <a:endParaRPr lang="en-US" sz="1500" dirty="0"/>
          </a:p>
        </p:txBody>
      </p:sp>
      <p:sp>
        <p:nvSpPr>
          <p:cNvPr id="6" name="Text 3"/>
          <p:cNvSpPr txBox="1"/>
          <p:nvPr/>
        </p:nvSpPr>
        <p:spPr>
          <a:xfrm>
            <a:off x="640080" y="1645920"/>
            <a:ext cx="2697480" cy="54864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Train on labelled images over many epochs</a:t>
            </a:r>
            <a:endParaRPr lang="en-US" sz="1300" dirty="0"/>
          </a:p>
        </p:txBody>
      </p:sp>
      <p:sp>
        <p:nvSpPr>
          <p:cNvPr id="7" name="Text 4"/>
          <p:cNvSpPr txBox="1"/>
          <p:nvPr/>
        </p:nvSpPr>
        <p:spPr>
          <a:xfrm>
            <a:off x="640080" y="2231136"/>
            <a:ext cx="2697480" cy="54864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Tune learning rate and batch size</a:t>
            </a:r>
            <a:endParaRPr lang="en-US" sz="1300" dirty="0"/>
          </a:p>
        </p:txBody>
      </p:sp>
      <p:sp>
        <p:nvSpPr>
          <p:cNvPr id="8" name="Text 5"/>
          <p:cNvSpPr txBox="1"/>
          <p:nvPr/>
        </p:nvSpPr>
        <p:spPr>
          <a:xfrm>
            <a:off x="640080" y="2816352"/>
            <a:ext cx="2697480" cy="54864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Save best weights (best.pt)</a:t>
            </a:r>
            <a:endParaRPr lang="en-US" sz="1300" dirty="0"/>
          </a:p>
        </p:txBody>
      </p:sp>
      <p:sp>
        <p:nvSpPr>
          <p:cNvPr id="9" name="Text 6"/>
          <p:cNvSpPr txBox="1"/>
          <p:nvPr/>
        </p:nvSpPr>
        <p:spPr>
          <a:xfrm>
            <a:off x="640080" y="3401568"/>
            <a:ext cx="2697480" cy="54864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Validate on unseen images</a:t>
            </a:r>
            <a:endParaRPr lang="en-US" sz="1300" dirty="0"/>
          </a:p>
        </p:txBody>
      </p:sp>
      <p:sp>
        <p:nvSpPr>
          <p:cNvPr id="10" name="Text 7"/>
          <p:cNvSpPr txBox="1"/>
          <p:nvPr/>
        </p:nvSpPr>
        <p:spPr>
          <a:xfrm>
            <a:off x="640080" y="3986784"/>
            <a:ext cx="2697480" cy="54864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Check precision, recall, F1</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703320" y="1097280"/>
          <a:ext cx="4983480" cy="914400"/>
        </p:xfrm>
        <a:graphic>
          <a:graphicData uri="http://schemas.openxmlformats.org/drawingml/2006/table">
            <a:tbl>
              <a:tblPr/>
              <a:tblGrid>
                <a:gridCol w="1234440"/>
                <a:gridCol w="1828800"/>
                <a:gridCol w="1920240"/>
              </a:tblGrid>
              <a:tr h="457200">
                <a:tc>
                  <a:txBody>
                    <a:bodyPr/>
                    <a:lstStyle/>
                    <a:p>
                      <a:pPr indent="0" marL="0">
                        <a:buNone/>
                      </a:pPr>
                      <a:r>
                        <a:rPr lang="en-US" sz="1200" b="1" dirty="0">
                          <a:solidFill>
                            <a:schemeClr val="bg1"/>
                          </a:solidFill>
                        </a:rPr>
                        <a:t>Parameter</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YOLOv8</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YOLOv8n (Nano)</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tx1"/>
                    </a:solidFill>
                  </a:tcPr>
                </a:tc>
              </a:tr>
              <a:tr h="457200">
                <a:tc>
                  <a:txBody>
                    <a:bodyPr/>
                    <a:lstStyle/>
                    <a:p>
                      <a:pPr indent="0" marL="0">
                        <a:buNone/>
                      </a:pPr>
                      <a:r>
                        <a:rPr lang="en-US" sz="1200" b="1" dirty="0">
                          <a:solidFill>
                            <a:schemeClr val="tx1"/>
                          </a:solidFill>
                        </a:rPr>
                        <a:t>Model size</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Larger</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Very compact</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Accuracy</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Higher, deeper features</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Slightly lower</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Speed</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Moderate</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Very fast</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Hardware</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High GPU and memory</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Low-end devices</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Latency</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Higher</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Very low</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Best use</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Accuracy-critical inspection</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Robotics, fast response</a:t>
                      </a:r>
                      <a:endParaRPr lang="en-US" sz="1200" dirty="0"/>
                    </a:p>
                  </a:txBody>
                  <a:tcPr marL="91440" marR="91440" marT="45720" marB="4572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chemeClr val="bg1"/>
                    </a:solidFill>
                  </a:tcPr>
                </a:tc>
              </a:tr>
            </a:tbl>
          </a:graphicData>
        </a:graphic>
      </p:graphicFrame>
      <p:sp>
        <p:nvSpPr>
          <p:cNvPr id="12" name="Text 8"/>
          <p:cNvSpPr txBox="1"/>
          <p:nvPr/>
        </p:nvSpPr>
        <p:spPr>
          <a:xfrm>
            <a:off x="3703320" y="4389120"/>
            <a:ext cx="4937760" cy="228600"/>
          </a:xfrm>
          <a:prstGeom prst="rect">
            <a:avLst/>
          </a:prstGeom>
          <a:noFill/>
          <a:ln/>
        </p:spPr>
        <p:txBody>
          <a:bodyPr wrap="square" lIns="0" tIns="0" rIns="0" bIns="0" rtlCol="0" anchor="t"/>
          <a:lstStyle/>
          <a:p>
            <a:pPr indent="0" marL="0">
              <a:buNone/>
            </a:pPr>
            <a:r>
              <a:rPr lang="en-US" sz="1100" dirty="0">
                <a:solidFill>
                  <a:schemeClr val="accent5"/>
                </a:solidFill>
              </a:rPr>
              <a:t>Table: YOLOv8 vs YOLOv8n</a:t>
            </a:r>
            <a:endParaRPr lang="en-US" sz="11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Result: Real-Time Object Detection</a:t>
            </a:r>
            <a:endParaRPr lang="en-US" sz="3000" dirty="0"/>
          </a:p>
        </p:txBody>
      </p:sp>
      <p:sp>
        <p:nvSpPr>
          <p:cNvPr id="4" name="Shape 1"/>
          <p:cNvSpPr/>
          <p:nvPr/>
        </p:nvSpPr>
        <p:spPr>
          <a:xfrm>
            <a:off x="443484" y="1042416"/>
            <a:ext cx="4782312" cy="3630168"/>
          </a:xfrm>
          <a:prstGeom prst="roundRect">
            <a:avLst>
              <a:gd name="adj" fmla="val 1511"/>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pic>
        <p:nvPicPr>
          <p:cNvPr id="5" name="Image 0" descr="Detection output">    </p:cNvPr>
          <p:cNvPicPr>
            <a:picLocks noChangeAspect="1"/>
          </p:cNvPicPr>
          <p:nvPr/>
        </p:nvPicPr>
        <p:blipFill>
          <a:blip r:embed="rId1"/>
          <a:stretch>
            <a:fillRect/>
          </a:stretch>
        </p:blipFill>
        <p:spPr>
          <a:xfrm>
            <a:off x="498348" y="1097280"/>
            <a:ext cx="4672584" cy="3520440"/>
          </a:xfrm>
          <a:prstGeom prst="rect">
            <a:avLst/>
          </a:prstGeom>
        </p:spPr>
      </p:pic>
      <p:sp>
        <p:nvSpPr>
          <p:cNvPr id="6" name="card"/>
          <p:cNvSpPr/>
          <p:nvPr/>
        </p:nvSpPr>
        <p:spPr>
          <a:xfrm>
            <a:off x="5486400" y="1097280"/>
            <a:ext cx="3200400" cy="960120"/>
          </a:xfrm>
          <a:prstGeom prst="roundRect">
            <a:avLst>
              <a:gd name="adj" fmla="val 9524"/>
            </a:avLst>
          </a:prstGeom>
          <a:solidFill>
            <a:schemeClr val="accent1"/>
          </a:solidFill>
          <a:ln w="12700">
            <a:solidFill>
              <a:schemeClr val="accent1"/>
            </a:solidFill>
            <a:prstDash val="solid"/>
          </a:ln>
          <a:effectLst>
            <a:outerShdw sx="100000" sy="100000" kx="0" ky="0" algn="bl" rotWithShape="0" blurRad="101600" dist="25400" dir="5400000">
              <a:srgbClr val="000000">
                <a:alpha val="14000"/>
              </a:srgbClr>
            </a:outerShdw>
          </a:effectLst>
        </p:spPr>
      </p:sp>
      <p:sp>
        <p:nvSpPr>
          <p:cNvPr id="7" name="Text 3"/>
          <p:cNvSpPr txBox="1"/>
          <p:nvPr/>
        </p:nvSpPr>
        <p:spPr>
          <a:xfrm>
            <a:off x="5486400" y="1188720"/>
            <a:ext cx="3200400" cy="502920"/>
          </a:xfrm>
          <a:prstGeom prst="rect">
            <a:avLst/>
          </a:prstGeom>
          <a:noFill/>
          <a:ln/>
        </p:spPr>
        <p:txBody>
          <a:bodyPr wrap="square" lIns="0" tIns="0" rIns="0" bIns="0" rtlCol="0" anchor="t"/>
          <a:lstStyle/>
          <a:p>
            <a:pPr algn="ctr" indent="0" marL="0">
              <a:buNone/>
            </a:pPr>
            <a:r>
              <a:rPr lang="en-US" sz="2800" b="1" dirty="0">
                <a:solidFill>
                  <a:schemeClr val="bg1"/>
                </a:solidFill>
                <a:latin typeface="Cambria" pitchFamily="34" charset="0"/>
                <a:ea typeface="Cambria" pitchFamily="34" charset="-122"/>
                <a:cs typeface="Cambria" pitchFamily="34" charset="-120"/>
              </a:rPr>
              <a:t>8</a:t>
            </a:r>
            <a:endParaRPr lang="en-US" sz="2800" dirty="0"/>
          </a:p>
        </p:txBody>
      </p:sp>
      <p:sp>
        <p:nvSpPr>
          <p:cNvPr id="8" name="Text 4"/>
          <p:cNvSpPr txBox="1"/>
          <p:nvPr/>
        </p:nvSpPr>
        <p:spPr>
          <a:xfrm>
            <a:off x="5577840" y="1691640"/>
            <a:ext cx="3017520" cy="320040"/>
          </a:xfrm>
          <a:prstGeom prst="rect">
            <a:avLst/>
          </a:prstGeom>
          <a:noFill/>
          <a:ln/>
        </p:spPr>
        <p:txBody>
          <a:bodyPr wrap="square" lIns="0" tIns="0" rIns="0" bIns="0" rtlCol="0" anchor="t"/>
          <a:lstStyle/>
          <a:p>
            <a:pPr algn="ctr" indent="0" marL="0">
              <a:buNone/>
            </a:pPr>
            <a:r>
              <a:rPr lang="en-US" sz="1200" dirty="0">
                <a:solidFill>
                  <a:schemeClr val="bg1"/>
                </a:solidFill>
              </a:rPr>
              <a:t>object classes (cube, cylinder x 4 colours)</a:t>
            </a:r>
            <a:endParaRPr lang="en-US" sz="1200" dirty="0"/>
          </a:p>
        </p:txBody>
      </p:sp>
      <p:sp>
        <p:nvSpPr>
          <p:cNvPr id="9" name="card"/>
          <p:cNvSpPr/>
          <p:nvPr/>
        </p:nvSpPr>
        <p:spPr>
          <a:xfrm>
            <a:off x="5486400" y="2286000"/>
            <a:ext cx="3200400" cy="960120"/>
          </a:xfrm>
          <a:prstGeom prst="roundRect">
            <a:avLst>
              <a:gd name="adj" fmla="val 9524"/>
            </a:avLst>
          </a:prstGeom>
          <a:solidFill>
            <a:schemeClr val="tx1"/>
          </a:solidFill>
          <a:ln w="12700">
            <a:solidFill>
              <a:schemeClr val="tx1"/>
            </a:solidFill>
            <a:prstDash val="solid"/>
          </a:ln>
          <a:effectLst>
            <a:outerShdw sx="100000" sy="100000" kx="0" ky="0" algn="bl" rotWithShape="0" blurRad="101600" dist="25400" dir="5400000">
              <a:srgbClr val="000000">
                <a:alpha val="14000"/>
              </a:srgbClr>
            </a:outerShdw>
          </a:effectLst>
        </p:spPr>
      </p:sp>
      <p:sp>
        <p:nvSpPr>
          <p:cNvPr id="10" name="Text 6"/>
          <p:cNvSpPr txBox="1"/>
          <p:nvPr/>
        </p:nvSpPr>
        <p:spPr>
          <a:xfrm>
            <a:off x="5486400" y="2377440"/>
            <a:ext cx="3200400" cy="502920"/>
          </a:xfrm>
          <a:prstGeom prst="rect">
            <a:avLst/>
          </a:prstGeom>
          <a:noFill/>
          <a:ln/>
        </p:spPr>
        <p:txBody>
          <a:bodyPr wrap="square" lIns="0" tIns="0" rIns="0" bIns="0" rtlCol="0" anchor="t"/>
          <a:lstStyle/>
          <a:p>
            <a:pPr algn="ctr" indent="0" marL="0">
              <a:buNone/>
            </a:pPr>
            <a:r>
              <a:rPr lang="en-US" sz="2800" b="1" dirty="0">
                <a:solidFill>
                  <a:schemeClr val="bg1"/>
                </a:solidFill>
                <a:latin typeface="Cambria" pitchFamily="34" charset="0"/>
                <a:ea typeface="Cambria" pitchFamily="34" charset="-122"/>
                <a:cs typeface="Cambria" pitchFamily="34" charset="-120"/>
              </a:rPr>
              <a:t>0.98-0.99</a:t>
            </a:r>
            <a:endParaRPr lang="en-US" sz="2800" dirty="0"/>
          </a:p>
        </p:txBody>
      </p:sp>
      <p:sp>
        <p:nvSpPr>
          <p:cNvPr id="11" name="Text 7"/>
          <p:cNvSpPr txBox="1"/>
          <p:nvPr/>
        </p:nvSpPr>
        <p:spPr>
          <a:xfrm>
            <a:off x="5577840" y="2880360"/>
            <a:ext cx="3017520" cy="320040"/>
          </a:xfrm>
          <a:prstGeom prst="rect">
            <a:avLst/>
          </a:prstGeom>
          <a:noFill/>
          <a:ln/>
        </p:spPr>
        <p:txBody>
          <a:bodyPr wrap="square" lIns="0" tIns="0" rIns="0" bIns="0" rtlCol="0" anchor="t"/>
          <a:lstStyle/>
          <a:p>
            <a:pPr algn="ctr" indent="0" marL="0">
              <a:buNone/>
            </a:pPr>
            <a:r>
              <a:rPr lang="en-US" sz="1200" dirty="0">
                <a:solidFill>
                  <a:schemeClr val="bg1"/>
                </a:solidFill>
              </a:rPr>
              <a:t>confidence on detected objects</a:t>
            </a:r>
            <a:endParaRPr lang="en-US" sz="1200" dirty="0"/>
          </a:p>
        </p:txBody>
      </p:sp>
      <p:sp>
        <p:nvSpPr>
          <p:cNvPr id="12" name="card"/>
          <p:cNvSpPr/>
          <p:nvPr/>
        </p:nvSpPr>
        <p:spPr>
          <a:xfrm>
            <a:off x="5486400" y="3474720"/>
            <a:ext cx="3200400" cy="960120"/>
          </a:xfrm>
          <a:prstGeom prst="roundRect">
            <a:avLst>
              <a:gd name="adj" fmla="val 9524"/>
            </a:avLst>
          </a:prstGeom>
          <a:solidFill>
            <a:schemeClr val="accent4"/>
          </a:solidFill>
          <a:ln w="12700">
            <a:solidFill>
              <a:schemeClr val="accent4"/>
            </a:solidFill>
            <a:prstDash val="solid"/>
          </a:ln>
          <a:effectLst>
            <a:outerShdw sx="100000" sy="100000" kx="0" ky="0" algn="bl" rotWithShape="0" blurRad="101600" dist="25400" dir="5400000">
              <a:srgbClr val="000000">
                <a:alpha val="14000"/>
              </a:srgbClr>
            </a:outerShdw>
          </a:effectLst>
        </p:spPr>
      </p:sp>
      <p:sp>
        <p:nvSpPr>
          <p:cNvPr id="13" name="Text 9"/>
          <p:cNvSpPr txBox="1"/>
          <p:nvPr/>
        </p:nvSpPr>
        <p:spPr>
          <a:xfrm>
            <a:off x="5486400" y="3566160"/>
            <a:ext cx="3200400" cy="502920"/>
          </a:xfrm>
          <a:prstGeom prst="rect">
            <a:avLst/>
          </a:prstGeom>
          <a:noFill/>
          <a:ln/>
        </p:spPr>
        <p:txBody>
          <a:bodyPr wrap="square" lIns="0" tIns="0" rIns="0" bIns="0" rtlCol="0" anchor="t"/>
          <a:lstStyle/>
          <a:p>
            <a:pPr algn="ctr" indent="0" marL="0">
              <a:buNone/>
            </a:pPr>
            <a:r>
              <a:rPr lang="en-US" sz="2800" b="1" dirty="0">
                <a:solidFill>
                  <a:schemeClr val="bg1"/>
                </a:solidFill>
                <a:latin typeface="Cambria" pitchFamily="34" charset="0"/>
                <a:ea typeface="Cambria" pitchFamily="34" charset="-122"/>
                <a:cs typeface="Cambria" pitchFamily="34" charset="-120"/>
              </a:rPr>
              <a:t>Real time</a:t>
            </a:r>
            <a:endParaRPr lang="en-US" sz="2800" dirty="0"/>
          </a:p>
        </p:txBody>
      </p:sp>
      <p:sp>
        <p:nvSpPr>
          <p:cNvPr id="14" name="Text 10"/>
          <p:cNvSpPr txBox="1"/>
          <p:nvPr/>
        </p:nvSpPr>
        <p:spPr>
          <a:xfrm>
            <a:off x="5577840" y="4069080"/>
            <a:ext cx="3017520" cy="320040"/>
          </a:xfrm>
          <a:prstGeom prst="rect">
            <a:avLst/>
          </a:prstGeom>
          <a:noFill/>
          <a:ln/>
        </p:spPr>
        <p:txBody>
          <a:bodyPr wrap="square" lIns="0" tIns="0" rIns="0" bIns="0" rtlCol="0" anchor="t"/>
          <a:lstStyle/>
          <a:p>
            <a:pPr algn="ctr" indent="0" marL="0">
              <a:buNone/>
            </a:pPr>
            <a:r>
              <a:rPr lang="en-US" sz="1200" dirty="0">
                <a:solidFill>
                  <a:schemeClr val="bg1"/>
                </a:solidFill>
              </a:rPr>
              <a:t>tested live inside Isaac Sim</a:t>
            </a:r>
            <a:endParaRPr lang="en-US" sz="12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Step 5: Depth Fusion - From 2D to 3D</a:t>
            </a:r>
            <a:endParaRPr lang="en-US" sz="3000" dirty="0"/>
          </a:p>
        </p:txBody>
      </p:sp>
      <p:sp>
        <p:nvSpPr>
          <p:cNvPr id="4" name="card"/>
          <p:cNvSpPr/>
          <p:nvPr/>
        </p:nvSpPr>
        <p:spPr>
          <a:xfrm>
            <a:off x="457200" y="1097280"/>
            <a:ext cx="4572000" cy="1737360"/>
          </a:xfrm>
          <a:prstGeom prst="roundRect">
            <a:avLst>
              <a:gd name="adj" fmla="val 5263"/>
            </a:avLst>
          </a:prstGeom>
          <a:solidFill>
            <a:schemeClr val="tx1"/>
          </a:solidFill>
          <a:ln w="12700">
            <a:solidFill>
              <a:schemeClr val="tx1"/>
            </a:solidFill>
            <a:prstDash val="solid"/>
          </a:ln>
          <a:effectLst>
            <a:outerShdw sx="100000" sy="100000" kx="0" ky="0" algn="bl" rotWithShape="0" blurRad="101600" dist="25400" dir="5400000">
              <a:srgbClr val="000000">
                <a:alpha val="14000"/>
              </a:srgbClr>
            </a:outerShdw>
          </a:effectLst>
        </p:spPr>
      </p:sp>
      <p:sp>
        <p:nvSpPr>
          <p:cNvPr id="5" name="Text 2"/>
          <p:cNvSpPr txBox="1"/>
          <p:nvPr/>
        </p:nvSpPr>
        <p:spPr>
          <a:xfrm>
            <a:off x="685800" y="1188720"/>
            <a:ext cx="4114800" cy="274320"/>
          </a:xfrm>
          <a:prstGeom prst="rect">
            <a:avLst/>
          </a:prstGeom>
          <a:noFill/>
          <a:ln/>
        </p:spPr>
        <p:txBody>
          <a:bodyPr wrap="square" lIns="0" tIns="0" rIns="0" bIns="0" rtlCol="0" anchor="t"/>
          <a:lstStyle/>
          <a:p>
            <a:pPr indent="0" marL="0">
              <a:buNone/>
            </a:pPr>
            <a:r>
              <a:rPr lang="en-US" sz="1300" b="1" dirty="0">
                <a:solidFill>
                  <a:schemeClr val="accent2"/>
                </a:solidFill>
              </a:rPr>
              <a:t>Pinhole camera model</a:t>
            </a:r>
            <a:endParaRPr lang="en-US" sz="1300" dirty="0"/>
          </a:p>
        </p:txBody>
      </p:sp>
      <p:sp>
        <p:nvSpPr>
          <p:cNvPr id="6" name="Text 3"/>
          <p:cNvSpPr txBox="1"/>
          <p:nvPr/>
        </p:nvSpPr>
        <p:spPr>
          <a:xfrm>
            <a:off x="685800" y="1554480"/>
            <a:ext cx="4114800" cy="45720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X = (u - cx) x Z / fx</a:t>
            </a:r>
            <a:endParaRPr lang="en-US" sz="2200" dirty="0"/>
          </a:p>
        </p:txBody>
      </p:sp>
      <p:sp>
        <p:nvSpPr>
          <p:cNvPr id="7" name="Text 4"/>
          <p:cNvSpPr txBox="1"/>
          <p:nvPr/>
        </p:nvSpPr>
        <p:spPr>
          <a:xfrm>
            <a:off x="685800" y="2057400"/>
            <a:ext cx="4114800" cy="45720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Y = (v - cy) x Z / fy</a:t>
            </a:r>
            <a:endParaRPr lang="en-US" sz="2200" dirty="0"/>
          </a:p>
        </p:txBody>
      </p:sp>
      <p:sp>
        <p:nvSpPr>
          <p:cNvPr id="8" name="Text 5"/>
          <p:cNvSpPr txBox="1"/>
          <p:nvPr/>
        </p:nvSpPr>
        <p:spPr>
          <a:xfrm>
            <a:off x="685800" y="2542032"/>
            <a:ext cx="4114800" cy="274320"/>
          </a:xfrm>
          <a:prstGeom prst="rect">
            <a:avLst/>
          </a:prstGeom>
          <a:noFill/>
          <a:ln/>
        </p:spPr>
        <p:txBody>
          <a:bodyPr wrap="square" lIns="0" tIns="0" rIns="0" bIns="0" rtlCol="0" anchor="t"/>
          <a:lstStyle/>
          <a:p>
            <a:pPr indent="0" marL="0">
              <a:buNone/>
            </a:pPr>
            <a:r>
              <a:rPr lang="en-US" sz="1200" dirty="0">
                <a:solidFill>
                  <a:schemeClr val="accent6"/>
                </a:solidFill>
              </a:rPr>
              <a:t>(u, v): box-centre pixel   Z: depth   f: focal length</a:t>
            </a:r>
            <a:endParaRPr lang="en-US" sz="1200" dirty="0"/>
          </a:p>
        </p:txBody>
      </p:sp>
      <p:sp>
        <p:nvSpPr>
          <p:cNvPr id="9" name="card"/>
          <p:cNvSpPr/>
          <p:nvPr/>
        </p:nvSpPr>
        <p:spPr>
          <a:xfrm>
            <a:off x="457200" y="3017520"/>
            <a:ext cx="4572000" cy="160020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0" name="Text 7"/>
          <p:cNvSpPr txBox="1"/>
          <p:nvPr/>
        </p:nvSpPr>
        <p:spPr>
          <a:xfrm>
            <a:off x="685800" y="3108960"/>
            <a:ext cx="4114800" cy="274320"/>
          </a:xfrm>
          <a:prstGeom prst="rect">
            <a:avLst/>
          </a:prstGeom>
          <a:noFill/>
          <a:ln/>
        </p:spPr>
        <p:txBody>
          <a:bodyPr wrap="square" lIns="0" tIns="0" rIns="0" bIns="0" rtlCol="0" anchor="t"/>
          <a:lstStyle/>
          <a:p>
            <a:pPr indent="0" marL="0">
              <a:buNone/>
            </a:pPr>
            <a:r>
              <a:rPr lang="en-US" sz="1300" b="1" dirty="0">
                <a:solidFill>
                  <a:schemeClr val="accent1"/>
                </a:solidFill>
              </a:rPr>
              <a:t>Pipeline</a:t>
            </a:r>
            <a:endParaRPr lang="en-US" sz="1300" dirty="0"/>
          </a:p>
        </p:txBody>
      </p:sp>
      <p:sp>
        <p:nvSpPr>
          <p:cNvPr id="11" name="card"/>
          <p:cNvSpPr/>
          <p:nvPr/>
        </p:nvSpPr>
        <p:spPr>
          <a:xfrm>
            <a:off x="685800" y="3474720"/>
            <a:ext cx="1325880" cy="822960"/>
          </a:xfrm>
          <a:prstGeom prst="roundRect">
            <a:avLst>
              <a:gd name="adj" fmla="val 11111"/>
            </a:avLst>
          </a:prstGeom>
          <a:solidFill>
            <a:schemeClr val="accent1"/>
          </a:solidFill>
          <a:ln w="12700">
            <a:solidFill>
              <a:schemeClr val="accent1"/>
            </a:solidFill>
            <a:prstDash val="solid"/>
          </a:ln>
          <a:effectLst>
            <a:outerShdw sx="100000" sy="100000" kx="0" ky="0" algn="bl" rotWithShape="0" blurRad="101600" dist="25400" dir="5400000">
              <a:srgbClr val="000000">
                <a:alpha val="14000"/>
              </a:srgbClr>
            </a:outerShdw>
          </a:effectLst>
        </p:spPr>
      </p:sp>
      <p:sp>
        <p:nvSpPr>
          <p:cNvPr id="12" name="Text 9"/>
          <p:cNvSpPr txBox="1"/>
          <p:nvPr/>
        </p:nvSpPr>
        <p:spPr>
          <a:xfrm>
            <a:off x="685800" y="3474720"/>
            <a:ext cx="1325880" cy="822960"/>
          </a:xfrm>
          <a:prstGeom prst="rect">
            <a:avLst/>
          </a:prstGeom>
          <a:noFill/>
          <a:ln/>
        </p:spPr>
        <p:txBody>
          <a:bodyPr wrap="square" lIns="0" tIns="0" rIns="0" bIns="0" rtlCol="0" anchor="ctr"/>
          <a:lstStyle/>
          <a:p>
            <a:pPr algn="ctr" indent="0" marL="0">
              <a:buNone/>
            </a:pPr>
            <a:r>
              <a:rPr lang="en-US" sz="1400" b="1" dirty="0">
                <a:solidFill>
                  <a:schemeClr val="bg1"/>
                </a:solidFill>
              </a:rPr>
              <a:t>Box centre (u, v)</a:t>
            </a:r>
            <a:endParaRPr lang="en-US" sz="1400" dirty="0"/>
          </a:p>
        </p:txBody>
      </p:sp>
      <p:sp>
        <p:nvSpPr>
          <p:cNvPr id="13" name="card"/>
          <p:cNvSpPr/>
          <p:nvPr/>
        </p:nvSpPr>
        <p:spPr>
          <a:xfrm>
            <a:off x="2148840" y="3474720"/>
            <a:ext cx="1325880" cy="822960"/>
          </a:xfrm>
          <a:prstGeom prst="roundRect">
            <a:avLst>
              <a:gd name="adj" fmla="val 11111"/>
            </a:avLst>
          </a:prstGeom>
          <a:solidFill>
            <a:schemeClr val="accent2"/>
          </a:solidFill>
          <a:ln w="12700">
            <a:solidFill>
              <a:schemeClr val="accent2"/>
            </a:solidFill>
            <a:prstDash val="solid"/>
          </a:ln>
          <a:effectLst>
            <a:outerShdw sx="100000" sy="100000" kx="0" ky="0" algn="bl" rotWithShape="0" blurRad="101600" dist="25400" dir="5400000">
              <a:srgbClr val="000000">
                <a:alpha val="14000"/>
              </a:srgbClr>
            </a:outerShdw>
          </a:effectLst>
        </p:spPr>
      </p:sp>
      <p:sp>
        <p:nvSpPr>
          <p:cNvPr id="14" name="Text 11"/>
          <p:cNvSpPr txBox="1"/>
          <p:nvPr/>
        </p:nvSpPr>
        <p:spPr>
          <a:xfrm>
            <a:off x="2148840" y="3474720"/>
            <a:ext cx="1325880" cy="822960"/>
          </a:xfrm>
          <a:prstGeom prst="rect">
            <a:avLst/>
          </a:prstGeom>
          <a:noFill/>
          <a:ln/>
        </p:spPr>
        <p:txBody>
          <a:bodyPr wrap="square" lIns="0" tIns="0" rIns="0" bIns="0" rtlCol="0" anchor="ctr"/>
          <a:lstStyle/>
          <a:p>
            <a:pPr algn="ctr" indent="0" marL="0">
              <a:buNone/>
            </a:pPr>
            <a:r>
              <a:rPr lang="en-US" sz="1400" b="1" dirty="0">
                <a:solidFill>
                  <a:schemeClr val="tx1"/>
                </a:solidFill>
              </a:rPr>
              <a:t>+ Depth Z</a:t>
            </a:r>
            <a:endParaRPr lang="en-US" sz="1400" dirty="0"/>
          </a:p>
        </p:txBody>
      </p:sp>
      <p:sp>
        <p:nvSpPr>
          <p:cNvPr id="15" name="card"/>
          <p:cNvSpPr/>
          <p:nvPr/>
        </p:nvSpPr>
        <p:spPr>
          <a:xfrm>
            <a:off x="3611880" y="3474720"/>
            <a:ext cx="1325880" cy="822960"/>
          </a:xfrm>
          <a:prstGeom prst="roundRect">
            <a:avLst>
              <a:gd name="adj" fmla="val 11111"/>
            </a:avLst>
          </a:prstGeom>
          <a:solidFill>
            <a:schemeClr val="accent4"/>
          </a:solidFill>
          <a:ln w="12700">
            <a:solidFill>
              <a:schemeClr val="accent4"/>
            </a:solidFill>
            <a:prstDash val="solid"/>
          </a:ln>
          <a:effectLst>
            <a:outerShdw sx="100000" sy="100000" kx="0" ky="0" algn="bl" rotWithShape="0" blurRad="101600" dist="25400" dir="5400000">
              <a:srgbClr val="000000">
                <a:alpha val="14000"/>
              </a:srgbClr>
            </a:outerShdw>
          </a:effectLst>
        </p:spPr>
      </p:sp>
      <p:sp>
        <p:nvSpPr>
          <p:cNvPr id="16" name="Text 13"/>
          <p:cNvSpPr txBox="1"/>
          <p:nvPr/>
        </p:nvSpPr>
        <p:spPr>
          <a:xfrm>
            <a:off x="3611880" y="3474720"/>
            <a:ext cx="1325880" cy="822960"/>
          </a:xfrm>
          <a:prstGeom prst="rect">
            <a:avLst/>
          </a:prstGeom>
          <a:noFill/>
          <a:ln/>
        </p:spPr>
        <p:txBody>
          <a:bodyPr wrap="square" lIns="0" tIns="0" rIns="0" bIns="0" rtlCol="0" anchor="ctr"/>
          <a:lstStyle/>
          <a:p>
            <a:pPr algn="ctr" indent="0" marL="0">
              <a:buNone/>
            </a:pPr>
            <a:r>
              <a:rPr lang="en-US" sz="1400" b="1" dirty="0">
                <a:solidFill>
                  <a:schemeClr val="bg1"/>
                </a:solidFill>
              </a:rPr>
              <a:t>= (X, Y, Z)</a:t>
            </a:r>
            <a:endParaRPr lang="en-US" sz="1400" dirty="0"/>
          </a:p>
        </p:txBody>
      </p:sp>
      <p:sp>
        <p:nvSpPr>
          <p:cNvPr id="17" name="Text 14"/>
          <p:cNvSpPr txBox="1"/>
          <p:nvPr/>
        </p:nvSpPr>
        <p:spPr>
          <a:xfrm>
            <a:off x="5394960" y="1097280"/>
            <a:ext cx="3291840" cy="274320"/>
          </a:xfrm>
          <a:prstGeom prst="rect">
            <a:avLst/>
          </a:prstGeom>
          <a:noFill/>
          <a:ln/>
        </p:spPr>
        <p:txBody>
          <a:bodyPr wrap="square" lIns="0" tIns="0" rIns="0" bIns="0" rtlCol="0" anchor="t"/>
          <a:lstStyle/>
          <a:p>
            <a:pPr indent="0" marL="0">
              <a:buNone/>
            </a:pPr>
            <a:r>
              <a:rPr lang="en-US" sz="1400" b="1" dirty="0">
                <a:solidFill>
                  <a:schemeClr val="tx1"/>
                </a:solidFill>
              </a:rPr>
              <a:t>Worked example</a:t>
            </a:r>
            <a:endParaRPr lang="en-US" sz="1400" dirty="0"/>
          </a:p>
        </p:txBody>
      </p:sp>
      <p:sp>
        <p:nvSpPr>
          <p:cNvPr id="18" name="card"/>
          <p:cNvSpPr/>
          <p:nvPr/>
        </p:nvSpPr>
        <p:spPr>
          <a:xfrm>
            <a:off x="5394960" y="1463040"/>
            <a:ext cx="3291840" cy="960120"/>
          </a:xfrm>
          <a:prstGeom prst="roundRect">
            <a:avLst>
              <a:gd name="adj" fmla="val 9524"/>
            </a:avLst>
          </a:prstGeom>
          <a:solidFill>
            <a:schemeClr val="accent1"/>
          </a:solidFill>
          <a:ln w="12700">
            <a:solidFill>
              <a:schemeClr val="accent1"/>
            </a:solidFill>
            <a:prstDash val="solid"/>
          </a:ln>
          <a:effectLst>
            <a:outerShdw sx="100000" sy="100000" kx="0" ky="0" algn="bl" rotWithShape="0" blurRad="101600" dist="25400" dir="5400000">
              <a:srgbClr val="000000">
                <a:alpha val="14000"/>
              </a:srgbClr>
            </a:outerShdw>
          </a:effectLst>
        </p:spPr>
      </p:sp>
      <p:sp>
        <p:nvSpPr>
          <p:cNvPr id="19" name="Text 16"/>
          <p:cNvSpPr txBox="1"/>
          <p:nvPr/>
        </p:nvSpPr>
        <p:spPr>
          <a:xfrm>
            <a:off x="5394960" y="1554480"/>
            <a:ext cx="3291840" cy="502920"/>
          </a:xfrm>
          <a:prstGeom prst="rect">
            <a:avLst/>
          </a:prstGeom>
          <a:noFill/>
          <a:ln/>
        </p:spPr>
        <p:txBody>
          <a:bodyPr wrap="square" lIns="0" tIns="0" rIns="0" bIns="0" rtlCol="0" anchor="t"/>
          <a:lstStyle/>
          <a:p>
            <a:pPr algn="ctr" indent="0" marL="0">
              <a:buNone/>
            </a:pPr>
            <a:r>
              <a:rPr lang="en-US" sz="2800" b="1" dirty="0">
                <a:solidFill>
                  <a:schemeClr val="bg1"/>
                </a:solidFill>
                <a:latin typeface="Cambria" pitchFamily="34" charset="0"/>
                <a:ea typeface="Cambria" pitchFamily="34" charset="-122"/>
                <a:cs typeface="Cambria" pitchFamily="34" charset="-120"/>
              </a:rPr>
              <a:t>X = -0.178 m</a:t>
            </a:r>
            <a:endParaRPr lang="en-US" sz="2800" dirty="0"/>
          </a:p>
        </p:txBody>
      </p:sp>
      <p:sp>
        <p:nvSpPr>
          <p:cNvPr id="20" name="Text 17"/>
          <p:cNvSpPr txBox="1"/>
          <p:nvPr/>
        </p:nvSpPr>
        <p:spPr>
          <a:xfrm>
            <a:off x="5486400" y="2057400"/>
            <a:ext cx="3108960" cy="320040"/>
          </a:xfrm>
          <a:prstGeom prst="rect">
            <a:avLst/>
          </a:prstGeom>
          <a:noFill/>
          <a:ln/>
        </p:spPr>
        <p:txBody>
          <a:bodyPr wrap="square" lIns="0" tIns="0" rIns="0" bIns="0" rtlCol="0" anchor="t"/>
          <a:lstStyle/>
          <a:p>
            <a:pPr algn="ctr" indent="0" marL="0">
              <a:buNone/>
            </a:pPr>
            <a:r>
              <a:rPr lang="en-US" sz="1200" dirty="0">
                <a:solidFill>
                  <a:schemeClr val="bg1"/>
                </a:solidFill>
              </a:rPr>
              <a:t>pixel u = 148</a:t>
            </a:r>
            <a:endParaRPr lang="en-US" sz="1200" dirty="0"/>
          </a:p>
        </p:txBody>
      </p:sp>
      <p:sp>
        <p:nvSpPr>
          <p:cNvPr id="21" name="card"/>
          <p:cNvSpPr/>
          <p:nvPr/>
        </p:nvSpPr>
        <p:spPr>
          <a:xfrm>
            <a:off x="5394960" y="2560320"/>
            <a:ext cx="3291840" cy="960120"/>
          </a:xfrm>
          <a:prstGeom prst="roundRect">
            <a:avLst>
              <a:gd name="adj" fmla="val 9524"/>
            </a:avLst>
          </a:prstGeom>
          <a:solidFill>
            <a:schemeClr val="accent2"/>
          </a:solidFill>
          <a:ln w="12700">
            <a:solidFill>
              <a:schemeClr val="accent2"/>
            </a:solidFill>
            <a:prstDash val="solid"/>
          </a:ln>
          <a:effectLst>
            <a:outerShdw sx="100000" sy="100000" kx="0" ky="0" algn="bl" rotWithShape="0" blurRad="101600" dist="25400" dir="5400000">
              <a:srgbClr val="000000">
                <a:alpha val="14000"/>
              </a:srgbClr>
            </a:outerShdw>
          </a:effectLst>
        </p:spPr>
      </p:sp>
      <p:sp>
        <p:nvSpPr>
          <p:cNvPr id="22" name="Text 19"/>
          <p:cNvSpPr txBox="1"/>
          <p:nvPr/>
        </p:nvSpPr>
        <p:spPr>
          <a:xfrm>
            <a:off x="5394960" y="2651760"/>
            <a:ext cx="3291840" cy="502920"/>
          </a:xfrm>
          <a:prstGeom prst="rect">
            <a:avLst/>
          </a:prstGeom>
          <a:noFill/>
          <a:ln/>
        </p:spPr>
        <p:txBody>
          <a:bodyPr wrap="square" lIns="0" tIns="0" rIns="0" bIns="0" rtlCol="0" anchor="t"/>
          <a:lstStyle/>
          <a:p>
            <a:pPr algn="ctr" indent="0" marL="0">
              <a:buNone/>
            </a:pPr>
            <a:r>
              <a:rPr lang="en-US" sz="2800" b="1" dirty="0">
                <a:solidFill>
                  <a:schemeClr val="tx1"/>
                </a:solidFill>
                <a:latin typeface="Cambria" pitchFamily="34" charset="0"/>
                <a:ea typeface="Cambria" pitchFamily="34" charset="-122"/>
                <a:cs typeface="Cambria" pitchFamily="34" charset="-120"/>
              </a:rPr>
              <a:t>Y = -0.141 m</a:t>
            </a:r>
            <a:endParaRPr lang="en-US" sz="2800" dirty="0"/>
          </a:p>
        </p:txBody>
      </p:sp>
      <p:sp>
        <p:nvSpPr>
          <p:cNvPr id="23" name="Text 20"/>
          <p:cNvSpPr txBox="1"/>
          <p:nvPr/>
        </p:nvSpPr>
        <p:spPr>
          <a:xfrm>
            <a:off x="5486400" y="3154680"/>
            <a:ext cx="3108960" cy="320040"/>
          </a:xfrm>
          <a:prstGeom prst="rect">
            <a:avLst/>
          </a:prstGeom>
          <a:noFill/>
          <a:ln/>
        </p:spPr>
        <p:txBody>
          <a:bodyPr wrap="square" lIns="0" tIns="0" rIns="0" bIns="0" rtlCol="0" anchor="t"/>
          <a:lstStyle/>
          <a:p>
            <a:pPr algn="ctr" indent="0" marL="0">
              <a:buNone/>
            </a:pPr>
            <a:r>
              <a:rPr lang="en-US" sz="1200" dirty="0">
                <a:solidFill>
                  <a:schemeClr val="tx1"/>
                </a:solidFill>
              </a:rPr>
              <a:t>pixel v = 247</a:t>
            </a:r>
            <a:endParaRPr lang="en-US" sz="1200" dirty="0"/>
          </a:p>
        </p:txBody>
      </p:sp>
      <p:sp>
        <p:nvSpPr>
          <p:cNvPr id="24" name="card"/>
          <p:cNvSpPr/>
          <p:nvPr/>
        </p:nvSpPr>
        <p:spPr>
          <a:xfrm>
            <a:off x="5394960" y="3657600"/>
            <a:ext cx="3291840" cy="960120"/>
          </a:xfrm>
          <a:prstGeom prst="roundRect">
            <a:avLst>
              <a:gd name="adj" fmla="val 9524"/>
            </a:avLst>
          </a:prstGeom>
          <a:solidFill>
            <a:schemeClr val="tx1"/>
          </a:solidFill>
          <a:ln w="12700">
            <a:solidFill>
              <a:schemeClr val="tx1"/>
            </a:solidFill>
            <a:prstDash val="solid"/>
          </a:ln>
          <a:effectLst>
            <a:outerShdw sx="100000" sy="100000" kx="0" ky="0" algn="bl" rotWithShape="0" blurRad="101600" dist="25400" dir="5400000">
              <a:srgbClr val="000000">
                <a:alpha val="14000"/>
              </a:srgbClr>
            </a:outerShdw>
          </a:effectLst>
        </p:spPr>
      </p:sp>
      <p:sp>
        <p:nvSpPr>
          <p:cNvPr id="25" name="Text 22"/>
          <p:cNvSpPr txBox="1"/>
          <p:nvPr/>
        </p:nvSpPr>
        <p:spPr>
          <a:xfrm>
            <a:off x="5394960" y="3749040"/>
            <a:ext cx="3291840" cy="502920"/>
          </a:xfrm>
          <a:prstGeom prst="rect">
            <a:avLst/>
          </a:prstGeom>
          <a:noFill/>
          <a:ln/>
        </p:spPr>
        <p:txBody>
          <a:bodyPr wrap="square" lIns="0" tIns="0" rIns="0" bIns="0" rtlCol="0" anchor="t"/>
          <a:lstStyle/>
          <a:p>
            <a:pPr algn="ctr" indent="0" marL="0">
              <a:buNone/>
            </a:pPr>
            <a:r>
              <a:rPr lang="en-US" sz="2800" b="1" dirty="0">
                <a:solidFill>
                  <a:schemeClr val="bg1"/>
                </a:solidFill>
                <a:latin typeface="Cambria" pitchFamily="34" charset="0"/>
                <a:ea typeface="Cambria" pitchFamily="34" charset="-122"/>
                <a:cs typeface="Cambria" pitchFamily="34" charset="-120"/>
              </a:rPr>
              <a:t>Z = 1.159 m</a:t>
            </a:r>
            <a:endParaRPr lang="en-US" sz="2800" dirty="0"/>
          </a:p>
        </p:txBody>
      </p:sp>
      <p:sp>
        <p:nvSpPr>
          <p:cNvPr id="26" name="Text 23"/>
          <p:cNvSpPr txBox="1"/>
          <p:nvPr/>
        </p:nvSpPr>
        <p:spPr>
          <a:xfrm>
            <a:off x="5486400" y="4251960"/>
            <a:ext cx="3108960" cy="320040"/>
          </a:xfrm>
          <a:prstGeom prst="rect">
            <a:avLst/>
          </a:prstGeom>
          <a:noFill/>
          <a:ln/>
        </p:spPr>
        <p:txBody>
          <a:bodyPr wrap="square" lIns="0" tIns="0" rIns="0" bIns="0" rtlCol="0" anchor="t"/>
          <a:lstStyle/>
          <a:p>
            <a:pPr algn="ctr" indent="0" marL="0">
              <a:buNone/>
            </a:pPr>
            <a:r>
              <a:rPr lang="en-US" sz="1200" dirty="0">
                <a:solidFill>
                  <a:schemeClr val="bg1"/>
                </a:solidFill>
              </a:rPr>
              <a:t>depth at that pixel</a:t>
            </a:r>
            <a:endParaRPr lang="en-US" sz="12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Step 6: Coordinate Transformation with TF</a:t>
            </a:r>
            <a:endParaRPr lang="en-US" sz="3000" dirty="0"/>
          </a:p>
        </p:txBody>
      </p:sp>
      <p:sp>
        <p:nvSpPr>
          <p:cNvPr id="4" name="Shape 1"/>
          <p:cNvSpPr/>
          <p:nvPr/>
        </p:nvSpPr>
        <p:spPr>
          <a:xfrm>
            <a:off x="493776" y="998108"/>
            <a:ext cx="2670048" cy="3718783"/>
          </a:xfrm>
          <a:prstGeom prst="roundRect">
            <a:avLst>
              <a:gd name="adj" fmla="val 2055"/>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pic>
        <p:nvPicPr>
          <p:cNvPr id="5" name="Image 0" descr="TF node">    </p:cNvPr>
          <p:cNvPicPr>
            <a:picLocks noChangeAspect="1"/>
          </p:cNvPicPr>
          <p:nvPr/>
        </p:nvPicPr>
        <p:blipFill>
          <a:blip r:embed="rId1"/>
          <a:stretch>
            <a:fillRect/>
          </a:stretch>
        </p:blipFill>
        <p:spPr>
          <a:xfrm>
            <a:off x="548640" y="1052972"/>
            <a:ext cx="2560320" cy="3609055"/>
          </a:xfrm>
          <a:prstGeom prst="rect">
            <a:avLst/>
          </a:prstGeom>
        </p:spPr>
      </p:pic>
      <p:sp>
        <p:nvSpPr>
          <p:cNvPr id="6" name="card"/>
          <p:cNvSpPr/>
          <p:nvPr/>
        </p:nvSpPr>
        <p:spPr>
          <a:xfrm>
            <a:off x="3474720" y="1097280"/>
            <a:ext cx="521208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7" name="Shape 3"/>
          <p:cNvSpPr/>
          <p:nvPr/>
        </p:nvSpPr>
        <p:spPr>
          <a:xfrm>
            <a:off x="3611880" y="1234440"/>
            <a:ext cx="502920" cy="502920"/>
          </a:xfrm>
          <a:prstGeom prst="ellipse">
            <a:avLst/>
          </a:prstGeom>
          <a:solidFill>
            <a:schemeClr val="accent1"/>
          </a:solidFill>
          <a:ln w="12700">
            <a:solidFill>
              <a:schemeClr val="accent1"/>
            </a:solidFill>
            <a:prstDash val="solid"/>
          </a:ln>
        </p:spPr>
      </p:sp>
      <p:pic>
        <p:nvPicPr>
          <p:cNvPr id="8" name="Image 1" descr="FaProjectDiagram">    </p:cNvPr>
          <p:cNvPicPr>
            <a:picLocks noChangeAspect="1"/>
          </p:cNvPicPr>
          <p:nvPr/>
        </p:nvPicPr>
        <p:blipFill>
          <a:blip r:embed="rId2"/>
          <a:stretch>
            <a:fillRect/>
          </a:stretch>
        </p:blipFill>
        <p:spPr>
          <a:xfrm>
            <a:off x="3737610" y="1360170"/>
            <a:ext cx="251460" cy="251460"/>
          </a:xfrm>
          <a:prstGeom prst="rect">
            <a:avLst/>
          </a:prstGeom>
        </p:spPr>
      </p:pic>
      <p:sp>
        <p:nvSpPr>
          <p:cNvPr id="9" name="Text 4"/>
          <p:cNvSpPr txBox="1"/>
          <p:nvPr/>
        </p:nvSpPr>
        <p:spPr>
          <a:xfrm>
            <a:off x="4297680" y="1188720"/>
            <a:ext cx="4297680" cy="274320"/>
          </a:xfrm>
          <a:prstGeom prst="rect">
            <a:avLst/>
          </a:prstGeom>
          <a:noFill/>
          <a:ln/>
        </p:spPr>
        <p:txBody>
          <a:bodyPr wrap="square" lIns="0" tIns="0" rIns="0" bIns="0" rtlCol="0" anchor="t"/>
          <a:lstStyle/>
          <a:p>
            <a:pPr indent="0" marL="0">
              <a:buNone/>
            </a:pPr>
            <a:r>
              <a:rPr lang="en-US" sz="1500" b="1" dirty="0">
                <a:solidFill>
                  <a:schemeClr val="tx1"/>
                </a:solidFill>
              </a:rPr>
              <a:t>Why it is needed</a:t>
            </a:r>
            <a:endParaRPr lang="en-US" sz="1500" dirty="0"/>
          </a:p>
        </p:txBody>
      </p:sp>
      <p:sp>
        <p:nvSpPr>
          <p:cNvPr id="10" name="Text 5"/>
          <p:cNvSpPr txBox="1"/>
          <p:nvPr/>
        </p:nvSpPr>
        <p:spPr>
          <a:xfrm>
            <a:off x="4297680" y="1508760"/>
            <a:ext cx="4297680" cy="320040"/>
          </a:xfrm>
          <a:prstGeom prst="rect">
            <a:avLst/>
          </a:prstGeom>
          <a:noFill/>
          <a:ln/>
        </p:spPr>
        <p:txBody>
          <a:bodyPr wrap="square" lIns="0" tIns="0" rIns="0" bIns="0" rtlCol="0" anchor="t"/>
          <a:lstStyle/>
          <a:p>
            <a:pPr indent="0" marL="0">
              <a:buNone/>
            </a:pPr>
            <a:r>
              <a:rPr lang="en-US" sz="1300" dirty="0">
                <a:solidFill>
                  <a:schemeClr val="tx2"/>
                </a:solidFill>
              </a:rPr>
              <a:t>Camera frame is not the robot frame</a:t>
            </a:r>
            <a:endParaRPr lang="en-US" sz="1300" dirty="0"/>
          </a:p>
        </p:txBody>
      </p:sp>
      <p:sp>
        <p:nvSpPr>
          <p:cNvPr id="11" name="card"/>
          <p:cNvSpPr/>
          <p:nvPr/>
        </p:nvSpPr>
        <p:spPr>
          <a:xfrm>
            <a:off x="3474720" y="1993392"/>
            <a:ext cx="521208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2" name="Shape 7"/>
          <p:cNvSpPr/>
          <p:nvPr/>
        </p:nvSpPr>
        <p:spPr>
          <a:xfrm>
            <a:off x="3611880" y="2130552"/>
            <a:ext cx="502920" cy="502920"/>
          </a:xfrm>
          <a:prstGeom prst="ellipse">
            <a:avLst/>
          </a:prstGeom>
          <a:solidFill>
            <a:schemeClr val="accent2"/>
          </a:solidFill>
          <a:ln w="12700">
            <a:solidFill>
              <a:schemeClr val="accent2"/>
            </a:solidFill>
            <a:prstDash val="solid"/>
          </a:ln>
        </p:spPr>
      </p:sp>
      <p:pic>
        <p:nvPicPr>
          <p:cNvPr id="13" name="Image 2" descr="FaSync">    </p:cNvPr>
          <p:cNvPicPr>
            <a:picLocks noChangeAspect="1"/>
          </p:cNvPicPr>
          <p:nvPr/>
        </p:nvPicPr>
        <p:blipFill>
          <a:blip r:embed="rId3"/>
          <a:stretch>
            <a:fillRect/>
          </a:stretch>
        </p:blipFill>
        <p:spPr>
          <a:xfrm>
            <a:off x="3737610" y="2256282"/>
            <a:ext cx="251460" cy="251460"/>
          </a:xfrm>
          <a:prstGeom prst="rect">
            <a:avLst/>
          </a:prstGeom>
        </p:spPr>
      </p:pic>
      <p:sp>
        <p:nvSpPr>
          <p:cNvPr id="14" name="Text 8"/>
          <p:cNvSpPr txBox="1"/>
          <p:nvPr/>
        </p:nvSpPr>
        <p:spPr>
          <a:xfrm>
            <a:off x="4297680" y="2084832"/>
            <a:ext cx="4297680" cy="274320"/>
          </a:xfrm>
          <a:prstGeom prst="rect">
            <a:avLst/>
          </a:prstGeom>
          <a:noFill/>
          <a:ln/>
        </p:spPr>
        <p:txBody>
          <a:bodyPr wrap="square" lIns="0" tIns="0" rIns="0" bIns="0" rtlCol="0" anchor="t"/>
          <a:lstStyle/>
          <a:p>
            <a:pPr indent="0" marL="0">
              <a:buNone/>
            </a:pPr>
            <a:r>
              <a:rPr lang="en-US" sz="1500" b="1" dirty="0">
                <a:solidFill>
                  <a:schemeClr val="tx1"/>
                </a:solidFill>
              </a:rPr>
              <a:t>What TF stores</a:t>
            </a:r>
            <a:endParaRPr lang="en-US" sz="1500" dirty="0"/>
          </a:p>
        </p:txBody>
      </p:sp>
      <p:sp>
        <p:nvSpPr>
          <p:cNvPr id="15" name="Text 9"/>
          <p:cNvSpPr txBox="1"/>
          <p:nvPr/>
        </p:nvSpPr>
        <p:spPr>
          <a:xfrm>
            <a:off x="4297680" y="2404872"/>
            <a:ext cx="4297680" cy="320040"/>
          </a:xfrm>
          <a:prstGeom prst="rect">
            <a:avLst/>
          </a:prstGeom>
          <a:noFill/>
          <a:ln/>
        </p:spPr>
        <p:txBody>
          <a:bodyPr wrap="square" lIns="0" tIns="0" rIns="0" bIns="0" rtlCol="0" anchor="t"/>
          <a:lstStyle/>
          <a:p>
            <a:pPr indent="0" marL="0">
              <a:buNone/>
            </a:pPr>
            <a:r>
              <a:rPr lang="en-US" sz="1300" dirty="0">
                <a:solidFill>
                  <a:schemeClr val="tx2"/>
                </a:solidFill>
              </a:rPr>
              <a:t>Rotation and translation between frames</a:t>
            </a:r>
            <a:endParaRPr lang="en-US" sz="1300" dirty="0"/>
          </a:p>
        </p:txBody>
      </p:sp>
      <p:sp>
        <p:nvSpPr>
          <p:cNvPr id="16" name="card"/>
          <p:cNvSpPr/>
          <p:nvPr/>
        </p:nvSpPr>
        <p:spPr>
          <a:xfrm>
            <a:off x="3474720" y="2889504"/>
            <a:ext cx="521208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7" name="Shape 11"/>
          <p:cNvSpPr/>
          <p:nvPr/>
        </p:nvSpPr>
        <p:spPr>
          <a:xfrm>
            <a:off x="3611880" y="3026664"/>
            <a:ext cx="502920" cy="502920"/>
          </a:xfrm>
          <a:prstGeom prst="ellipse">
            <a:avLst/>
          </a:prstGeom>
          <a:solidFill>
            <a:schemeClr val="accent3"/>
          </a:solidFill>
          <a:ln w="12700">
            <a:solidFill>
              <a:schemeClr val="accent3"/>
            </a:solidFill>
            <a:prstDash val="solid"/>
          </a:ln>
        </p:spPr>
      </p:sp>
      <p:pic>
        <p:nvPicPr>
          <p:cNvPr id="18" name="Image 3" descr="FaCheckCircle">    </p:cNvPr>
          <p:cNvPicPr>
            <a:picLocks noChangeAspect="1"/>
          </p:cNvPicPr>
          <p:nvPr/>
        </p:nvPicPr>
        <p:blipFill>
          <a:blip r:embed="rId4"/>
          <a:stretch>
            <a:fillRect/>
          </a:stretch>
        </p:blipFill>
        <p:spPr>
          <a:xfrm>
            <a:off x="3737610" y="3152394"/>
            <a:ext cx="251460" cy="251460"/>
          </a:xfrm>
          <a:prstGeom prst="rect">
            <a:avLst/>
          </a:prstGeom>
        </p:spPr>
      </p:pic>
      <p:sp>
        <p:nvSpPr>
          <p:cNvPr id="19" name="Text 12"/>
          <p:cNvSpPr txBox="1"/>
          <p:nvPr/>
        </p:nvSpPr>
        <p:spPr>
          <a:xfrm>
            <a:off x="4297680" y="2980944"/>
            <a:ext cx="4297680" cy="274320"/>
          </a:xfrm>
          <a:prstGeom prst="rect">
            <a:avLst/>
          </a:prstGeom>
          <a:noFill/>
          <a:ln/>
        </p:spPr>
        <p:txBody>
          <a:bodyPr wrap="square" lIns="0" tIns="0" rIns="0" bIns="0" rtlCol="0" anchor="t"/>
          <a:lstStyle/>
          <a:p>
            <a:pPr indent="0" marL="0">
              <a:buNone/>
            </a:pPr>
            <a:r>
              <a:rPr lang="en-US" sz="1500" b="1" dirty="0">
                <a:solidFill>
                  <a:schemeClr val="tx1"/>
                </a:solidFill>
              </a:rPr>
              <a:t>Result</a:t>
            </a:r>
            <a:endParaRPr lang="en-US" sz="1500" dirty="0"/>
          </a:p>
        </p:txBody>
      </p:sp>
      <p:sp>
        <p:nvSpPr>
          <p:cNvPr id="20" name="Text 13"/>
          <p:cNvSpPr txBox="1"/>
          <p:nvPr/>
        </p:nvSpPr>
        <p:spPr>
          <a:xfrm>
            <a:off x="4297680" y="3300984"/>
            <a:ext cx="4297680" cy="320040"/>
          </a:xfrm>
          <a:prstGeom prst="rect">
            <a:avLst/>
          </a:prstGeom>
          <a:noFill/>
          <a:ln/>
        </p:spPr>
        <p:txBody>
          <a:bodyPr wrap="square" lIns="0" tIns="0" rIns="0" bIns="0" rtlCol="0" anchor="t"/>
          <a:lstStyle/>
          <a:p>
            <a:pPr indent="0" marL="0">
              <a:buNone/>
            </a:pPr>
            <a:r>
              <a:rPr lang="en-US" sz="1300" dirty="0">
                <a:solidFill>
                  <a:schemeClr val="tx2"/>
                </a:solidFill>
              </a:rPr>
              <a:t>Object position correct in robot workspace</a:t>
            </a:r>
            <a:endParaRPr lang="en-US" sz="1300" dirty="0"/>
          </a:p>
        </p:txBody>
      </p:sp>
      <p:sp>
        <p:nvSpPr>
          <p:cNvPr id="21" name="card"/>
          <p:cNvSpPr/>
          <p:nvPr/>
        </p:nvSpPr>
        <p:spPr>
          <a:xfrm>
            <a:off x="3474720" y="3785616"/>
            <a:ext cx="521208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2" name="Shape 15"/>
          <p:cNvSpPr/>
          <p:nvPr/>
        </p:nvSpPr>
        <p:spPr>
          <a:xfrm>
            <a:off x="3611880" y="3922776"/>
            <a:ext cx="502920" cy="502920"/>
          </a:xfrm>
          <a:prstGeom prst="ellipse">
            <a:avLst/>
          </a:prstGeom>
          <a:solidFill>
            <a:schemeClr val="accent4"/>
          </a:solidFill>
          <a:ln w="12700">
            <a:solidFill>
              <a:schemeClr val="accent4"/>
            </a:solidFill>
            <a:prstDash val="solid"/>
          </a:ln>
        </p:spPr>
      </p:sp>
      <p:pic>
        <p:nvPicPr>
          <p:cNvPr id="23" name="Image 4" descr="FaExclamationTriangle">    </p:cNvPr>
          <p:cNvPicPr>
            <a:picLocks noChangeAspect="1"/>
          </p:cNvPicPr>
          <p:nvPr/>
        </p:nvPicPr>
        <p:blipFill>
          <a:blip r:embed="rId5"/>
          <a:stretch>
            <a:fillRect/>
          </a:stretch>
        </p:blipFill>
        <p:spPr>
          <a:xfrm>
            <a:off x="3737610" y="4048506"/>
            <a:ext cx="251460" cy="251460"/>
          </a:xfrm>
          <a:prstGeom prst="rect">
            <a:avLst/>
          </a:prstGeom>
        </p:spPr>
      </p:pic>
      <p:sp>
        <p:nvSpPr>
          <p:cNvPr id="24" name="Text 16"/>
          <p:cNvSpPr txBox="1"/>
          <p:nvPr/>
        </p:nvSpPr>
        <p:spPr>
          <a:xfrm>
            <a:off x="4297680" y="3877056"/>
            <a:ext cx="4297680" cy="274320"/>
          </a:xfrm>
          <a:prstGeom prst="rect">
            <a:avLst/>
          </a:prstGeom>
          <a:noFill/>
          <a:ln/>
        </p:spPr>
        <p:txBody>
          <a:bodyPr wrap="square" lIns="0" tIns="0" rIns="0" bIns="0" rtlCol="0" anchor="t"/>
          <a:lstStyle/>
          <a:p>
            <a:pPr indent="0" marL="0">
              <a:buNone/>
            </a:pPr>
            <a:r>
              <a:rPr lang="en-US" sz="1500" b="1" dirty="0">
                <a:solidFill>
                  <a:schemeClr val="tx1"/>
                </a:solidFill>
              </a:rPr>
              <a:t>Issue fixed</a:t>
            </a:r>
            <a:endParaRPr lang="en-US" sz="1500" dirty="0"/>
          </a:p>
        </p:txBody>
      </p:sp>
      <p:sp>
        <p:nvSpPr>
          <p:cNvPr id="25" name="Text 17"/>
          <p:cNvSpPr txBox="1"/>
          <p:nvPr/>
        </p:nvSpPr>
        <p:spPr>
          <a:xfrm>
            <a:off x="4297680" y="4197096"/>
            <a:ext cx="4297680" cy="320040"/>
          </a:xfrm>
          <a:prstGeom prst="rect">
            <a:avLst/>
          </a:prstGeom>
          <a:noFill/>
          <a:ln/>
        </p:spPr>
        <p:txBody>
          <a:bodyPr wrap="square" lIns="0" tIns="0" rIns="0" bIns="0" rtlCol="0" anchor="t"/>
          <a:lstStyle/>
          <a:p>
            <a:pPr indent="0" marL="0">
              <a:buNone/>
            </a:pPr>
            <a:r>
              <a:rPr lang="en-US" sz="1300" dirty="0">
                <a:solidFill>
                  <a:schemeClr val="tx2"/>
                </a:solidFill>
              </a:rPr>
              <a:t>Wrong frame alignment gave wrong coordinates</a:t>
            </a:r>
            <a:endParaRPr lang="en-US" sz="13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Step 7: Inverse Kinematics in MATLAB</a:t>
            </a:r>
            <a:endParaRPr lang="en-US" sz="3000" dirty="0"/>
          </a:p>
        </p:txBody>
      </p:sp>
      <p:sp>
        <p:nvSpPr>
          <p:cNvPr id="4" name="Shape 1"/>
          <p:cNvSpPr/>
          <p:nvPr/>
        </p:nvSpPr>
        <p:spPr>
          <a:xfrm>
            <a:off x="402336" y="1064924"/>
            <a:ext cx="5230368" cy="2807911"/>
          </a:xfrm>
          <a:prstGeom prst="roundRect">
            <a:avLst>
              <a:gd name="adj" fmla="val 195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pic>
        <p:nvPicPr>
          <p:cNvPr id="5" name="Image 0" descr="MATLAB IK">    </p:cNvPr>
          <p:cNvPicPr>
            <a:picLocks noChangeAspect="1"/>
          </p:cNvPicPr>
          <p:nvPr/>
        </p:nvPicPr>
        <p:blipFill>
          <a:blip r:embed="rId1"/>
          <a:stretch>
            <a:fillRect/>
          </a:stretch>
        </p:blipFill>
        <p:spPr>
          <a:xfrm>
            <a:off x="457200" y="1119788"/>
            <a:ext cx="5120640" cy="2698183"/>
          </a:xfrm>
          <a:prstGeom prst="rect">
            <a:avLst/>
          </a:prstGeom>
        </p:spPr>
      </p:pic>
      <p:sp>
        <p:nvSpPr>
          <p:cNvPr id="6" name="Text 2"/>
          <p:cNvSpPr txBox="1"/>
          <p:nvPr/>
        </p:nvSpPr>
        <p:spPr>
          <a:xfrm>
            <a:off x="457200" y="4114800"/>
            <a:ext cx="5120640" cy="457200"/>
          </a:xfrm>
          <a:prstGeom prst="rect">
            <a:avLst/>
          </a:prstGeom>
          <a:noFill/>
          <a:ln/>
        </p:spPr>
        <p:txBody>
          <a:bodyPr wrap="square" lIns="0" tIns="0" rIns="0" bIns="0" rtlCol="0" anchor="t"/>
          <a:lstStyle/>
          <a:p>
            <a:pPr indent="0" marL="0">
              <a:buNone/>
            </a:pPr>
            <a:r>
              <a:rPr lang="en-US" sz="1200" dirty="0">
                <a:solidFill>
                  <a:schemeClr val="accent5"/>
                </a:solidFill>
              </a:rPr>
              <a:t>MATLAB output: target position, end-effector position, error and joint angles</a:t>
            </a:r>
            <a:endParaRPr lang="en-US" sz="1200" dirty="0"/>
          </a:p>
        </p:txBody>
      </p:sp>
      <p:sp>
        <p:nvSpPr>
          <p:cNvPr id="7" name="card"/>
          <p:cNvSpPr/>
          <p:nvPr/>
        </p:nvSpPr>
        <p:spPr>
          <a:xfrm>
            <a:off x="5852160" y="1097280"/>
            <a:ext cx="2834640" cy="1051560"/>
          </a:xfrm>
          <a:prstGeom prst="roundRect">
            <a:avLst>
              <a:gd name="adj" fmla="val 8696"/>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8" name="Text 4"/>
          <p:cNvSpPr txBox="1"/>
          <p:nvPr/>
        </p:nvSpPr>
        <p:spPr>
          <a:xfrm>
            <a:off x="6035040" y="1234440"/>
            <a:ext cx="2468880" cy="274320"/>
          </a:xfrm>
          <a:prstGeom prst="rect">
            <a:avLst/>
          </a:prstGeom>
          <a:noFill/>
          <a:ln/>
        </p:spPr>
        <p:txBody>
          <a:bodyPr wrap="square" lIns="0" tIns="0" rIns="0" bIns="0" rtlCol="0" anchor="t"/>
          <a:lstStyle/>
          <a:p>
            <a:pPr indent="0" marL="0">
              <a:buNone/>
            </a:pPr>
            <a:r>
              <a:rPr lang="en-US" sz="1500" b="1" dirty="0">
                <a:solidFill>
                  <a:schemeClr val="accent1"/>
                </a:solidFill>
              </a:rPr>
              <a:t>Input</a:t>
            </a:r>
            <a:endParaRPr lang="en-US" sz="1500" dirty="0"/>
          </a:p>
        </p:txBody>
      </p:sp>
      <p:sp>
        <p:nvSpPr>
          <p:cNvPr id="9" name="Text 5"/>
          <p:cNvSpPr txBox="1"/>
          <p:nvPr/>
        </p:nvSpPr>
        <p:spPr>
          <a:xfrm>
            <a:off x="6035040" y="1554480"/>
            <a:ext cx="2468880" cy="548640"/>
          </a:xfrm>
          <a:prstGeom prst="rect">
            <a:avLst/>
          </a:prstGeom>
          <a:noFill/>
          <a:ln/>
        </p:spPr>
        <p:txBody>
          <a:bodyPr wrap="square" lIns="0" tIns="0" rIns="0" bIns="0" rtlCol="0" anchor="t"/>
          <a:lstStyle/>
          <a:p>
            <a:pPr indent="0" marL="0">
              <a:buNone/>
            </a:pPr>
            <a:r>
              <a:rPr lang="en-US" sz="1300" dirty="0">
                <a:solidFill>
                  <a:schemeClr val="tx2"/>
                </a:solidFill>
              </a:rPr>
              <a:t>Target X, Y, Z in robot frame</a:t>
            </a:r>
            <a:endParaRPr lang="en-US" sz="1300" dirty="0"/>
          </a:p>
        </p:txBody>
      </p:sp>
      <p:sp>
        <p:nvSpPr>
          <p:cNvPr id="10" name="card"/>
          <p:cNvSpPr/>
          <p:nvPr/>
        </p:nvSpPr>
        <p:spPr>
          <a:xfrm>
            <a:off x="5852160" y="2286000"/>
            <a:ext cx="2834640" cy="1051560"/>
          </a:xfrm>
          <a:prstGeom prst="roundRect">
            <a:avLst>
              <a:gd name="adj" fmla="val 8696"/>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1" name="Text 7"/>
          <p:cNvSpPr txBox="1"/>
          <p:nvPr/>
        </p:nvSpPr>
        <p:spPr>
          <a:xfrm>
            <a:off x="6035040" y="2423160"/>
            <a:ext cx="2468880" cy="274320"/>
          </a:xfrm>
          <a:prstGeom prst="rect">
            <a:avLst/>
          </a:prstGeom>
          <a:noFill/>
          <a:ln/>
        </p:spPr>
        <p:txBody>
          <a:bodyPr wrap="square" lIns="0" tIns="0" rIns="0" bIns="0" rtlCol="0" anchor="t"/>
          <a:lstStyle/>
          <a:p>
            <a:pPr indent="0" marL="0">
              <a:buNone/>
            </a:pPr>
            <a:r>
              <a:rPr lang="en-US" sz="1500" b="1" dirty="0">
                <a:solidFill>
                  <a:schemeClr val="accent2"/>
                </a:solidFill>
              </a:rPr>
              <a:t>Solver</a:t>
            </a:r>
            <a:endParaRPr lang="en-US" sz="1500" dirty="0"/>
          </a:p>
        </p:txBody>
      </p:sp>
      <p:sp>
        <p:nvSpPr>
          <p:cNvPr id="12" name="Text 8"/>
          <p:cNvSpPr txBox="1"/>
          <p:nvPr/>
        </p:nvSpPr>
        <p:spPr>
          <a:xfrm>
            <a:off x="6035040" y="2743200"/>
            <a:ext cx="2468880" cy="548640"/>
          </a:xfrm>
          <a:prstGeom prst="rect">
            <a:avLst/>
          </a:prstGeom>
          <a:noFill/>
          <a:ln/>
        </p:spPr>
        <p:txBody>
          <a:bodyPr wrap="square" lIns="0" tIns="0" rIns="0" bIns="0" rtlCol="0" anchor="t"/>
          <a:lstStyle/>
          <a:p>
            <a:pPr indent="0" marL="0">
              <a:buNone/>
            </a:pPr>
            <a:r>
              <a:rPr lang="en-US" sz="1300" dirty="0">
                <a:solidFill>
                  <a:schemeClr val="tx2"/>
                </a:solidFill>
              </a:rPr>
              <a:t>Robotics Toolbox inverse kinematics</a:t>
            </a:r>
            <a:endParaRPr lang="en-US" sz="1300" dirty="0"/>
          </a:p>
        </p:txBody>
      </p:sp>
      <p:sp>
        <p:nvSpPr>
          <p:cNvPr id="13" name="card"/>
          <p:cNvSpPr/>
          <p:nvPr/>
        </p:nvSpPr>
        <p:spPr>
          <a:xfrm>
            <a:off x="5852160" y="3474720"/>
            <a:ext cx="2834640" cy="1051560"/>
          </a:xfrm>
          <a:prstGeom prst="roundRect">
            <a:avLst>
              <a:gd name="adj" fmla="val 8696"/>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4" name="Text 10"/>
          <p:cNvSpPr txBox="1"/>
          <p:nvPr/>
        </p:nvSpPr>
        <p:spPr>
          <a:xfrm>
            <a:off x="6035040" y="3611880"/>
            <a:ext cx="2468880" cy="274320"/>
          </a:xfrm>
          <a:prstGeom prst="rect">
            <a:avLst/>
          </a:prstGeom>
          <a:noFill/>
          <a:ln/>
        </p:spPr>
        <p:txBody>
          <a:bodyPr wrap="square" lIns="0" tIns="0" rIns="0" bIns="0" rtlCol="0" anchor="t"/>
          <a:lstStyle/>
          <a:p>
            <a:pPr indent="0" marL="0">
              <a:buNone/>
            </a:pPr>
            <a:r>
              <a:rPr lang="en-US" sz="1500" b="1" dirty="0">
                <a:solidFill>
                  <a:schemeClr val="accent4"/>
                </a:solidFill>
              </a:rPr>
              <a:t>Output</a:t>
            </a:r>
            <a:endParaRPr lang="en-US" sz="1500" dirty="0"/>
          </a:p>
        </p:txBody>
      </p:sp>
      <p:sp>
        <p:nvSpPr>
          <p:cNvPr id="15" name="Text 11"/>
          <p:cNvSpPr txBox="1"/>
          <p:nvPr/>
        </p:nvSpPr>
        <p:spPr>
          <a:xfrm>
            <a:off x="6035040" y="3931920"/>
            <a:ext cx="2468880" cy="548640"/>
          </a:xfrm>
          <a:prstGeom prst="rect">
            <a:avLst/>
          </a:prstGeom>
          <a:noFill/>
          <a:ln/>
        </p:spPr>
        <p:txBody>
          <a:bodyPr wrap="square" lIns="0" tIns="0" rIns="0" bIns="0" rtlCol="0" anchor="t"/>
          <a:lstStyle/>
          <a:p>
            <a:pPr indent="0" marL="0">
              <a:buNone/>
            </a:pPr>
            <a:r>
              <a:rPr lang="en-US" sz="1300" dirty="0">
                <a:solidFill>
                  <a:schemeClr val="tx2"/>
                </a:solidFill>
              </a:rPr>
              <a:t>Joint angles and position error</a:t>
            </a:r>
            <a:endParaRPr lang="en-US" sz="13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Step 8: Pick, Hold and Place</a:t>
            </a:r>
            <a:endParaRPr lang="en-US" sz="3000" dirty="0"/>
          </a:p>
        </p:txBody>
      </p:sp>
      <p:sp>
        <p:nvSpPr>
          <p:cNvPr id="4" name="Shape 1"/>
          <p:cNvSpPr/>
          <p:nvPr/>
        </p:nvSpPr>
        <p:spPr>
          <a:xfrm>
            <a:off x="402336" y="1286241"/>
            <a:ext cx="2670048" cy="1359437"/>
          </a:xfrm>
          <a:prstGeom prst="roundRect">
            <a:avLst>
              <a:gd name="adj" fmla="val 4036"/>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pic>
        <p:nvPicPr>
          <p:cNvPr id="5" name="Image 0" descr="1  Pick">    </p:cNvPr>
          <p:cNvPicPr>
            <a:picLocks noChangeAspect="1"/>
          </p:cNvPicPr>
          <p:nvPr/>
        </p:nvPicPr>
        <p:blipFill>
          <a:blip r:embed="rId1"/>
          <a:stretch>
            <a:fillRect/>
          </a:stretch>
        </p:blipFill>
        <p:spPr>
          <a:xfrm>
            <a:off x="457200" y="1341105"/>
            <a:ext cx="2560320" cy="1249709"/>
          </a:xfrm>
          <a:prstGeom prst="rect">
            <a:avLst/>
          </a:prstGeom>
        </p:spPr>
      </p:pic>
      <p:sp>
        <p:nvSpPr>
          <p:cNvPr id="6" name="card"/>
          <p:cNvSpPr/>
          <p:nvPr/>
        </p:nvSpPr>
        <p:spPr>
          <a:xfrm>
            <a:off x="457200" y="3108960"/>
            <a:ext cx="2560320" cy="1005840"/>
          </a:xfrm>
          <a:prstGeom prst="roundRect">
            <a:avLst>
              <a:gd name="adj" fmla="val 9091"/>
            </a:avLst>
          </a:prstGeom>
          <a:solidFill>
            <a:schemeClr val="accent1"/>
          </a:solidFill>
          <a:ln w="12700">
            <a:solidFill>
              <a:schemeClr val="accent1"/>
            </a:solidFill>
            <a:prstDash val="solid"/>
          </a:ln>
          <a:effectLst>
            <a:outerShdw sx="100000" sy="100000" kx="0" ky="0" algn="bl" rotWithShape="0" blurRad="101600" dist="25400" dir="5400000">
              <a:srgbClr val="000000">
                <a:alpha val="14000"/>
              </a:srgbClr>
            </a:outerShdw>
          </a:effectLst>
        </p:spPr>
      </p:sp>
      <p:sp>
        <p:nvSpPr>
          <p:cNvPr id="7" name="Text 3"/>
          <p:cNvSpPr txBox="1"/>
          <p:nvPr/>
        </p:nvSpPr>
        <p:spPr>
          <a:xfrm>
            <a:off x="594360" y="3200400"/>
            <a:ext cx="2286000" cy="365760"/>
          </a:xfrm>
          <a:prstGeom prst="rect">
            <a:avLst/>
          </a:prstGeom>
          <a:noFill/>
          <a:ln/>
        </p:spPr>
        <p:txBody>
          <a:bodyPr wrap="square" lIns="0" tIns="0" rIns="0" bIns="0" rtlCol="0" anchor="t"/>
          <a:lstStyle/>
          <a:p>
            <a:pPr indent="0" marL="0">
              <a:buNone/>
            </a:pPr>
            <a:r>
              <a:rPr lang="en-US" sz="1700" b="1" dirty="0">
                <a:solidFill>
                  <a:schemeClr val="bg1"/>
                </a:solidFill>
              </a:rPr>
              <a:t>1  Pick</a:t>
            </a:r>
            <a:endParaRPr lang="en-US" sz="1700" dirty="0"/>
          </a:p>
        </p:txBody>
      </p:sp>
      <p:sp>
        <p:nvSpPr>
          <p:cNvPr id="8" name="Text 4"/>
          <p:cNvSpPr txBox="1"/>
          <p:nvPr/>
        </p:nvSpPr>
        <p:spPr>
          <a:xfrm>
            <a:off x="594360" y="3611880"/>
            <a:ext cx="2286000" cy="365760"/>
          </a:xfrm>
          <a:prstGeom prst="rect">
            <a:avLst/>
          </a:prstGeom>
          <a:noFill/>
          <a:ln/>
        </p:spPr>
        <p:txBody>
          <a:bodyPr wrap="square" lIns="0" tIns="0" rIns="0" bIns="0" rtlCol="0" anchor="t"/>
          <a:lstStyle/>
          <a:p>
            <a:pPr indent="0" marL="0">
              <a:buNone/>
            </a:pPr>
            <a:r>
              <a:rPr lang="en-US" sz="1400" dirty="0">
                <a:solidFill>
                  <a:schemeClr val="bg1"/>
                </a:solidFill>
              </a:rPr>
              <a:t>Move to object, grasp</a:t>
            </a:r>
            <a:endParaRPr lang="en-US" sz="1400" dirty="0"/>
          </a:p>
        </p:txBody>
      </p:sp>
      <p:sp>
        <p:nvSpPr>
          <p:cNvPr id="9" name="Shape 5"/>
          <p:cNvSpPr/>
          <p:nvPr/>
        </p:nvSpPr>
        <p:spPr>
          <a:xfrm>
            <a:off x="3236976" y="1286118"/>
            <a:ext cx="2670048" cy="1359685"/>
          </a:xfrm>
          <a:prstGeom prst="roundRect">
            <a:avLst>
              <a:gd name="adj" fmla="val 4035"/>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pic>
        <p:nvPicPr>
          <p:cNvPr id="10" name="Image 1" descr="2  Hold">    </p:cNvPr>
          <p:cNvPicPr>
            <a:picLocks noChangeAspect="1"/>
          </p:cNvPicPr>
          <p:nvPr/>
        </p:nvPicPr>
        <p:blipFill>
          <a:blip r:embed="rId2"/>
          <a:stretch>
            <a:fillRect/>
          </a:stretch>
        </p:blipFill>
        <p:spPr>
          <a:xfrm>
            <a:off x="3291840" y="1340982"/>
            <a:ext cx="2560320" cy="1249957"/>
          </a:xfrm>
          <a:prstGeom prst="rect">
            <a:avLst/>
          </a:prstGeom>
        </p:spPr>
      </p:pic>
      <p:sp>
        <p:nvSpPr>
          <p:cNvPr id="11" name="card"/>
          <p:cNvSpPr/>
          <p:nvPr/>
        </p:nvSpPr>
        <p:spPr>
          <a:xfrm>
            <a:off x="3291840" y="3108960"/>
            <a:ext cx="2560320" cy="1005840"/>
          </a:xfrm>
          <a:prstGeom prst="roundRect">
            <a:avLst>
              <a:gd name="adj" fmla="val 9091"/>
            </a:avLst>
          </a:prstGeom>
          <a:solidFill>
            <a:schemeClr val="accent2"/>
          </a:solidFill>
          <a:ln w="12700">
            <a:solidFill>
              <a:schemeClr val="accent2"/>
            </a:solidFill>
            <a:prstDash val="solid"/>
          </a:ln>
          <a:effectLst>
            <a:outerShdw sx="100000" sy="100000" kx="0" ky="0" algn="bl" rotWithShape="0" blurRad="101600" dist="25400" dir="5400000">
              <a:srgbClr val="000000">
                <a:alpha val="14000"/>
              </a:srgbClr>
            </a:outerShdw>
          </a:effectLst>
        </p:spPr>
      </p:sp>
      <p:sp>
        <p:nvSpPr>
          <p:cNvPr id="12" name="Text 7"/>
          <p:cNvSpPr txBox="1"/>
          <p:nvPr/>
        </p:nvSpPr>
        <p:spPr>
          <a:xfrm>
            <a:off x="3429000" y="3200400"/>
            <a:ext cx="2286000" cy="365760"/>
          </a:xfrm>
          <a:prstGeom prst="rect">
            <a:avLst/>
          </a:prstGeom>
          <a:noFill/>
          <a:ln/>
        </p:spPr>
        <p:txBody>
          <a:bodyPr wrap="square" lIns="0" tIns="0" rIns="0" bIns="0" rtlCol="0" anchor="t"/>
          <a:lstStyle/>
          <a:p>
            <a:pPr indent="0" marL="0">
              <a:buNone/>
            </a:pPr>
            <a:r>
              <a:rPr lang="en-US" sz="1700" b="1" dirty="0">
                <a:solidFill>
                  <a:schemeClr val="tx1"/>
                </a:solidFill>
              </a:rPr>
              <a:t>2  Hold</a:t>
            </a:r>
            <a:endParaRPr lang="en-US" sz="1700" dirty="0"/>
          </a:p>
        </p:txBody>
      </p:sp>
      <p:sp>
        <p:nvSpPr>
          <p:cNvPr id="13" name="Text 8"/>
          <p:cNvSpPr txBox="1"/>
          <p:nvPr/>
        </p:nvSpPr>
        <p:spPr>
          <a:xfrm>
            <a:off x="3429000" y="3611880"/>
            <a:ext cx="2286000" cy="365760"/>
          </a:xfrm>
          <a:prstGeom prst="rect">
            <a:avLst/>
          </a:prstGeom>
          <a:noFill/>
          <a:ln/>
        </p:spPr>
        <p:txBody>
          <a:bodyPr wrap="square" lIns="0" tIns="0" rIns="0" bIns="0" rtlCol="0" anchor="t"/>
          <a:lstStyle/>
          <a:p>
            <a:pPr indent="0" marL="0">
              <a:buNone/>
            </a:pPr>
            <a:r>
              <a:rPr lang="en-US" sz="1400" dirty="0">
                <a:solidFill>
                  <a:schemeClr val="tx1"/>
                </a:solidFill>
              </a:rPr>
              <a:t>Lift and transport</a:t>
            </a:r>
            <a:endParaRPr lang="en-US" sz="1400" dirty="0"/>
          </a:p>
        </p:txBody>
      </p:sp>
      <p:sp>
        <p:nvSpPr>
          <p:cNvPr id="14" name="Shape 9"/>
          <p:cNvSpPr/>
          <p:nvPr/>
        </p:nvSpPr>
        <p:spPr>
          <a:xfrm>
            <a:off x="6071616" y="1316341"/>
            <a:ext cx="2670048" cy="1299238"/>
          </a:xfrm>
          <a:prstGeom prst="roundRect">
            <a:avLst>
              <a:gd name="adj" fmla="val 4223"/>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pic>
        <p:nvPicPr>
          <p:cNvPr id="15" name="Image 2" descr="3  Place">    </p:cNvPr>
          <p:cNvPicPr>
            <a:picLocks noChangeAspect="1"/>
          </p:cNvPicPr>
          <p:nvPr/>
        </p:nvPicPr>
        <p:blipFill>
          <a:blip r:embed="rId3"/>
          <a:stretch>
            <a:fillRect/>
          </a:stretch>
        </p:blipFill>
        <p:spPr>
          <a:xfrm>
            <a:off x="6126480" y="1371205"/>
            <a:ext cx="2560320" cy="1189510"/>
          </a:xfrm>
          <a:prstGeom prst="rect">
            <a:avLst/>
          </a:prstGeom>
        </p:spPr>
      </p:pic>
      <p:sp>
        <p:nvSpPr>
          <p:cNvPr id="16" name="card"/>
          <p:cNvSpPr/>
          <p:nvPr/>
        </p:nvSpPr>
        <p:spPr>
          <a:xfrm>
            <a:off x="6126480" y="3108960"/>
            <a:ext cx="2560320" cy="1005840"/>
          </a:xfrm>
          <a:prstGeom prst="roundRect">
            <a:avLst>
              <a:gd name="adj" fmla="val 9091"/>
            </a:avLst>
          </a:prstGeom>
          <a:solidFill>
            <a:schemeClr val="accent4"/>
          </a:solidFill>
          <a:ln w="12700">
            <a:solidFill>
              <a:schemeClr val="accent4"/>
            </a:solidFill>
            <a:prstDash val="solid"/>
          </a:ln>
          <a:effectLst>
            <a:outerShdw sx="100000" sy="100000" kx="0" ky="0" algn="bl" rotWithShape="0" blurRad="101600" dist="25400" dir="5400000">
              <a:srgbClr val="000000">
                <a:alpha val="14000"/>
              </a:srgbClr>
            </a:outerShdw>
          </a:effectLst>
        </p:spPr>
      </p:sp>
      <p:sp>
        <p:nvSpPr>
          <p:cNvPr id="17" name="Text 11"/>
          <p:cNvSpPr txBox="1"/>
          <p:nvPr/>
        </p:nvSpPr>
        <p:spPr>
          <a:xfrm>
            <a:off x="6263640" y="3200400"/>
            <a:ext cx="2286000" cy="365760"/>
          </a:xfrm>
          <a:prstGeom prst="rect">
            <a:avLst/>
          </a:prstGeom>
          <a:noFill/>
          <a:ln/>
        </p:spPr>
        <p:txBody>
          <a:bodyPr wrap="square" lIns="0" tIns="0" rIns="0" bIns="0" rtlCol="0" anchor="t"/>
          <a:lstStyle/>
          <a:p>
            <a:pPr indent="0" marL="0">
              <a:buNone/>
            </a:pPr>
            <a:r>
              <a:rPr lang="en-US" sz="1700" b="1" dirty="0">
                <a:solidFill>
                  <a:schemeClr val="bg1"/>
                </a:solidFill>
              </a:rPr>
              <a:t>3  Place</a:t>
            </a:r>
            <a:endParaRPr lang="en-US" sz="1700" dirty="0"/>
          </a:p>
        </p:txBody>
      </p:sp>
      <p:sp>
        <p:nvSpPr>
          <p:cNvPr id="18" name="Text 12"/>
          <p:cNvSpPr txBox="1"/>
          <p:nvPr/>
        </p:nvSpPr>
        <p:spPr>
          <a:xfrm>
            <a:off x="6263640" y="3611880"/>
            <a:ext cx="2286000" cy="365760"/>
          </a:xfrm>
          <a:prstGeom prst="rect">
            <a:avLst/>
          </a:prstGeom>
          <a:noFill/>
          <a:ln/>
        </p:spPr>
        <p:txBody>
          <a:bodyPr wrap="square" lIns="0" tIns="0" rIns="0" bIns="0" rtlCol="0" anchor="t"/>
          <a:lstStyle/>
          <a:p>
            <a:pPr indent="0" marL="0">
              <a:buNone/>
            </a:pPr>
            <a:r>
              <a:rPr lang="en-US" sz="1400" dirty="0">
                <a:solidFill>
                  <a:schemeClr val="bg1"/>
                </a:solidFill>
              </a:rPr>
              <a:t>Release at target</a:t>
            </a:r>
            <a:endParaRPr lang="en-US" sz="1400" dirty="0"/>
          </a:p>
        </p:txBody>
      </p:sp>
      <p:sp>
        <p:nvSpPr>
          <p:cNvPr id="19" name="card"/>
          <p:cNvSpPr/>
          <p:nvPr/>
        </p:nvSpPr>
        <p:spPr>
          <a:xfrm>
            <a:off x="457200" y="4251960"/>
            <a:ext cx="8229600" cy="457200"/>
          </a:xfrm>
          <a:prstGeom prst="roundRect">
            <a:avLst>
              <a:gd name="adj" fmla="val 20000"/>
            </a:avLst>
          </a:prstGeom>
          <a:solidFill>
            <a:schemeClr val="tx1"/>
          </a:solidFill>
          <a:ln w="12700">
            <a:solidFill>
              <a:schemeClr val="tx1"/>
            </a:solidFill>
            <a:prstDash val="solid"/>
          </a:ln>
          <a:effectLst>
            <a:outerShdw sx="100000" sy="100000" kx="0" ky="0" algn="bl" rotWithShape="0" blurRad="101600" dist="25400" dir="5400000">
              <a:srgbClr val="000000">
                <a:alpha val="14000"/>
              </a:srgbClr>
            </a:outerShdw>
          </a:effectLst>
        </p:spPr>
      </p:sp>
      <p:sp>
        <p:nvSpPr>
          <p:cNvPr id="20" name="Text 14"/>
          <p:cNvSpPr txBox="1"/>
          <p:nvPr/>
        </p:nvSpPr>
        <p:spPr>
          <a:xfrm>
            <a:off x="548640" y="4251960"/>
            <a:ext cx="8046720" cy="457200"/>
          </a:xfrm>
          <a:prstGeom prst="rect">
            <a:avLst/>
          </a:prstGeom>
          <a:noFill/>
          <a:ln/>
        </p:spPr>
        <p:txBody>
          <a:bodyPr wrap="square" lIns="0" tIns="0" rIns="0" bIns="0" rtlCol="0" anchor="ctr"/>
          <a:lstStyle/>
          <a:p>
            <a:pPr algn="ctr" indent="0" marL="0">
              <a:buNone/>
            </a:pPr>
            <a:r>
              <a:rPr lang="en-US" sz="1400" b="1" dirty="0">
                <a:solidFill>
                  <a:schemeClr val="bg1"/>
                </a:solidFill>
              </a:rPr>
              <a:t>Detection -&gt; depth -&gt; TF -&gt; inverse kinematics -&gt; motion, all in one run</a:t>
            </a:r>
            <a:endParaRPr lang="en-US" sz="14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ROS 2 Action Graph</a:t>
            </a:r>
            <a:endParaRPr lang="en-US" sz="3000" dirty="0"/>
          </a:p>
        </p:txBody>
      </p:sp>
      <p:sp>
        <p:nvSpPr>
          <p:cNvPr id="4" name="Shape 1"/>
          <p:cNvSpPr/>
          <p:nvPr/>
        </p:nvSpPr>
        <p:spPr>
          <a:xfrm>
            <a:off x="402336" y="1539986"/>
            <a:ext cx="5504688" cy="2635028"/>
          </a:xfrm>
          <a:prstGeom prst="roundRect">
            <a:avLst>
              <a:gd name="adj" fmla="val 2082"/>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pic>
        <p:nvPicPr>
          <p:cNvPr id="5" name="Image 0" descr="ROS2 Action Graph">    </p:cNvPr>
          <p:cNvPicPr>
            <a:picLocks noChangeAspect="1"/>
          </p:cNvPicPr>
          <p:nvPr/>
        </p:nvPicPr>
        <p:blipFill>
          <a:blip r:embed="rId1"/>
          <a:stretch>
            <a:fillRect/>
          </a:stretch>
        </p:blipFill>
        <p:spPr>
          <a:xfrm>
            <a:off x="457200" y="1594850"/>
            <a:ext cx="5394960" cy="2525300"/>
          </a:xfrm>
          <a:prstGeom prst="rect">
            <a:avLst/>
          </a:prstGeom>
        </p:spPr>
      </p:pic>
      <p:sp>
        <p:nvSpPr>
          <p:cNvPr id="6" name="card"/>
          <p:cNvSpPr/>
          <p:nvPr/>
        </p:nvSpPr>
        <p:spPr>
          <a:xfrm>
            <a:off x="6126480" y="1097280"/>
            <a:ext cx="2560320" cy="1051560"/>
          </a:xfrm>
          <a:prstGeom prst="roundRect">
            <a:avLst>
              <a:gd name="adj" fmla="val 8696"/>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7" name="Shape 3"/>
          <p:cNvSpPr/>
          <p:nvPr/>
        </p:nvSpPr>
        <p:spPr>
          <a:xfrm>
            <a:off x="6263640" y="1371600"/>
            <a:ext cx="502920" cy="502920"/>
          </a:xfrm>
          <a:prstGeom prst="ellipse">
            <a:avLst/>
          </a:prstGeom>
          <a:solidFill>
            <a:schemeClr val="accent1"/>
          </a:solidFill>
          <a:ln w="12700">
            <a:solidFill>
              <a:schemeClr val="accent1"/>
            </a:solidFill>
            <a:prstDash val="solid"/>
          </a:ln>
        </p:spPr>
      </p:sp>
      <p:pic>
        <p:nvPicPr>
          <p:cNvPr id="8" name="Image 1" descr="FaCamera">    </p:cNvPr>
          <p:cNvPicPr>
            <a:picLocks noChangeAspect="1"/>
          </p:cNvPicPr>
          <p:nvPr/>
        </p:nvPicPr>
        <p:blipFill>
          <a:blip r:embed="rId2"/>
          <a:stretch>
            <a:fillRect/>
          </a:stretch>
        </p:blipFill>
        <p:spPr>
          <a:xfrm>
            <a:off x="6389370" y="1497330"/>
            <a:ext cx="251460" cy="251460"/>
          </a:xfrm>
          <a:prstGeom prst="rect">
            <a:avLst/>
          </a:prstGeom>
        </p:spPr>
      </p:pic>
      <p:sp>
        <p:nvSpPr>
          <p:cNvPr id="9" name="Text 4"/>
          <p:cNvSpPr txBox="1"/>
          <p:nvPr/>
        </p:nvSpPr>
        <p:spPr>
          <a:xfrm>
            <a:off x="6903720" y="1280160"/>
            <a:ext cx="1737360" cy="274320"/>
          </a:xfrm>
          <a:prstGeom prst="rect">
            <a:avLst/>
          </a:prstGeom>
          <a:noFill/>
          <a:ln/>
        </p:spPr>
        <p:txBody>
          <a:bodyPr wrap="square" lIns="0" tIns="0" rIns="0" bIns="0" rtlCol="0" anchor="t"/>
          <a:lstStyle/>
          <a:p>
            <a:pPr indent="0" marL="0">
              <a:buNone/>
            </a:pPr>
            <a:r>
              <a:rPr lang="en-US" sz="1400" b="1" dirty="0">
                <a:solidFill>
                  <a:schemeClr val="tx1"/>
                </a:solidFill>
              </a:rPr>
              <a:t>Camera and depth</a:t>
            </a:r>
            <a:endParaRPr lang="en-US" sz="1400" dirty="0"/>
          </a:p>
        </p:txBody>
      </p:sp>
      <p:sp>
        <p:nvSpPr>
          <p:cNvPr id="10" name="Text 5"/>
          <p:cNvSpPr txBox="1"/>
          <p:nvPr/>
        </p:nvSpPr>
        <p:spPr>
          <a:xfrm>
            <a:off x="6903720" y="1600200"/>
            <a:ext cx="1737360" cy="502920"/>
          </a:xfrm>
          <a:prstGeom prst="rect">
            <a:avLst/>
          </a:prstGeom>
          <a:noFill/>
          <a:ln/>
        </p:spPr>
        <p:txBody>
          <a:bodyPr wrap="square" lIns="0" tIns="0" rIns="0" bIns="0" rtlCol="0" anchor="t"/>
          <a:lstStyle/>
          <a:p>
            <a:pPr indent="0" marL="0">
              <a:buNone/>
            </a:pPr>
            <a:r>
              <a:rPr lang="en-US" sz="1200" dirty="0">
                <a:solidFill>
                  <a:schemeClr val="tx2"/>
                </a:solidFill>
              </a:rPr>
              <a:t>Stream RGB and depth</a:t>
            </a:r>
            <a:endParaRPr lang="en-US" sz="1200" dirty="0"/>
          </a:p>
        </p:txBody>
      </p:sp>
      <p:sp>
        <p:nvSpPr>
          <p:cNvPr id="11" name="card"/>
          <p:cNvSpPr/>
          <p:nvPr/>
        </p:nvSpPr>
        <p:spPr>
          <a:xfrm>
            <a:off x="6126480" y="2286000"/>
            <a:ext cx="2560320" cy="1051560"/>
          </a:xfrm>
          <a:prstGeom prst="roundRect">
            <a:avLst>
              <a:gd name="adj" fmla="val 8696"/>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2" name="Shape 7"/>
          <p:cNvSpPr/>
          <p:nvPr/>
        </p:nvSpPr>
        <p:spPr>
          <a:xfrm>
            <a:off x="6263640" y="2560320"/>
            <a:ext cx="502920" cy="502920"/>
          </a:xfrm>
          <a:prstGeom prst="ellipse">
            <a:avLst/>
          </a:prstGeom>
          <a:solidFill>
            <a:schemeClr val="accent2"/>
          </a:solidFill>
          <a:ln w="12700">
            <a:solidFill>
              <a:schemeClr val="accent2"/>
            </a:solidFill>
            <a:prstDash val="solid"/>
          </a:ln>
        </p:spPr>
      </p:sp>
      <p:pic>
        <p:nvPicPr>
          <p:cNvPr id="13" name="Image 2" descr="FaProjectDiagram">    </p:cNvPr>
          <p:cNvPicPr>
            <a:picLocks noChangeAspect="1"/>
          </p:cNvPicPr>
          <p:nvPr/>
        </p:nvPicPr>
        <p:blipFill>
          <a:blip r:embed="rId3"/>
          <a:stretch>
            <a:fillRect/>
          </a:stretch>
        </p:blipFill>
        <p:spPr>
          <a:xfrm>
            <a:off x="6389370" y="2686050"/>
            <a:ext cx="251460" cy="251460"/>
          </a:xfrm>
          <a:prstGeom prst="rect">
            <a:avLst/>
          </a:prstGeom>
        </p:spPr>
      </p:pic>
      <p:sp>
        <p:nvSpPr>
          <p:cNvPr id="14" name="Text 8"/>
          <p:cNvSpPr txBox="1"/>
          <p:nvPr/>
        </p:nvSpPr>
        <p:spPr>
          <a:xfrm>
            <a:off x="6903720" y="2468880"/>
            <a:ext cx="1737360" cy="274320"/>
          </a:xfrm>
          <a:prstGeom prst="rect">
            <a:avLst/>
          </a:prstGeom>
          <a:noFill/>
          <a:ln/>
        </p:spPr>
        <p:txBody>
          <a:bodyPr wrap="square" lIns="0" tIns="0" rIns="0" bIns="0" rtlCol="0" anchor="t"/>
          <a:lstStyle/>
          <a:p>
            <a:pPr indent="0" marL="0">
              <a:buNone/>
            </a:pPr>
            <a:r>
              <a:rPr lang="en-US" sz="1400" b="1" dirty="0">
                <a:solidFill>
                  <a:schemeClr val="tx1"/>
                </a:solidFill>
              </a:rPr>
              <a:t>Transform tree</a:t>
            </a:r>
            <a:endParaRPr lang="en-US" sz="1400" dirty="0"/>
          </a:p>
        </p:txBody>
      </p:sp>
      <p:sp>
        <p:nvSpPr>
          <p:cNvPr id="15" name="Text 9"/>
          <p:cNvSpPr txBox="1"/>
          <p:nvPr/>
        </p:nvSpPr>
        <p:spPr>
          <a:xfrm>
            <a:off x="6903720" y="2788920"/>
            <a:ext cx="1737360" cy="502920"/>
          </a:xfrm>
          <a:prstGeom prst="rect">
            <a:avLst/>
          </a:prstGeom>
          <a:noFill/>
          <a:ln/>
        </p:spPr>
        <p:txBody>
          <a:bodyPr wrap="square" lIns="0" tIns="0" rIns="0" bIns="0" rtlCol="0" anchor="t"/>
          <a:lstStyle/>
          <a:p>
            <a:pPr indent="0" marL="0">
              <a:buNone/>
            </a:pPr>
            <a:r>
              <a:rPr lang="en-US" sz="1200" dirty="0">
                <a:solidFill>
                  <a:schemeClr val="tx2"/>
                </a:solidFill>
              </a:rPr>
              <a:t>Publishes frames</a:t>
            </a:r>
            <a:endParaRPr lang="en-US" sz="1200" dirty="0"/>
          </a:p>
        </p:txBody>
      </p:sp>
      <p:sp>
        <p:nvSpPr>
          <p:cNvPr id="16" name="card"/>
          <p:cNvSpPr/>
          <p:nvPr/>
        </p:nvSpPr>
        <p:spPr>
          <a:xfrm>
            <a:off x="6126480" y="3474720"/>
            <a:ext cx="2560320" cy="1051560"/>
          </a:xfrm>
          <a:prstGeom prst="roundRect">
            <a:avLst>
              <a:gd name="adj" fmla="val 8696"/>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7" name="Shape 11"/>
          <p:cNvSpPr/>
          <p:nvPr/>
        </p:nvSpPr>
        <p:spPr>
          <a:xfrm>
            <a:off x="6263640" y="3749040"/>
            <a:ext cx="502920" cy="502920"/>
          </a:xfrm>
          <a:prstGeom prst="ellipse">
            <a:avLst/>
          </a:prstGeom>
          <a:solidFill>
            <a:schemeClr val="accent4"/>
          </a:solidFill>
          <a:ln w="12700">
            <a:solidFill>
              <a:schemeClr val="accent4"/>
            </a:solidFill>
            <a:prstDash val="solid"/>
          </a:ln>
        </p:spPr>
      </p:sp>
      <p:pic>
        <p:nvPicPr>
          <p:cNvPr id="18" name="Image 3" descr="FaCogs">    </p:cNvPr>
          <p:cNvPicPr>
            <a:picLocks noChangeAspect="1"/>
          </p:cNvPicPr>
          <p:nvPr/>
        </p:nvPicPr>
        <p:blipFill>
          <a:blip r:embed="rId4"/>
          <a:stretch>
            <a:fillRect/>
          </a:stretch>
        </p:blipFill>
        <p:spPr>
          <a:xfrm>
            <a:off x="6389370" y="3874770"/>
            <a:ext cx="251460" cy="251460"/>
          </a:xfrm>
          <a:prstGeom prst="rect">
            <a:avLst/>
          </a:prstGeom>
        </p:spPr>
      </p:pic>
      <p:sp>
        <p:nvSpPr>
          <p:cNvPr id="19" name="Text 12"/>
          <p:cNvSpPr txBox="1"/>
          <p:nvPr/>
        </p:nvSpPr>
        <p:spPr>
          <a:xfrm>
            <a:off x="6903720" y="3657600"/>
            <a:ext cx="1737360" cy="274320"/>
          </a:xfrm>
          <a:prstGeom prst="rect">
            <a:avLst/>
          </a:prstGeom>
          <a:noFill/>
          <a:ln/>
        </p:spPr>
        <p:txBody>
          <a:bodyPr wrap="square" lIns="0" tIns="0" rIns="0" bIns="0" rtlCol="0" anchor="t"/>
          <a:lstStyle/>
          <a:p>
            <a:pPr indent="0" marL="0">
              <a:buNone/>
            </a:pPr>
            <a:r>
              <a:rPr lang="en-US" sz="1400" b="1" dirty="0">
                <a:solidFill>
                  <a:schemeClr val="tx1"/>
                </a:solidFill>
              </a:rPr>
              <a:t>Control nodes</a:t>
            </a:r>
            <a:endParaRPr lang="en-US" sz="1400" dirty="0"/>
          </a:p>
        </p:txBody>
      </p:sp>
      <p:sp>
        <p:nvSpPr>
          <p:cNvPr id="20" name="Text 13"/>
          <p:cNvSpPr txBox="1"/>
          <p:nvPr/>
        </p:nvSpPr>
        <p:spPr>
          <a:xfrm>
            <a:off x="6903720" y="3977640"/>
            <a:ext cx="1737360" cy="502920"/>
          </a:xfrm>
          <a:prstGeom prst="rect">
            <a:avLst/>
          </a:prstGeom>
          <a:noFill/>
          <a:ln/>
        </p:spPr>
        <p:txBody>
          <a:bodyPr wrap="square" lIns="0" tIns="0" rIns="0" bIns="0" rtlCol="0" anchor="t"/>
          <a:lstStyle/>
          <a:p>
            <a:pPr indent="0" marL="0">
              <a:buNone/>
            </a:pPr>
            <a:r>
              <a:rPr lang="en-US" sz="1200" dirty="0">
                <a:solidFill>
                  <a:schemeClr val="tx2"/>
                </a:solidFill>
              </a:rPr>
              <a:t>Joint commands, both arms</a:t>
            </a:r>
            <a:endParaRPr lang="en-US" sz="12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Model Performance Evaluation</a:t>
            </a:r>
            <a:endParaRPr lang="en-US" sz="3000" dirty="0"/>
          </a:p>
        </p:txBody>
      </p:sp>
      <p:graphicFrame>
        <p:nvGraphicFramePr>
          <p:cNvPr id="4" name="Chart 0" descr=""/>
          <p:cNvGraphicFramePr/>
          <p:nvPr/>
        </p:nvGraphicFramePr>
        <p:xfrm>
          <a:off x="365760" y="1051560"/>
          <a:ext cx="5303520" cy="361188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5943600" y="1097280"/>
            <a:ext cx="2743200" cy="960120"/>
          </a:xfrm>
          <a:prstGeom prst="roundRect">
            <a:avLst>
              <a:gd name="adj" fmla="val 9524"/>
            </a:avLst>
          </a:prstGeom>
          <a:solidFill>
            <a:schemeClr val="accent1"/>
          </a:solidFill>
          <a:ln w="12700">
            <a:solidFill>
              <a:schemeClr val="accent1"/>
            </a:solidFill>
            <a:prstDash val="solid"/>
          </a:ln>
          <a:effectLst>
            <a:outerShdw sx="100000" sy="100000" kx="0" ky="0" algn="bl" rotWithShape="0" blurRad="101600" dist="25400" dir="5400000">
              <a:srgbClr val="000000">
                <a:alpha val="14000"/>
              </a:srgbClr>
            </a:outerShdw>
          </a:effectLst>
        </p:spPr>
      </p:sp>
      <p:sp>
        <p:nvSpPr>
          <p:cNvPr id="6" name="Text 2"/>
          <p:cNvSpPr txBox="1"/>
          <p:nvPr/>
        </p:nvSpPr>
        <p:spPr>
          <a:xfrm>
            <a:off x="5943600" y="1188720"/>
            <a:ext cx="2743200" cy="502920"/>
          </a:xfrm>
          <a:prstGeom prst="rect">
            <a:avLst/>
          </a:prstGeom>
          <a:noFill/>
          <a:ln/>
        </p:spPr>
        <p:txBody>
          <a:bodyPr wrap="square" lIns="0" tIns="0" rIns="0" bIns="0" rtlCol="0" anchor="t"/>
          <a:lstStyle/>
          <a:p>
            <a:pPr algn="ctr" indent="0" marL="0">
              <a:buNone/>
            </a:pPr>
            <a:r>
              <a:rPr lang="en-US" sz="2800" b="1" dirty="0">
                <a:solidFill>
                  <a:schemeClr val="bg1"/>
                </a:solidFill>
                <a:latin typeface="Cambria" pitchFamily="34" charset="0"/>
                <a:ea typeface="Cambria" pitchFamily="34" charset="-122"/>
                <a:cs typeface="Cambria" pitchFamily="34" charset="-120"/>
              </a:rPr>
              <a:t>0.990</a:t>
            </a:r>
            <a:endParaRPr lang="en-US" sz="2800" dirty="0"/>
          </a:p>
        </p:txBody>
      </p:sp>
      <p:sp>
        <p:nvSpPr>
          <p:cNvPr id="7" name="Text 3"/>
          <p:cNvSpPr txBox="1"/>
          <p:nvPr/>
        </p:nvSpPr>
        <p:spPr>
          <a:xfrm>
            <a:off x="6035040" y="1691640"/>
            <a:ext cx="2560320" cy="320040"/>
          </a:xfrm>
          <a:prstGeom prst="rect">
            <a:avLst/>
          </a:prstGeom>
          <a:noFill/>
          <a:ln/>
        </p:spPr>
        <p:txBody>
          <a:bodyPr wrap="square" lIns="0" tIns="0" rIns="0" bIns="0" rtlCol="0" anchor="t"/>
          <a:lstStyle/>
          <a:p>
            <a:pPr algn="ctr" indent="0" marL="0">
              <a:buNone/>
            </a:pPr>
            <a:r>
              <a:rPr lang="en-US" sz="1200" dirty="0">
                <a:solidFill>
                  <a:schemeClr val="bg1"/>
                </a:solidFill>
              </a:rPr>
              <a:t>overall mAP@0.5 (YOLOv8n)</a:t>
            </a:r>
            <a:endParaRPr lang="en-US" sz="1200" dirty="0"/>
          </a:p>
        </p:txBody>
      </p:sp>
      <p:sp>
        <p:nvSpPr>
          <p:cNvPr id="8" name="card"/>
          <p:cNvSpPr/>
          <p:nvPr/>
        </p:nvSpPr>
        <p:spPr>
          <a:xfrm>
            <a:off x="5943600" y="2240280"/>
            <a:ext cx="2743200" cy="694944"/>
          </a:xfrm>
          <a:prstGeom prst="roundRect">
            <a:avLst>
              <a:gd name="adj" fmla="val 13158"/>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Text 5"/>
          <p:cNvSpPr txBox="1"/>
          <p:nvPr/>
        </p:nvSpPr>
        <p:spPr>
          <a:xfrm>
            <a:off x="6080760" y="2304288"/>
            <a:ext cx="2468880" cy="274320"/>
          </a:xfrm>
          <a:prstGeom prst="rect">
            <a:avLst/>
          </a:prstGeom>
          <a:noFill/>
          <a:ln/>
        </p:spPr>
        <p:txBody>
          <a:bodyPr wrap="square" lIns="0" tIns="0" rIns="0" bIns="0" rtlCol="0" anchor="t"/>
          <a:lstStyle/>
          <a:p>
            <a:pPr indent="0" marL="0">
              <a:buNone/>
            </a:pPr>
            <a:r>
              <a:rPr lang="en-US" sz="1400" b="1" dirty="0">
                <a:solidFill>
                  <a:schemeClr val="tx1"/>
                </a:solidFill>
              </a:rPr>
              <a:t>Precision</a:t>
            </a:r>
            <a:endParaRPr lang="en-US" sz="1400" dirty="0"/>
          </a:p>
        </p:txBody>
      </p:sp>
      <p:sp>
        <p:nvSpPr>
          <p:cNvPr id="10" name="Text 6"/>
          <p:cNvSpPr txBox="1"/>
          <p:nvPr/>
        </p:nvSpPr>
        <p:spPr>
          <a:xfrm>
            <a:off x="6080760" y="2606040"/>
            <a:ext cx="2468880" cy="274320"/>
          </a:xfrm>
          <a:prstGeom prst="rect">
            <a:avLst/>
          </a:prstGeom>
          <a:noFill/>
          <a:ln/>
        </p:spPr>
        <p:txBody>
          <a:bodyPr wrap="square" lIns="0" tIns="0" rIns="0" bIns="0" rtlCol="0" anchor="t"/>
          <a:lstStyle/>
          <a:p>
            <a:pPr indent="0" marL="0">
              <a:buNone/>
            </a:pPr>
            <a:r>
              <a:rPr lang="en-US" sz="1200" dirty="0">
                <a:solidFill>
                  <a:schemeClr val="tx2"/>
                </a:solidFill>
              </a:rPr>
              <a:t>Detections that are correct</a:t>
            </a:r>
            <a:endParaRPr lang="en-US" sz="1200" dirty="0"/>
          </a:p>
        </p:txBody>
      </p:sp>
      <p:sp>
        <p:nvSpPr>
          <p:cNvPr id="11" name="card"/>
          <p:cNvSpPr/>
          <p:nvPr/>
        </p:nvSpPr>
        <p:spPr>
          <a:xfrm>
            <a:off x="5943600" y="3044952"/>
            <a:ext cx="2743200" cy="694944"/>
          </a:xfrm>
          <a:prstGeom prst="roundRect">
            <a:avLst>
              <a:gd name="adj" fmla="val 13158"/>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2" name="Text 8"/>
          <p:cNvSpPr txBox="1"/>
          <p:nvPr/>
        </p:nvSpPr>
        <p:spPr>
          <a:xfrm>
            <a:off x="6080760" y="3108960"/>
            <a:ext cx="2468880" cy="274320"/>
          </a:xfrm>
          <a:prstGeom prst="rect">
            <a:avLst/>
          </a:prstGeom>
          <a:noFill/>
          <a:ln/>
        </p:spPr>
        <p:txBody>
          <a:bodyPr wrap="square" lIns="0" tIns="0" rIns="0" bIns="0" rtlCol="0" anchor="t"/>
          <a:lstStyle/>
          <a:p>
            <a:pPr indent="0" marL="0">
              <a:buNone/>
            </a:pPr>
            <a:r>
              <a:rPr lang="en-US" sz="1400" b="1" dirty="0">
                <a:solidFill>
                  <a:schemeClr val="tx1"/>
                </a:solidFill>
              </a:rPr>
              <a:t>Recall</a:t>
            </a:r>
            <a:endParaRPr lang="en-US" sz="1400" dirty="0"/>
          </a:p>
        </p:txBody>
      </p:sp>
      <p:sp>
        <p:nvSpPr>
          <p:cNvPr id="13" name="Text 9"/>
          <p:cNvSpPr txBox="1"/>
          <p:nvPr/>
        </p:nvSpPr>
        <p:spPr>
          <a:xfrm>
            <a:off x="6080760" y="3410712"/>
            <a:ext cx="2468880" cy="274320"/>
          </a:xfrm>
          <a:prstGeom prst="rect">
            <a:avLst/>
          </a:prstGeom>
          <a:noFill/>
          <a:ln/>
        </p:spPr>
        <p:txBody>
          <a:bodyPr wrap="square" lIns="0" tIns="0" rIns="0" bIns="0" rtlCol="0" anchor="t"/>
          <a:lstStyle/>
          <a:p>
            <a:pPr indent="0" marL="0">
              <a:buNone/>
            </a:pPr>
            <a:r>
              <a:rPr lang="en-US" sz="1200" dirty="0">
                <a:solidFill>
                  <a:schemeClr val="tx2"/>
                </a:solidFill>
              </a:rPr>
              <a:t>Real objects that are found</a:t>
            </a:r>
            <a:endParaRPr lang="en-US" sz="1200" dirty="0"/>
          </a:p>
        </p:txBody>
      </p:sp>
      <p:sp>
        <p:nvSpPr>
          <p:cNvPr id="14" name="card"/>
          <p:cNvSpPr/>
          <p:nvPr/>
        </p:nvSpPr>
        <p:spPr>
          <a:xfrm>
            <a:off x="5943600" y="3849624"/>
            <a:ext cx="2743200" cy="694944"/>
          </a:xfrm>
          <a:prstGeom prst="roundRect">
            <a:avLst>
              <a:gd name="adj" fmla="val 13158"/>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11"/>
          <p:cNvSpPr txBox="1"/>
          <p:nvPr/>
        </p:nvSpPr>
        <p:spPr>
          <a:xfrm>
            <a:off x="6080760" y="3913632"/>
            <a:ext cx="2468880" cy="274320"/>
          </a:xfrm>
          <a:prstGeom prst="rect">
            <a:avLst/>
          </a:prstGeom>
          <a:noFill/>
          <a:ln/>
        </p:spPr>
        <p:txBody>
          <a:bodyPr wrap="square" lIns="0" tIns="0" rIns="0" bIns="0" rtlCol="0" anchor="t"/>
          <a:lstStyle/>
          <a:p>
            <a:pPr indent="0" marL="0">
              <a:buNone/>
            </a:pPr>
            <a:r>
              <a:rPr lang="en-US" sz="1400" b="1" dirty="0">
                <a:solidFill>
                  <a:schemeClr val="tx1"/>
                </a:solidFill>
              </a:rPr>
              <a:t>F1-score</a:t>
            </a:r>
            <a:endParaRPr lang="en-US" sz="1400" dirty="0"/>
          </a:p>
        </p:txBody>
      </p:sp>
      <p:sp>
        <p:nvSpPr>
          <p:cNvPr id="16" name="Text 12"/>
          <p:cNvSpPr txBox="1"/>
          <p:nvPr/>
        </p:nvSpPr>
        <p:spPr>
          <a:xfrm>
            <a:off x="6080760" y="4215384"/>
            <a:ext cx="2468880" cy="274320"/>
          </a:xfrm>
          <a:prstGeom prst="rect">
            <a:avLst/>
          </a:prstGeom>
          <a:noFill/>
          <a:ln/>
        </p:spPr>
        <p:txBody>
          <a:bodyPr wrap="square" lIns="0" tIns="0" rIns="0" bIns="0" rtlCol="0" anchor="t"/>
          <a:lstStyle/>
          <a:p>
            <a:pPr indent="0" marL="0">
              <a:buNone/>
            </a:pPr>
            <a:r>
              <a:rPr lang="en-US" sz="1200" dirty="0">
                <a:solidFill>
                  <a:schemeClr val="tx2"/>
                </a:solidFill>
              </a:rPr>
              <a:t>Balance of precision and recall</a:t>
            </a:r>
            <a:endParaRPr lang="en-US" sz="12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Evaluation Curves</a:t>
            </a:r>
            <a:endParaRPr lang="en-US" sz="3000" dirty="0"/>
          </a:p>
        </p:txBody>
      </p:sp>
      <p:sp>
        <p:nvSpPr>
          <p:cNvPr id="4" name="Text 1"/>
          <p:cNvSpPr txBox="1"/>
          <p:nvPr/>
        </p:nvSpPr>
        <p:spPr>
          <a:xfrm>
            <a:off x="457200" y="1051560"/>
            <a:ext cx="3931920" cy="256032"/>
          </a:xfrm>
          <a:prstGeom prst="rect">
            <a:avLst/>
          </a:prstGeom>
          <a:noFill/>
          <a:ln/>
        </p:spPr>
        <p:txBody>
          <a:bodyPr wrap="square" lIns="0" tIns="0" rIns="0" bIns="0" rtlCol="0" anchor="t"/>
          <a:lstStyle/>
          <a:p>
            <a:pPr algn="ctr" indent="0" marL="0">
              <a:buNone/>
            </a:pPr>
            <a:r>
              <a:rPr lang="en-US" sz="1300" b="1" dirty="0">
                <a:solidFill>
                  <a:schemeClr val="accent1"/>
                </a:solidFill>
              </a:rPr>
              <a:t>YOLOv8: F1 vs Confidence</a:t>
            </a:r>
            <a:endParaRPr lang="en-US" sz="1300" dirty="0"/>
          </a:p>
        </p:txBody>
      </p:sp>
      <p:sp>
        <p:nvSpPr>
          <p:cNvPr id="5" name="Shape 2"/>
          <p:cNvSpPr/>
          <p:nvPr/>
        </p:nvSpPr>
        <p:spPr>
          <a:xfrm>
            <a:off x="1271780" y="1289304"/>
            <a:ext cx="2302761" cy="1572768"/>
          </a:xfrm>
          <a:prstGeom prst="roundRect">
            <a:avLst>
              <a:gd name="adj" fmla="val 3488"/>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pic>
        <p:nvPicPr>
          <p:cNvPr id="6" name="Image 0" descr="YOLOv8: F1 vs Confidence">    </p:cNvPr>
          <p:cNvPicPr>
            <a:picLocks noChangeAspect="1"/>
          </p:cNvPicPr>
          <p:nvPr/>
        </p:nvPicPr>
        <p:blipFill>
          <a:blip r:embed="rId1"/>
          <a:stretch>
            <a:fillRect/>
          </a:stretch>
        </p:blipFill>
        <p:spPr>
          <a:xfrm>
            <a:off x="1326644" y="1344168"/>
            <a:ext cx="2193033" cy="1463040"/>
          </a:xfrm>
          <a:prstGeom prst="rect">
            <a:avLst/>
          </a:prstGeom>
        </p:spPr>
      </p:pic>
      <p:sp>
        <p:nvSpPr>
          <p:cNvPr id="7" name="Text 3"/>
          <p:cNvSpPr txBox="1"/>
          <p:nvPr/>
        </p:nvSpPr>
        <p:spPr>
          <a:xfrm>
            <a:off x="4754880" y="1051560"/>
            <a:ext cx="3931920" cy="256032"/>
          </a:xfrm>
          <a:prstGeom prst="rect">
            <a:avLst/>
          </a:prstGeom>
          <a:noFill/>
          <a:ln/>
        </p:spPr>
        <p:txBody>
          <a:bodyPr wrap="square" lIns="0" tIns="0" rIns="0" bIns="0" rtlCol="0" anchor="t"/>
          <a:lstStyle/>
          <a:p>
            <a:pPr algn="ctr" indent="0" marL="0">
              <a:buNone/>
            </a:pPr>
            <a:r>
              <a:rPr lang="en-US" sz="1300" b="1" dirty="0">
                <a:solidFill>
                  <a:schemeClr val="accent1"/>
                </a:solidFill>
              </a:rPr>
              <a:t>YOLOv8: Recall vs Confidence</a:t>
            </a:r>
            <a:endParaRPr lang="en-US" sz="1300" dirty="0"/>
          </a:p>
        </p:txBody>
      </p:sp>
      <p:sp>
        <p:nvSpPr>
          <p:cNvPr id="8" name="Shape 4"/>
          <p:cNvSpPr/>
          <p:nvPr/>
        </p:nvSpPr>
        <p:spPr>
          <a:xfrm>
            <a:off x="5568696" y="1289304"/>
            <a:ext cx="2304288" cy="1572768"/>
          </a:xfrm>
          <a:prstGeom prst="roundRect">
            <a:avLst>
              <a:gd name="adj" fmla="val 3488"/>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pic>
        <p:nvPicPr>
          <p:cNvPr id="9" name="Image 1" descr="YOLOv8: Recall vs Confidence">    </p:cNvPr>
          <p:cNvPicPr>
            <a:picLocks noChangeAspect="1"/>
          </p:cNvPicPr>
          <p:nvPr/>
        </p:nvPicPr>
        <p:blipFill>
          <a:blip r:embed="rId2"/>
          <a:stretch>
            <a:fillRect/>
          </a:stretch>
        </p:blipFill>
        <p:spPr>
          <a:xfrm>
            <a:off x="5623560" y="1344168"/>
            <a:ext cx="2194560" cy="1463040"/>
          </a:xfrm>
          <a:prstGeom prst="rect">
            <a:avLst/>
          </a:prstGeom>
        </p:spPr>
      </p:pic>
      <p:sp>
        <p:nvSpPr>
          <p:cNvPr id="10" name="Text 5"/>
          <p:cNvSpPr txBox="1"/>
          <p:nvPr/>
        </p:nvSpPr>
        <p:spPr>
          <a:xfrm>
            <a:off x="457200" y="2880360"/>
            <a:ext cx="3931920" cy="256032"/>
          </a:xfrm>
          <a:prstGeom prst="rect">
            <a:avLst/>
          </a:prstGeom>
          <a:noFill/>
          <a:ln/>
        </p:spPr>
        <p:txBody>
          <a:bodyPr wrap="square" lIns="0" tIns="0" rIns="0" bIns="0" rtlCol="0" anchor="t"/>
          <a:lstStyle/>
          <a:p>
            <a:pPr algn="ctr" indent="0" marL="0">
              <a:buNone/>
            </a:pPr>
            <a:r>
              <a:rPr lang="en-US" sz="1300" b="1" dirty="0">
                <a:solidFill>
                  <a:schemeClr val="accent4"/>
                </a:solidFill>
              </a:rPr>
              <a:t>YOLOv8n: Precision vs Recall</a:t>
            </a:r>
            <a:endParaRPr lang="en-US" sz="1300" dirty="0"/>
          </a:p>
        </p:txBody>
      </p:sp>
      <p:sp>
        <p:nvSpPr>
          <p:cNvPr id="11" name="Shape 6"/>
          <p:cNvSpPr/>
          <p:nvPr/>
        </p:nvSpPr>
        <p:spPr>
          <a:xfrm>
            <a:off x="1271016" y="3118104"/>
            <a:ext cx="2304288" cy="1572768"/>
          </a:xfrm>
          <a:prstGeom prst="roundRect">
            <a:avLst>
              <a:gd name="adj" fmla="val 3488"/>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pic>
        <p:nvPicPr>
          <p:cNvPr id="12" name="Image 2" descr="YOLOv8n: Precision vs Recall">    </p:cNvPr>
          <p:cNvPicPr>
            <a:picLocks noChangeAspect="1"/>
          </p:cNvPicPr>
          <p:nvPr/>
        </p:nvPicPr>
        <p:blipFill>
          <a:blip r:embed="rId3"/>
          <a:stretch>
            <a:fillRect/>
          </a:stretch>
        </p:blipFill>
        <p:spPr>
          <a:xfrm>
            <a:off x="1325880" y="3172968"/>
            <a:ext cx="2194560" cy="1463040"/>
          </a:xfrm>
          <a:prstGeom prst="rect">
            <a:avLst/>
          </a:prstGeom>
        </p:spPr>
      </p:pic>
      <p:sp>
        <p:nvSpPr>
          <p:cNvPr id="13" name="Text 7"/>
          <p:cNvSpPr txBox="1"/>
          <p:nvPr/>
        </p:nvSpPr>
        <p:spPr>
          <a:xfrm>
            <a:off x="4754880" y="2880360"/>
            <a:ext cx="3931920" cy="256032"/>
          </a:xfrm>
          <a:prstGeom prst="rect">
            <a:avLst/>
          </a:prstGeom>
          <a:noFill/>
          <a:ln/>
        </p:spPr>
        <p:txBody>
          <a:bodyPr wrap="square" lIns="0" tIns="0" rIns="0" bIns="0" rtlCol="0" anchor="t"/>
          <a:lstStyle/>
          <a:p>
            <a:pPr algn="ctr" indent="0" marL="0">
              <a:buNone/>
            </a:pPr>
            <a:r>
              <a:rPr lang="en-US" sz="1300" b="1" dirty="0">
                <a:solidFill>
                  <a:schemeClr val="accent4"/>
                </a:solidFill>
              </a:rPr>
              <a:t>YOLOv8n: F1 vs Confidence</a:t>
            </a:r>
            <a:endParaRPr lang="en-US" sz="1300" dirty="0"/>
          </a:p>
        </p:txBody>
      </p:sp>
      <p:sp>
        <p:nvSpPr>
          <p:cNvPr id="14" name="Shape 8"/>
          <p:cNvSpPr/>
          <p:nvPr/>
        </p:nvSpPr>
        <p:spPr>
          <a:xfrm>
            <a:off x="5567913" y="3118104"/>
            <a:ext cx="2305854" cy="1572768"/>
          </a:xfrm>
          <a:prstGeom prst="roundRect">
            <a:avLst>
              <a:gd name="adj" fmla="val 3488"/>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pic>
        <p:nvPicPr>
          <p:cNvPr id="15" name="Image 3" descr="YOLOv8n: F1 vs Confidence">    </p:cNvPr>
          <p:cNvPicPr>
            <a:picLocks noChangeAspect="1"/>
          </p:cNvPicPr>
          <p:nvPr/>
        </p:nvPicPr>
        <p:blipFill>
          <a:blip r:embed="rId4"/>
          <a:stretch>
            <a:fillRect/>
          </a:stretch>
        </p:blipFill>
        <p:spPr>
          <a:xfrm>
            <a:off x="5622777" y="3172968"/>
            <a:ext cx="2196126" cy="1463040"/>
          </a:xfrm>
          <a:prstGeom prst="rect">
            <a:avLst/>
          </a:prstGeom>
        </p:spPr>
      </p:pic>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Challenges and How I Solved Them</a:t>
            </a:r>
            <a:endParaRPr lang="en-US" sz="3000" dirty="0"/>
          </a:p>
        </p:txBody>
      </p:sp>
      <p:sp>
        <p:nvSpPr>
          <p:cNvPr id="4" name="card"/>
          <p:cNvSpPr/>
          <p:nvPr/>
        </p:nvSpPr>
        <p:spPr>
          <a:xfrm>
            <a:off x="457200" y="1097280"/>
            <a:ext cx="822960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5" name="Text 2"/>
          <p:cNvSpPr txBox="1"/>
          <p:nvPr/>
        </p:nvSpPr>
        <p:spPr>
          <a:xfrm>
            <a:off x="640080" y="1097280"/>
            <a:ext cx="2377440" cy="777240"/>
          </a:xfrm>
          <a:prstGeom prst="rect">
            <a:avLst/>
          </a:prstGeom>
          <a:noFill/>
          <a:ln/>
        </p:spPr>
        <p:txBody>
          <a:bodyPr wrap="square" lIns="0" tIns="0" rIns="0" bIns="0" rtlCol="0" anchor="ctr"/>
          <a:lstStyle/>
          <a:p>
            <a:pPr indent="0" marL="0">
              <a:buNone/>
            </a:pPr>
            <a:r>
              <a:rPr lang="en-US" sz="1500" b="1" dirty="0">
                <a:solidFill>
                  <a:schemeClr val="accent4"/>
                </a:solidFill>
              </a:rPr>
              <a:t>Poor accuracy</a:t>
            </a:r>
            <a:endParaRPr lang="en-US" sz="1500" dirty="0"/>
          </a:p>
        </p:txBody>
      </p:sp>
      <p:sp>
        <p:nvSpPr>
          <p:cNvPr id="6" name="Text 3"/>
          <p:cNvSpPr txBox="1"/>
          <p:nvPr/>
        </p:nvSpPr>
        <p:spPr>
          <a:xfrm>
            <a:off x="3108960" y="1097280"/>
            <a:ext cx="2743200" cy="777240"/>
          </a:xfrm>
          <a:prstGeom prst="rect">
            <a:avLst/>
          </a:prstGeom>
          <a:noFill/>
          <a:ln/>
        </p:spPr>
        <p:txBody>
          <a:bodyPr wrap="square" lIns="0" tIns="0" rIns="0" bIns="0" rtlCol="0" anchor="ctr"/>
          <a:lstStyle/>
          <a:p>
            <a:pPr indent="0" marL="0">
              <a:buNone/>
            </a:pPr>
            <a:r>
              <a:rPr lang="en-US" sz="1300" dirty="0">
                <a:solidFill>
                  <a:schemeClr val="tx2"/>
                </a:solidFill>
              </a:rPr>
              <a:t>Cause: Small initial dataset</a:t>
            </a:r>
            <a:endParaRPr lang="en-US" sz="1300" dirty="0"/>
          </a:p>
        </p:txBody>
      </p:sp>
      <p:sp>
        <p:nvSpPr>
          <p:cNvPr id="7" name="Shape 4"/>
          <p:cNvSpPr/>
          <p:nvPr/>
        </p:nvSpPr>
        <p:spPr>
          <a:xfrm>
            <a:off x="5806440" y="1344168"/>
            <a:ext cx="365760" cy="274320"/>
          </a:xfrm>
          <a:prstGeom prst="rightArrow">
            <a:avLst/>
          </a:prstGeom>
          <a:solidFill>
            <a:schemeClr val="accent5"/>
          </a:solidFill>
          <a:ln w="12700">
            <a:solidFill>
              <a:schemeClr val="accent5"/>
            </a:solidFill>
            <a:prstDash val="solid"/>
          </a:ln>
        </p:spPr>
      </p:sp>
      <p:sp>
        <p:nvSpPr>
          <p:cNvPr id="8" name="card"/>
          <p:cNvSpPr/>
          <p:nvPr/>
        </p:nvSpPr>
        <p:spPr>
          <a:xfrm>
            <a:off x="6309360" y="1188720"/>
            <a:ext cx="2240280" cy="594360"/>
          </a:xfrm>
          <a:prstGeom prst="roundRect">
            <a:avLst>
              <a:gd name="adj" fmla="val 15385"/>
            </a:avLst>
          </a:prstGeom>
          <a:solidFill>
            <a:schemeClr val="accent3"/>
          </a:solidFill>
          <a:ln w="12700">
            <a:solidFill>
              <a:schemeClr val="accent3"/>
            </a:solidFill>
            <a:prstDash val="solid"/>
          </a:ln>
          <a:effectLst>
            <a:outerShdw sx="100000" sy="100000" kx="0" ky="0" algn="bl" rotWithShape="0" blurRad="101600" dist="25400" dir="5400000">
              <a:srgbClr val="000000">
                <a:alpha val="14000"/>
              </a:srgbClr>
            </a:outerShdw>
          </a:effectLst>
        </p:spPr>
      </p:sp>
      <p:sp>
        <p:nvSpPr>
          <p:cNvPr id="9" name="Text 6"/>
          <p:cNvSpPr txBox="1"/>
          <p:nvPr/>
        </p:nvSpPr>
        <p:spPr>
          <a:xfrm>
            <a:off x="6309360" y="1188720"/>
            <a:ext cx="2240280" cy="594360"/>
          </a:xfrm>
          <a:prstGeom prst="rect">
            <a:avLst/>
          </a:prstGeom>
          <a:noFill/>
          <a:ln/>
        </p:spPr>
        <p:txBody>
          <a:bodyPr wrap="square" lIns="0" tIns="0" rIns="0" bIns="0" rtlCol="0" anchor="ctr"/>
          <a:lstStyle/>
          <a:p>
            <a:pPr algn="ctr" indent="0" marL="0">
              <a:buNone/>
            </a:pPr>
            <a:r>
              <a:rPr lang="en-US" sz="1300" b="1" dirty="0">
                <a:solidFill>
                  <a:schemeClr val="bg1"/>
                </a:solidFill>
              </a:rPr>
              <a:t>More training images</a:t>
            </a:r>
            <a:endParaRPr lang="en-US" sz="1300" dirty="0"/>
          </a:p>
        </p:txBody>
      </p:sp>
      <p:sp>
        <p:nvSpPr>
          <p:cNvPr id="10" name="card"/>
          <p:cNvSpPr/>
          <p:nvPr/>
        </p:nvSpPr>
        <p:spPr>
          <a:xfrm>
            <a:off x="457200" y="1993392"/>
            <a:ext cx="822960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1" name="Text 8"/>
          <p:cNvSpPr txBox="1"/>
          <p:nvPr/>
        </p:nvSpPr>
        <p:spPr>
          <a:xfrm>
            <a:off x="640080" y="1993392"/>
            <a:ext cx="2377440" cy="777240"/>
          </a:xfrm>
          <a:prstGeom prst="rect">
            <a:avLst/>
          </a:prstGeom>
          <a:noFill/>
          <a:ln/>
        </p:spPr>
        <p:txBody>
          <a:bodyPr wrap="square" lIns="0" tIns="0" rIns="0" bIns="0" rtlCol="0" anchor="ctr"/>
          <a:lstStyle/>
          <a:p>
            <a:pPr indent="0" marL="0">
              <a:buNone/>
            </a:pPr>
            <a:r>
              <a:rPr lang="en-US" sz="1500" b="1" dirty="0">
                <a:solidFill>
                  <a:schemeClr val="accent4"/>
                </a:solidFill>
              </a:rPr>
              <a:t>Depth script errors</a:t>
            </a:r>
            <a:endParaRPr lang="en-US" sz="1500" dirty="0"/>
          </a:p>
        </p:txBody>
      </p:sp>
      <p:sp>
        <p:nvSpPr>
          <p:cNvPr id="12" name="Text 9"/>
          <p:cNvSpPr txBox="1"/>
          <p:nvPr/>
        </p:nvSpPr>
        <p:spPr>
          <a:xfrm>
            <a:off x="3108960" y="1993392"/>
            <a:ext cx="2743200" cy="777240"/>
          </a:xfrm>
          <a:prstGeom prst="rect">
            <a:avLst/>
          </a:prstGeom>
          <a:noFill/>
          <a:ln/>
        </p:spPr>
        <p:txBody>
          <a:bodyPr wrap="square" lIns="0" tIns="0" rIns="0" bIns="0" rtlCol="0" anchor="ctr"/>
          <a:lstStyle/>
          <a:p>
            <a:pPr indent="0" marL="0">
              <a:buNone/>
            </a:pPr>
            <a:r>
              <a:rPr lang="en-US" sz="1300" dirty="0">
                <a:solidFill>
                  <a:schemeClr val="tx2"/>
                </a:solidFill>
              </a:rPr>
              <a:t>Cause: Replicator syntax issues</a:t>
            </a:r>
            <a:endParaRPr lang="en-US" sz="1300" dirty="0"/>
          </a:p>
        </p:txBody>
      </p:sp>
      <p:sp>
        <p:nvSpPr>
          <p:cNvPr id="13" name="Shape 10"/>
          <p:cNvSpPr/>
          <p:nvPr/>
        </p:nvSpPr>
        <p:spPr>
          <a:xfrm>
            <a:off x="5806440" y="2240280"/>
            <a:ext cx="365760" cy="274320"/>
          </a:xfrm>
          <a:prstGeom prst="rightArrow">
            <a:avLst/>
          </a:prstGeom>
          <a:solidFill>
            <a:schemeClr val="accent5"/>
          </a:solidFill>
          <a:ln w="12700">
            <a:solidFill>
              <a:schemeClr val="accent5"/>
            </a:solidFill>
            <a:prstDash val="solid"/>
          </a:ln>
        </p:spPr>
      </p:sp>
      <p:sp>
        <p:nvSpPr>
          <p:cNvPr id="14" name="card"/>
          <p:cNvSpPr/>
          <p:nvPr/>
        </p:nvSpPr>
        <p:spPr>
          <a:xfrm>
            <a:off x="6309360" y="2084832"/>
            <a:ext cx="2240280" cy="594360"/>
          </a:xfrm>
          <a:prstGeom prst="roundRect">
            <a:avLst>
              <a:gd name="adj" fmla="val 15385"/>
            </a:avLst>
          </a:prstGeom>
          <a:solidFill>
            <a:schemeClr val="accent3"/>
          </a:solidFill>
          <a:ln w="12700">
            <a:solidFill>
              <a:schemeClr val="accent3"/>
            </a:solidFill>
            <a:prstDash val="solid"/>
          </a:ln>
          <a:effectLst>
            <a:outerShdw sx="100000" sy="100000" kx="0" ky="0" algn="bl" rotWithShape="0" blurRad="101600" dist="25400" dir="5400000">
              <a:srgbClr val="000000">
                <a:alpha val="14000"/>
              </a:srgbClr>
            </a:outerShdw>
          </a:effectLst>
        </p:spPr>
      </p:sp>
      <p:sp>
        <p:nvSpPr>
          <p:cNvPr id="15" name="Text 12"/>
          <p:cNvSpPr txBox="1"/>
          <p:nvPr/>
        </p:nvSpPr>
        <p:spPr>
          <a:xfrm>
            <a:off x="6309360" y="2084832"/>
            <a:ext cx="2240280" cy="594360"/>
          </a:xfrm>
          <a:prstGeom prst="rect">
            <a:avLst/>
          </a:prstGeom>
          <a:noFill/>
          <a:ln/>
        </p:spPr>
        <p:txBody>
          <a:bodyPr wrap="square" lIns="0" tIns="0" rIns="0" bIns="0" rtlCol="0" anchor="ctr"/>
          <a:lstStyle/>
          <a:p>
            <a:pPr algn="ctr" indent="0" marL="0">
              <a:buNone/>
            </a:pPr>
            <a:r>
              <a:rPr lang="en-US" sz="1300" b="1" dirty="0">
                <a:solidFill>
                  <a:schemeClr val="bg1"/>
                </a:solidFill>
              </a:rPr>
              <a:t>ROS 2 Action Graph</a:t>
            </a:r>
            <a:endParaRPr lang="en-US" sz="1300" dirty="0"/>
          </a:p>
        </p:txBody>
      </p:sp>
      <p:sp>
        <p:nvSpPr>
          <p:cNvPr id="16" name="card"/>
          <p:cNvSpPr/>
          <p:nvPr/>
        </p:nvSpPr>
        <p:spPr>
          <a:xfrm>
            <a:off x="457200" y="2889504"/>
            <a:ext cx="822960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7" name="Text 14"/>
          <p:cNvSpPr txBox="1"/>
          <p:nvPr/>
        </p:nvSpPr>
        <p:spPr>
          <a:xfrm>
            <a:off x="640080" y="2889504"/>
            <a:ext cx="2377440" cy="777240"/>
          </a:xfrm>
          <a:prstGeom prst="rect">
            <a:avLst/>
          </a:prstGeom>
          <a:noFill/>
          <a:ln/>
        </p:spPr>
        <p:txBody>
          <a:bodyPr wrap="square" lIns="0" tIns="0" rIns="0" bIns="0" rtlCol="0" anchor="ctr"/>
          <a:lstStyle/>
          <a:p>
            <a:pPr indent="0" marL="0">
              <a:buNone/>
            </a:pPr>
            <a:r>
              <a:rPr lang="en-US" sz="1500" b="1" dirty="0">
                <a:solidFill>
                  <a:schemeClr val="accent4"/>
                </a:solidFill>
              </a:rPr>
              <a:t>Wrong coordinates</a:t>
            </a:r>
            <a:endParaRPr lang="en-US" sz="1500" dirty="0"/>
          </a:p>
        </p:txBody>
      </p:sp>
      <p:sp>
        <p:nvSpPr>
          <p:cNvPr id="18" name="Text 15"/>
          <p:cNvSpPr txBox="1"/>
          <p:nvPr/>
        </p:nvSpPr>
        <p:spPr>
          <a:xfrm>
            <a:off x="3108960" y="2889504"/>
            <a:ext cx="2743200" cy="777240"/>
          </a:xfrm>
          <a:prstGeom prst="rect">
            <a:avLst/>
          </a:prstGeom>
          <a:noFill/>
          <a:ln/>
        </p:spPr>
        <p:txBody>
          <a:bodyPr wrap="square" lIns="0" tIns="0" rIns="0" bIns="0" rtlCol="0" anchor="ctr"/>
          <a:lstStyle/>
          <a:p>
            <a:pPr indent="0" marL="0">
              <a:buNone/>
            </a:pPr>
            <a:r>
              <a:rPr lang="en-US" sz="1300" dirty="0">
                <a:solidFill>
                  <a:schemeClr val="tx2"/>
                </a:solidFill>
              </a:rPr>
              <a:t>Cause: Frames not aligned</a:t>
            </a:r>
            <a:endParaRPr lang="en-US" sz="1300" dirty="0"/>
          </a:p>
        </p:txBody>
      </p:sp>
      <p:sp>
        <p:nvSpPr>
          <p:cNvPr id="19" name="Shape 16"/>
          <p:cNvSpPr/>
          <p:nvPr/>
        </p:nvSpPr>
        <p:spPr>
          <a:xfrm>
            <a:off x="5806440" y="3136392"/>
            <a:ext cx="365760" cy="274320"/>
          </a:xfrm>
          <a:prstGeom prst="rightArrow">
            <a:avLst/>
          </a:prstGeom>
          <a:solidFill>
            <a:schemeClr val="accent5"/>
          </a:solidFill>
          <a:ln w="12700">
            <a:solidFill>
              <a:schemeClr val="accent5"/>
            </a:solidFill>
            <a:prstDash val="solid"/>
          </a:ln>
        </p:spPr>
      </p:sp>
      <p:sp>
        <p:nvSpPr>
          <p:cNvPr id="20" name="card"/>
          <p:cNvSpPr/>
          <p:nvPr/>
        </p:nvSpPr>
        <p:spPr>
          <a:xfrm>
            <a:off x="6309360" y="2980944"/>
            <a:ext cx="2240280" cy="594360"/>
          </a:xfrm>
          <a:prstGeom prst="roundRect">
            <a:avLst>
              <a:gd name="adj" fmla="val 15385"/>
            </a:avLst>
          </a:prstGeom>
          <a:solidFill>
            <a:schemeClr val="accent3"/>
          </a:solidFill>
          <a:ln w="12700">
            <a:solidFill>
              <a:schemeClr val="accent3"/>
            </a:solidFill>
            <a:prstDash val="solid"/>
          </a:ln>
          <a:effectLst>
            <a:outerShdw sx="100000" sy="100000" kx="0" ky="0" algn="bl" rotWithShape="0" blurRad="101600" dist="25400" dir="5400000">
              <a:srgbClr val="000000">
                <a:alpha val="14000"/>
              </a:srgbClr>
            </a:outerShdw>
          </a:effectLst>
        </p:spPr>
      </p:sp>
      <p:sp>
        <p:nvSpPr>
          <p:cNvPr id="21" name="Text 18"/>
          <p:cNvSpPr txBox="1"/>
          <p:nvPr/>
        </p:nvSpPr>
        <p:spPr>
          <a:xfrm>
            <a:off x="6309360" y="2980944"/>
            <a:ext cx="2240280" cy="594360"/>
          </a:xfrm>
          <a:prstGeom prst="rect">
            <a:avLst/>
          </a:prstGeom>
          <a:noFill/>
          <a:ln/>
        </p:spPr>
        <p:txBody>
          <a:bodyPr wrap="square" lIns="0" tIns="0" rIns="0" bIns="0" rtlCol="0" anchor="ctr"/>
          <a:lstStyle/>
          <a:p>
            <a:pPr algn="ctr" indent="0" marL="0">
              <a:buNone/>
            </a:pPr>
            <a:r>
              <a:rPr lang="en-US" sz="1300" b="1" dirty="0">
                <a:solidFill>
                  <a:schemeClr val="bg1"/>
                </a:solidFill>
              </a:rPr>
              <a:t>Configured TF correctly</a:t>
            </a:r>
            <a:endParaRPr lang="en-US" sz="1300" dirty="0"/>
          </a:p>
        </p:txBody>
      </p:sp>
      <p:sp>
        <p:nvSpPr>
          <p:cNvPr id="22" name="card"/>
          <p:cNvSpPr/>
          <p:nvPr/>
        </p:nvSpPr>
        <p:spPr>
          <a:xfrm>
            <a:off x="457200" y="3785616"/>
            <a:ext cx="822960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3" name="Text 20"/>
          <p:cNvSpPr txBox="1"/>
          <p:nvPr/>
        </p:nvSpPr>
        <p:spPr>
          <a:xfrm>
            <a:off x="640080" y="3785616"/>
            <a:ext cx="2377440" cy="777240"/>
          </a:xfrm>
          <a:prstGeom prst="rect">
            <a:avLst/>
          </a:prstGeom>
          <a:noFill/>
          <a:ln/>
        </p:spPr>
        <p:txBody>
          <a:bodyPr wrap="square" lIns="0" tIns="0" rIns="0" bIns="0" rtlCol="0" anchor="ctr"/>
          <a:lstStyle/>
          <a:p>
            <a:pPr indent="0" marL="0">
              <a:buNone/>
            </a:pPr>
            <a:r>
              <a:rPr lang="en-US" sz="1500" b="1" dirty="0">
                <a:solidFill>
                  <a:schemeClr val="accent4"/>
                </a:solidFill>
              </a:rPr>
              <a:t>IK not converging</a:t>
            </a:r>
            <a:endParaRPr lang="en-US" sz="1500" dirty="0"/>
          </a:p>
        </p:txBody>
      </p:sp>
      <p:sp>
        <p:nvSpPr>
          <p:cNvPr id="24" name="Text 21"/>
          <p:cNvSpPr txBox="1"/>
          <p:nvPr/>
        </p:nvSpPr>
        <p:spPr>
          <a:xfrm>
            <a:off x="3108960" y="3785616"/>
            <a:ext cx="2743200" cy="777240"/>
          </a:xfrm>
          <a:prstGeom prst="rect">
            <a:avLst/>
          </a:prstGeom>
          <a:noFill/>
          <a:ln/>
        </p:spPr>
        <p:txBody>
          <a:bodyPr wrap="square" lIns="0" tIns="0" rIns="0" bIns="0" rtlCol="0" anchor="ctr"/>
          <a:lstStyle/>
          <a:p>
            <a:pPr indent="0" marL="0">
              <a:buNone/>
            </a:pPr>
            <a:r>
              <a:rPr lang="en-US" sz="1300" dirty="0">
                <a:solidFill>
                  <a:schemeClr val="tx2"/>
                </a:solidFill>
              </a:rPr>
              <a:t>Cause: MoveIt / other solvers</a:t>
            </a:r>
            <a:endParaRPr lang="en-US" sz="1300" dirty="0"/>
          </a:p>
        </p:txBody>
      </p:sp>
      <p:sp>
        <p:nvSpPr>
          <p:cNvPr id="25" name="Shape 22"/>
          <p:cNvSpPr/>
          <p:nvPr/>
        </p:nvSpPr>
        <p:spPr>
          <a:xfrm>
            <a:off x="5806440" y="4032504"/>
            <a:ext cx="365760" cy="274320"/>
          </a:xfrm>
          <a:prstGeom prst="rightArrow">
            <a:avLst/>
          </a:prstGeom>
          <a:solidFill>
            <a:schemeClr val="accent5"/>
          </a:solidFill>
          <a:ln w="12700">
            <a:solidFill>
              <a:schemeClr val="accent5"/>
            </a:solidFill>
            <a:prstDash val="solid"/>
          </a:ln>
        </p:spPr>
      </p:sp>
      <p:sp>
        <p:nvSpPr>
          <p:cNvPr id="26" name="card"/>
          <p:cNvSpPr/>
          <p:nvPr/>
        </p:nvSpPr>
        <p:spPr>
          <a:xfrm>
            <a:off x="6309360" y="3877056"/>
            <a:ext cx="2240280" cy="594360"/>
          </a:xfrm>
          <a:prstGeom prst="roundRect">
            <a:avLst>
              <a:gd name="adj" fmla="val 15385"/>
            </a:avLst>
          </a:prstGeom>
          <a:solidFill>
            <a:schemeClr val="accent3"/>
          </a:solidFill>
          <a:ln w="12700">
            <a:solidFill>
              <a:schemeClr val="accent3"/>
            </a:solidFill>
            <a:prstDash val="solid"/>
          </a:ln>
          <a:effectLst>
            <a:outerShdw sx="100000" sy="100000" kx="0" ky="0" algn="bl" rotWithShape="0" blurRad="101600" dist="25400" dir="5400000">
              <a:srgbClr val="000000">
                <a:alpha val="14000"/>
              </a:srgbClr>
            </a:outerShdw>
          </a:effectLst>
        </p:spPr>
      </p:sp>
      <p:sp>
        <p:nvSpPr>
          <p:cNvPr id="27" name="Text 24"/>
          <p:cNvSpPr txBox="1"/>
          <p:nvPr/>
        </p:nvSpPr>
        <p:spPr>
          <a:xfrm>
            <a:off x="6309360" y="3877056"/>
            <a:ext cx="2240280" cy="594360"/>
          </a:xfrm>
          <a:prstGeom prst="rect">
            <a:avLst/>
          </a:prstGeom>
          <a:noFill/>
          <a:ln/>
        </p:spPr>
        <p:txBody>
          <a:bodyPr wrap="square" lIns="0" tIns="0" rIns="0" bIns="0" rtlCol="0" anchor="ctr"/>
          <a:lstStyle/>
          <a:p>
            <a:pPr algn="ctr" indent="0" marL="0">
              <a:buNone/>
            </a:pPr>
            <a:r>
              <a:rPr lang="en-US" sz="1300" b="1" dirty="0">
                <a:solidFill>
                  <a:schemeClr val="bg1"/>
                </a:solidFill>
              </a:rPr>
              <a:t>MATLAB Robotics Toolbox</a:t>
            </a:r>
            <a:endParaRPr lang="en-US" sz="13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My Contribution and Learning</a:t>
            </a:r>
            <a:endParaRPr lang="en-US" sz="3000" dirty="0"/>
          </a:p>
        </p:txBody>
      </p:sp>
      <p:sp>
        <p:nvSpPr>
          <p:cNvPr id="4" name="card"/>
          <p:cNvSpPr/>
          <p:nvPr/>
        </p:nvSpPr>
        <p:spPr>
          <a:xfrm>
            <a:off x="457200" y="1097280"/>
            <a:ext cx="2560320" cy="3520440"/>
          </a:xfrm>
          <a:prstGeom prst="roundRect">
            <a:avLst>
              <a:gd name="adj" fmla="val 3571"/>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5" name="Shape 2"/>
          <p:cNvSpPr/>
          <p:nvPr/>
        </p:nvSpPr>
        <p:spPr>
          <a:xfrm>
            <a:off x="640080" y="1234440"/>
            <a:ext cx="548640" cy="548640"/>
          </a:xfrm>
          <a:prstGeom prst="ellipse">
            <a:avLst/>
          </a:prstGeom>
          <a:solidFill>
            <a:schemeClr val="accent1"/>
          </a:solidFill>
          <a:ln w="12700">
            <a:solidFill>
              <a:schemeClr val="accent1"/>
            </a:solidFill>
            <a:prstDash val="solid"/>
          </a:ln>
        </p:spPr>
      </p:sp>
      <p:pic>
        <p:nvPicPr>
          <p:cNvPr id="6" name="Image 0" descr="FaTools">    </p:cNvPr>
          <p:cNvPicPr>
            <a:picLocks noChangeAspect="1"/>
          </p:cNvPicPr>
          <p:nvPr/>
        </p:nvPicPr>
        <p:blipFill>
          <a:blip r:embed="rId1"/>
          <a:stretch>
            <a:fillRect/>
          </a:stretch>
        </p:blipFill>
        <p:spPr>
          <a:xfrm>
            <a:off x="777240" y="1371600"/>
            <a:ext cx="274320" cy="274320"/>
          </a:xfrm>
          <a:prstGeom prst="rect">
            <a:avLst/>
          </a:prstGeom>
        </p:spPr>
      </p:pic>
      <p:sp>
        <p:nvSpPr>
          <p:cNvPr id="7" name="Text 3"/>
          <p:cNvSpPr txBox="1"/>
          <p:nvPr/>
        </p:nvSpPr>
        <p:spPr>
          <a:xfrm>
            <a:off x="640080" y="1920240"/>
            <a:ext cx="2286000" cy="320040"/>
          </a:xfrm>
          <a:prstGeom prst="rect">
            <a:avLst/>
          </a:prstGeom>
          <a:noFill/>
          <a:ln/>
        </p:spPr>
        <p:txBody>
          <a:bodyPr wrap="square" lIns="0" tIns="0" rIns="0" bIns="0" rtlCol="0" anchor="t"/>
          <a:lstStyle/>
          <a:p>
            <a:pPr indent="0" marL="0">
              <a:buNone/>
            </a:pPr>
            <a:r>
              <a:rPr lang="en-US" sz="1600" b="1" dirty="0">
                <a:solidFill>
                  <a:schemeClr val="tx1"/>
                </a:solidFill>
              </a:rPr>
              <a:t>Contribution</a:t>
            </a:r>
            <a:endParaRPr lang="en-US" sz="1600" dirty="0"/>
          </a:p>
        </p:txBody>
      </p:sp>
      <p:sp>
        <p:nvSpPr>
          <p:cNvPr id="8" name="Text 4"/>
          <p:cNvSpPr txBox="1"/>
          <p:nvPr/>
        </p:nvSpPr>
        <p:spPr>
          <a:xfrm>
            <a:off x="640080" y="2377440"/>
            <a:ext cx="2194560" cy="640080"/>
          </a:xfrm>
          <a:prstGeom prst="rect">
            <a:avLst/>
          </a:prstGeom>
          <a:noFill/>
          <a:ln/>
        </p:spPr>
        <p:txBody>
          <a:bodyPr wrap="square" lIns="0" tIns="0" rIns="0" bIns="0" rtlCol="0" anchor="t"/>
          <a:lstStyle/>
          <a:p>
            <a:pPr marL="342900" indent="-342900">
              <a:buSzPct val="100000"/>
              <a:buChar char="•"/>
            </a:pPr>
            <a:r>
              <a:rPr lang="en-US" sz="1400" dirty="0">
                <a:solidFill>
                  <a:schemeClr val="tx2"/>
                </a:solidFill>
              </a:rPr>
              <a:t>Dual-arm robot in Isaac Sim with ROS 2</a:t>
            </a:r>
            <a:endParaRPr lang="en-US" sz="1400" dirty="0"/>
          </a:p>
        </p:txBody>
      </p:sp>
      <p:sp>
        <p:nvSpPr>
          <p:cNvPr id="9" name="Text 5"/>
          <p:cNvSpPr txBox="1"/>
          <p:nvPr/>
        </p:nvSpPr>
        <p:spPr>
          <a:xfrm>
            <a:off x="640080" y="3090672"/>
            <a:ext cx="2194560" cy="640080"/>
          </a:xfrm>
          <a:prstGeom prst="rect">
            <a:avLst/>
          </a:prstGeom>
          <a:noFill/>
          <a:ln/>
        </p:spPr>
        <p:txBody>
          <a:bodyPr wrap="square" lIns="0" tIns="0" rIns="0" bIns="0" rtlCol="0" anchor="t"/>
          <a:lstStyle/>
          <a:p>
            <a:pPr marL="342900" indent="-342900">
              <a:buSzPct val="100000"/>
              <a:buChar char="•"/>
            </a:pPr>
            <a:r>
              <a:rPr lang="en-US" sz="1400" dirty="0">
                <a:solidFill>
                  <a:schemeClr val="tx2"/>
                </a:solidFill>
              </a:rPr>
              <a:t>MATLAB joint-angle calculations</a:t>
            </a:r>
            <a:endParaRPr lang="en-US" sz="1400" dirty="0"/>
          </a:p>
        </p:txBody>
      </p:sp>
      <p:sp>
        <p:nvSpPr>
          <p:cNvPr id="10" name="Text 6"/>
          <p:cNvSpPr txBox="1"/>
          <p:nvPr/>
        </p:nvSpPr>
        <p:spPr>
          <a:xfrm>
            <a:off x="640080" y="3803904"/>
            <a:ext cx="2194560" cy="640080"/>
          </a:xfrm>
          <a:prstGeom prst="rect">
            <a:avLst/>
          </a:prstGeom>
          <a:noFill/>
          <a:ln/>
        </p:spPr>
        <p:txBody>
          <a:bodyPr wrap="square" lIns="0" tIns="0" rIns="0" bIns="0" rtlCol="0" anchor="t"/>
          <a:lstStyle/>
          <a:p>
            <a:pPr marL="342900" indent="-342900">
              <a:buSzPct val="100000"/>
              <a:buChar char="•"/>
            </a:pPr>
            <a:r>
              <a:rPr lang="en-US" sz="1400" dirty="0">
                <a:solidFill>
                  <a:schemeClr val="tx2"/>
                </a:solidFill>
              </a:rPr>
              <a:t>Action Graph node connections</a:t>
            </a:r>
            <a:endParaRPr lang="en-US" sz="1400" dirty="0"/>
          </a:p>
        </p:txBody>
      </p:sp>
      <p:sp>
        <p:nvSpPr>
          <p:cNvPr id="11" name="card"/>
          <p:cNvSpPr/>
          <p:nvPr/>
        </p:nvSpPr>
        <p:spPr>
          <a:xfrm>
            <a:off x="3291840" y="1097280"/>
            <a:ext cx="2560320" cy="3520440"/>
          </a:xfrm>
          <a:prstGeom prst="roundRect">
            <a:avLst>
              <a:gd name="adj" fmla="val 3571"/>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2" name="Shape 8"/>
          <p:cNvSpPr/>
          <p:nvPr/>
        </p:nvSpPr>
        <p:spPr>
          <a:xfrm>
            <a:off x="3474720" y="1234440"/>
            <a:ext cx="548640" cy="548640"/>
          </a:xfrm>
          <a:prstGeom prst="ellipse">
            <a:avLst/>
          </a:prstGeom>
          <a:solidFill>
            <a:schemeClr val="accent2"/>
          </a:solidFill>
          <a:ln w="12700">
            <a:solidFill>
              <a:schemeClr val="accent2"/>
            </a:solidFill>
            <a:prstDash val="solid"/>
          </a:ln>
        </p:spPr>
      </p:sp>
      <p:pic>
        <p:nvPicPr>
          <p:cNvPr id="13" name="Image 1" descr="FaGraduationCap">    </p:cNvPr>
          <p:cNvPicPr>
            <a:picLocks noChangeAspect="1"/>
          </p:cNvPicPr>
          <p:nvPr/>
        </p:nvPicPr>
        <p:blipFill>
          <a:blip r:embed="rId2"/>
          <a:stretch>
            <a:fillRect/>
          </a:stretch>
        </p:blipFill>
        <p:spPr>
          <a:xfrm>
            <a:off x="3611880" y="1371600"/>
            <a:ext cx="274320" cy="274320"/>
          </a:xfrm>
          <a:prstGeom prst="rect">
            <a:avLst/>
          </a:prstGeom>
        </p:spPr>
      </p:pic>
      <p:sp>
        <p:nvSpPr>
          <p:cNvPr id="14" name="Text 9"/>
          <p:cNvSpPr txBox="1"/>
          <p:nvPr/>
        </p:nvSpPr>
        <p:spPr>
          <a:xfrm>
            <a:off x="3474720" y="1920240"/>
            <a:ext cx="2286000" cy="320040"/>
          </a:xfrm>
          <a:prstGeom prst="rect">
            <a:avLst/>
          </a:prstGeom>
          <a:noFill/>
          <a:ln/>
        </p:spPr>
        <p:txBody>
          <a:bodyPr wrap="square" lIns="0" tIns="0" rIns="0" bIns="0" rtlCol="0" anchor="t"/>
          <a:lstStyle/>
          <a:p>
            <a:pPr indent="0" marL="0">
              <a:buNone/>
            </a:pPr>
            <a:r>
              <a:rPr lang="en-US" sz="1600" b="1" dirty="0">
                <a:solidFill>
                  <a:schemeClr val="tx1"/>
                </a:solidFill>
              </a:rPr>
              <a:t>Learning</a:t>
            </a:r>
            <a:endParaRPr lang="en-US" sz="1600" dirty="0"/>
          </a:p>
        </p:txBody>
      </p:sp>
      <p:sp>
        <p:nvSpPr>
          <p:cNvPr id="15" name="Text 10"/>
          <p:cNvSpPr txBox="1"/>
          <p:nvPr/>
        </p:nvSpPr>
        <p:spPr>
          <a:xfrm>
            <a:off x="3474720" y="2377440"/>
            <a:ext cx="2194560" cy="640080"/>
          </a:xfrm>
          <a:prstGeom prst="rect">
            <a:avLst/>
          </a:prstGeom>
          <a:noFill/>
          <a:ln/>
        </p:spPr>
        <p:txBody>
          <a:bodyPr wrap="square" lIns="0" tIns="0" rIns="0" bIns="0" rtlCol="0" anchor="t"/>
          <a:lstStyle/>
          <a:p>
            <a:pPr marL="342900" indent="-342900">
              <a:buSzPct val="100000"/>
              <a:buChar char="•"/>
            </a:pPr>
            <a:r>
              <a:rPr lang="en-US" sz="1400" dirty="0">
                <a:solidFill>
                  <a:schemeClr val="tx2"/>
                </a:solidFill>
              </a:rPr>
              <a:t>NVIDIA Isaac Sim</a:t>
            </a:r>
            <a:endParaRPr lang="en-US" sz="1400" dirty="0"/>
          </a:p>
        </p:txBody>
      </p:sp>
      <p:sp>
        <p:nvSpPr>
          <p:cNvPr id="16" name="Text 11"/>
          <p:cNvSpPr txBox="1"/>
          <p:nvPr/>
        </p:nvSpPr>
        <p:spPr>
          <a:xfrm>
            <a:off x="3474720" y="3090672"/>
            <a:ext cx="2194560" cy="640080"/>
          </a:xfrm>
          <a:prstGeom prst="rect">
            <a:avLst/>
          </a:prstGeom>
          <a:noFill/>
          <a:ln/>
        </p:spPr>
        <p:txBody>
          <a:bodyPr wrap="square" lIns="0" tIns="0" rIns="0" bIns="0" rtlCol="0" anchor="t"/>
          <a:lstStyle/>
          <a:p>
            <a:pPr marL="342900" indent="-342900">
              <a:buSzPct val="100000"/>
              <a:buChar char="•"/>
            </a:pPr>
            <a:r>
              <a:rPr lang="en-US" sz="1400" dirty="0">
                <a:solidFill>
                  <a:schemeClr val="tx2"/>
                </a:solidFill>
              </a:rPr>
              <a:t>ROS 2 Action Graph and TF</a:t>
            </a:r>
            <a:endParaRPr lang="en-US" sz="1400" dirty="0"/>
          </a:p>
        </p:txBody>
      </p:sp>
      <p:sp>
        <p:nvSpPr>
          <p:cNvPr id="17" name="Text 12"/>
          <p:cNvSpPr txBox="1"/>
          <p:nvPr/>
        </p:nvSpPr>
        <p:spPr>
          <a:xfrm>
            <a:off x="3474720" y="3803904"/>
            <a:ext cx="2194560" cy="640080"/>
          </a:xfrm>
          <a:prstGeom prst="rect">
            <a:avLst/>
          </a:prstGeom>
          <a:noFill/>
          <a:ln/>
        </p:spPr>
        <p:txBody>
          <a:bodyPr wrap="square" lIns="0" tIns="0" rIns="0" bIns="0" rtlCol="0" anchor="t"/>
          <a:lstStyle/>
          <a:p>
            <a:pPr marL="342900" indent="-342900">
              <a:buSzPct val="100000"/>
              <a:buChar char="•"/>
            </a:pPr>
            <a:r>
              <a:rPr lang="en-US" sz="1400" dirty="0">
                <a:solidFill>
                  <a:schemeClr val="tx2"/>
                </a:solidFill>
              </a:rPr>
              <a:t>Inverse kinematics</a:t>
            </a:r>
            <a:endParaRPr lang="en-US" sz="1400" dirty="0"/>
          </a:p>
        </p:txBody>
      </p:sp>
      <p:sp>
        <p:nvSpPr>
          <p:cNvPr id="18" name="card"/>
          <p:cNvSpPr/>
          <p:nvPr/>
        </p:nvSpPr>
        <p:spPr>
          <a:xfrm>
            <a:off x="6126480" y="1097280"/>
            <a:ext cx="2560320" cy="3520440"/>
          </a:xfrm>
          <a:prstGeom prst="roundRect">
            <a:avLst>
              <a:gd name="adj" fmla="val 3571"/>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9" name="Shape 14"/>
          <p:cNvSpPr/>
          <p:nvPr/>
        </p:nvSpPr>
        <p:spPr>
          <a:xfrm>
            <a:off x="6309360" y="1234440"/>
            <a:ext cx="548640" cy="548640"/>
          </a:xfrm>
          <a:prstGeom prst="ellipse">
            <a:avLst/>
          </a:prstGeom>
          <a:solidFill>
            <a:schemeClr val="accent4"/>
          </a:solidFill>
          <a:ln w="12700">
            <a:solidFill>
              <a:schemeClr val="accent4"/>
            </a:solidFill>
            <a:prstDash val="solid"/>
          </a:ln>
        </p:spPr>
      </p:sp>
      <p:pic>
        <p:nvPicPr>
          <p:cNvPr id="20" name="Image 2" descr="FaExclamationTriangle">    </p:cNvPr>
          <p:cNvPicPr>
            <a:picLocks noChangeAspect="1"/>
          </p:cNvPicPr>
          <p:nvPr/>
        </p:nvPicPr>
        <p:blipFill>
          <a:blip r:embed="rId3"/>
          <a:stretch>
            <a:fillRect/>
          </a:stretch>
        </p:blipFill>
        <p:spPr>
          <a:xfrm>
            <a:off x="6446520" y="1371600"/>
            <a:ext cx="274320" cy="274320"/>
          </a:xfrm>
          <a:prstGeom prst="rect">
            <a:avLst/>
          </a:prstGeom>
        </p:spPr>
      </p:pic>
      <p:sp>
        <p:nvSpPr>
          <p:cNvPr id="21" name="Text 15"/>
          <p:cNvSpPr txBox="1"/>
          <p:nvPr/>
        </p:nvSpPr>
        <p:spPr>
          <a:xfrm>
            <a:off x="6309360" y="1920240"/>
            <a:ext cx="2286000" cy="320040"/>
          </a:xfrm>
          <a:prstGeom prst="rect">
            <a:avLst/>
          </a:prstGeom>
          <a:noFill/>
          <a:ln/>
        </p:spPr>
        <p:txBody>
          <a:bodyPr wrap="square" lIns="0" tIns="0" rIns="0" bIns="0" rtlCol="0" anchor="t"/>
          <a:lstStyle/>
          <a:p>
            <a:pPr indent="0" marL="0">
              <a:buNone/>
            </a:pPr>
            <a:r>
              <a:rPr lang="en-US" sz="1600" b="1" dirty="0">
                <a:solidFill>
                  <a:schemeClr val="tx1"/>
                </a:solidFill>
              </a:rPr>
              <a:t>Limitations and ethics</a:t>
            </a:r>
            <a:endParaRPr lang="en-US" sz="1600" dirty="0"/>
          </a:p>
        </p:txBody>
      </p:sp>
      <p:sp>
        <p:nvSpPr>
          <p:cNvPr id="22" name="Text 16"/>
          <p:cNvSpPr txBox="1"/>
          <p:nvPr/>
        </p:nvSpPr>
        <p:spPr>
          <a:xfrm>
            <a:off x="6309360" y="2377440"/>
            <a:ext cx="2194560" cy="640080"/>
          </a:xfrm>
          <a:prstGeom prst="rect">
            <a:avLst/>
          </a:prstGeom>
          <a:noFill/>
          <a:ln/>
        </p:spPr>
        <p:txBody>
          <a:bodyPr wrap="square" lIns="0" tIns="0" rIns="0" bIns="0" rtlCol="0" anchor="t"/>
          <a:lstStyle/>
          <a:p>
            <a:pPr marL="342900" indent="-342900">
              <a:buSzPct val="100000"/>
              <a:buChar char="•"/>
            </a:pPr>
            <a:r>
              <a:rPr lang="en-US" sz="1400" dirty="0">
                <a:solidFill>
                  <a:schemeClr val="tx2"/>
                </a:solidFill>
              </a:rPr>
              <a:t>Path mismatches affected accuracy</a:t>
            </a:r>
            <a:endParaRPr lang="en-US" sz="1400" dirty="0"/>
          </a:p>
        </p:txBody>
      </p:sp>
      <p:sp>
        <p:nvSpPr>
          <p:cNvPr id="23" name="Text 17"/>
          <p:cNvSpPr txBox="1"/>
          <p:nvPr/>
        </p:nvSpPr>
        <p:spPr>
          <a:xfrm>
            <a:off x="6309360" y="3090672"/>
            <a:ext cx="2194560" cy="640080"/>
          </a:xfrm>
          <a:prstGeom prst="rect">
            <a:avLst/>
          </a:prstGeom>
          <a:noFill/>
          <a:ln/>
        </p:spPr>
        <p:txBody>
          <a:bodyPr wrap="square" lIns="0" tIns="0" rIns="0" bIns="0" rtlCol="0" anchor="t"/>
          <a:lstStyle/>
          <a:p>
            <a:pPr marL="342900" indent="-342900">
              <a:buSzPct val="100000"/>
              <a:buChar char="•"/>
            </a:pPr>
            <a:r>
              <a:rPr lang="en-US" sz="1400" dirty="0">
                <a:solidFill>
                  <a:schemeClr val="tx2"/>
                </a:solidFill>
              </a:rPr>
              <a:t>IK errors reduced coordination</a:t>
            </a:r>
            <a:endParaRPr lang="en-US" sz="1400" dirty="0"/>
          </a:p>
        </p:txBody>
      </p:sp>
      <p:sp>
        <p:nvSpPr>
          <p:cNvPr id="24" name="Text 18"/>
          <p:cNvSpPr txBox="1"/>
          <p:nvPr/>
        </p:nvSpPr>
        <p:spPr>
          <a:xfrm>
            <a:off x="6309360" y="3803904"/>
            <a:ext cx="2194560" cy="640080"/>
          </a:xfrm>
          <a:prstGeom prst="rect">
            <a:avLst/>
          </a:prstGeom>
          <a:noFill/>
          <a:ln/>
        </p:spPr>
        <p:txBody>
          <a:bodyPr wrap="square" lIns="0" tIns="0" rIns="0" bIns="0" rtlCol="0" anchor="t"/>
          <a:lstStyle/>
          <a:p>
            <a:pPr marL="342900" indent="-342900">
              <a:buSzPct val="100000"/>
              <a:buChar char="•"/>
            </a:pPr>
            <a:r>
              <a:rPr lang="en-US" sz="1400" dirty="0">
                <a:solidFill>
                  <a:schemeClr val="tx2"/>
                </a:solidFill>
              </a:rPr>
              <a:t>Simulation only: validate safety first</a:t>
            </a:r>
            <a:endParaRPr lang="en-US" sz="14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bg1"/>
                </a:solidFill>
              </a:rPr>
              <a:t>Conclusion and Future Scope</a:t>
            </a:r>
            <a:endParaRPr lang="en-US" sz="3000" dirty="0"/>
          </a:p>
        </p:txBody>
      </p:sp>
      <p:sp>
        <p:nvSpPr>
          <p:cNvPr id="4" name="Text 1"/>
          <p:cNvSpPr txBox="1"/>
          <p:nvPr/>
        </p:nvSpPr>
        <p:spPr>
          <a:xfrm>
            <a:off x="457200" y="1097280"/>
            <a:ext cx="3931920" cy="274320"/>
          </a:xfrm>
          <a:prstGeom prst="rect">
            <a:avLst/>
          </a:prstGeom>
          <a:noFill/>
          <a:ln/>
        </p:spPr>
        <p:txBody>
          <a:bodyPr wrap="square" lIns="0" tIns="0" rIns="0" bIns="0" rtlCol="0" anchor="t"/>
          <a:lstStyle/>
          <a:p>
            <a:pPr indent="0" marL="0">
              <a:buNone/>
            </a:pPr>
            <a:r>
              <a:rPr lang="en-US" sz="1600" b="1" dirty="0">
                <a:solidFill>
                  <a:schemeClr val="accent2"/>
                </a:solidFill>
              </a:rPr>
              <a:t>What was achieved</a:t>
            </a:r>
            <a:endParaRPr lang="en-US" sz="1600" dirty="0"/>
          </a:p>
        </p:txBody>
      </p:sp>
      <p:sp>
        <p:nvSpPr>
          <p:cNvPr id="5" name="Shape 2"/>
          <p:cNvSpPr/>
          <p:nvPr/>
        </p:nvSpPr>
        <p:spPr>
          <a:xfrm>
            <a:off x="457200" y="1554480"/>
            <a:ext cx="274320" cy="274320"/>
          </a:xfrm>
          <a:prstGeom prst="ellipse">
            <a:avLst/>
          </a:prstGeom>
          <a:solidFill>
            <a:schemeClr val="accent1"/>
          </a:solidFill>
          <a:ln w="12700">
            <a:solidFill>
              <a:schemeClr val="accent1"/>
            </a:solidFill>
            <a:prstDash val="solid"/>
          </a:ln>
        </p:spPr>
      </p:sp>
      <p:pic>
        <p:nvPicPr>
          <p:cNvPr id="6" name="Image 0" descr="tick">    </p:cNvPr>
          <p:cNvPicPr>
            <a:picLocks noChangeAspect="1"/>
          </p:cNvPicPr>
          <p:nvPr/>
        </p:nvPicPr>
        <p:blipFill>
          <a:blip r:embed="rId1"/>
          <a:stretch>
            <a:fillRect/>
          </a:stretch>
        </p:blipFill>
        <p:spPr>
          <a:xfrm>
            <a:off x="502920" y="1600200"/>
            <a:ext cx="182880" cy="182880"/>
          </a:xfrm>
          <a:prstGeom prst="rect">
            <a:avLst/>
          </a:prstGeom>
        </p:spPr>
      </p:pic>
      <p:sp>
        <p:nvSpPr>
          <p:cNvPr id="7" name="Text 3"/>
          <p:cNvSpPr txBox="1"/>
          <p:nvPr/>
        </p:nvSpPr>
        <p:spPr>
          <a:xfrm>
            <a:off x="868680" y="1508760"/>
            <a:ext cx="3566160" cy="502920"/>
          </a:xfrm>
          <a:prstGeom prst="rect">
            <a:avLst/>
          </a:prstGeom>
          <a:noFill/>
          <a:ln/>
        </p:spPr>
        <p:txBody>
          <a:bodyPr wrap="square" lIns="0" tIns="0" rIns="0" bIns="0" rtlCol="0" anchor="ctr"/>
          <a:lstStyle/>
          <a:p>
            <a:pPr indent="0" marL="0">
              <a:buNone/>
            </a:pPr>
            <a:r>
              <a:rPr lang="en-US" sz="1400" dirty="0">
                <a:solidFill>
                  <a:schemeClr val="bg1"/>
                </a:solidFill>
              </a:rPr>
              <a:t>YOLOv8 detection, mAP@0.5 about 0.99</a:t>
            </a:r>
            <a:endParaRPr lang="en-US" sz="1400" dirty="0"/>
          </a:p>
        </p:txBody>
      </p:sp>
      <p:sp>
        <p:nvSpPr>
          <p:cNvPr id="8" name="Shape 4"/>
          <p:cNvSpPr/>
          <p:nvPr/>
        </p:nvSpPr>
        <p:spPr>
          <a:xfrm>
            <a:off x="457200" y="2157984"/>
            <a:ext cx="274320" cy="274320"/>
          </a:xfrm>
          <a:prstGeom prst="ellipse">
            <a:avLst/>
          </a:prstGeom>
          <a:solidFill>
            <a:schemeClr val="accent1"/>
          </a:solidFill>
          <a:ln w="12700">
            <a:solidFill>
              <a:schemeClr val="accent1"/>
            </a:solidFill>
            <a:prstDash val="solid"/>
          </a:ln>
        </p:spPr>
      </p:sp>
      <p:pic>
        <p:nvPicPr>
          <p:cNvPr id="9" name="Image 1" descr="tick">    </p:cNvPr>
          <p:cNvPicPr>
            <a:picLocks noChangeAspect="1"/>
          </p:cNvPicPr>
          <p:nvPr/>
        </p:nvPicPr>
        <p:blipFill>
          <a:blip r:embed="rId2"/>
          <a:stretch>
            <a:fillRect/>
          </a:stretch>
        </p:blipFill>
        <p:spPr>
          <a:xfrm>
            <a:off x="502920" y="2203704"/>
            <a:ext cx="182880" cy="182880"/>
          </a:xfrm>
          <a:prstGeom prst="rect">
            <a:avLst/>
          </a:prstGeom>
        </p:spPr>
      </p:pic>
      <p:sp>
        <p:nvSpPr>
          <p:cNvPr id="10" name="Text 5"/>
          <p:cNvSpPr txBox="1"/>
          <p:nvPr/>
        </p:nvSpPr>
        <p:spPr>
          <a:xfrm>
            <a:off x="868680" y="2112264"/>
            <a:ext cx="3566160" cy="502920"/>
          </a:xfrm>
          <a:prstGeom prst="rect">
            <a:avLst/>
          </a:prstGeom>
          <a:noFill/>
          <a:ln/>
        </p:spPr>
        <p:txBody>
          <a:bodyPr wrap="square" lIns="0" tIns="0" rIns="0" bIns="0" rtlCol="0" anchor="ctr"/>
          <a:lstStyle/>
          <a:p>
            <a:pPr indent="0" marL="0">
              <a:buNone/>
            </a:pPr>
            <a:r>
              <a:rPr lang="en-US" sz="1400" dirty="0">
                <a:solidFill>
                  <a:schemeClr val="bg1"/>
                </a:solidFill>
              </a:rPr>
              <a:t>Depth fusion: 2D pixel to 3D position</a:t>
            </a:r>
            <a:endParaRPr lang="en-US" sz="1400" dirty="0"/>
          </a:p>
        </p:txBody>
      </p:sp>
      <p:sp>
        <p:nvSpPr>
          <p:cNvPr id="11" name="Shape 6"/>
          <p:cNvSpPr/>
          <p:nvPr/>
        </p:nvSpPr>
        <p:spPr>
          <a:xfrm>
            <a:off x="457200" y="2761488"/>
            <a:ext cx="274320" cy="274320"/>
          </a:xfrm>
          <a:prstGeom prst="ellipse">
            <a:avLst/>
          </a:prstGeom>
          <a:solidFill>
            <a:schemeClr val="accent1"/>
          </a:solidFill>
          <a:ln w="12700">
            <a:solidFill>
              <a:schemeClr val="accent1"/>
            </a:solidFill>
            <a:prstDash val="solid"/>
          </a:ln>
        </p:spPr>
      </p:sp>
      <p:pic>
        <p:nvPicPr>
          <p:cNvPr id="12" name="Image 2" descr="tick">    </p:cNvPr>
          <p:cNvPicPr>
            <a:picLocks noChangeAspect="1"/>
          </p:cNvPicPr>
          <p:nvPr/>
        </p:nvPicPr>
        <p:blipFill>
          <a:blip r:embed="rId3"/>
          <a:stretch>
            <a:fillRect/>
          </a:stretch>
        </p:blipFill>
        <p:spPr>
          <a:xfrm>
            <a:off x="502920" y="2807208"/>
            <a:ext cx="182880" cy="182880"/>
          </a:xfrm>
          <a:prstGeom prst="rect">
            <a:avLst/>
          </a:prstGeom>
        </p:spPr>
      </p:pic>
      <p:sp>
        <p:nvSpPr>
          <p:cNvPr id="13" name="Text 7"/>
          <p:cNvSpPr txBox="1"/>
          <p:nvPr/>
        </p:nvSpPr>
        <p:spPr>
          <a:xfrm>
            <a:off x="868680" y="2715768"/>
            <a:ext cx="3566160" cy="502920"/>
          </a:xfrm>
          <a:prstGeom prst="rect">
            <a:avLst/>
          </a:prstGeom>
          <a:noFill/>
          <a:ln/>
        </p:spPr>
        <p:txBody>
          <a:bodyPr wrap="square" lIns="0" tIns="0" rIns="0" bIns="0" rtlCol="0" anchor="ctr"/>
          <a:lstStyle/>
          <a:p>
            <a:pPr indent="0" marL="0">
              <a:buNone/>
            </a:pPr>
            <a:r>
              <a:rPr lang="en-US" sz="1400" dirty="0">
                <a:solidFill>
                  <a:schemeClr val="bg1"/>
                </a:solidFill>
              </a:rPr>
              <a:t>TF mapping to the robot frame</a:t>
            </a:r>
            <a:endParaRPr lang="en-US" sz="1400" dirty="0"/>
          </a:p>
        </p:txBody>
      </p:sp>
      <p:sp>
        <p:nvSpPr>
          <p:cNvPr id="14" name="Shape 8"/>
          <p:cNvSpPr/>
          <p:nvPr/>
        </p:nvSpPr>
        <p:spPr>
          <a:xfrm>
            <a:off x="457200" y="3364992"/>
            <a:ext cx="274320" cy="274320"/>
          </a:xfrm>
          <a:prstGeom prst="ellipse">
            <a:avLst/>
          </a:prstGeom>
          <a:solidFill>
            <a:schemeClr val="accent1"/>
          </a:solidFill>
          <a:ln w="12700">
            <a:solidFill>
              <a:schemeClr val="accent1"/>
            </a:solidFill>
            <a:prstDash val="solid"/>
          </a:ln>
        </p:spPr>
      </p:sp>
      <p:pic>
        <p:nvPicPr>
          <p:cNvPr id="15" name="Image 3" descr="tick">    </p:cNvPr>
          <p:cNvPicPr>
            <a:picLocks noChangeAspect="1"/>
          </p:cNvPicPr>
          <p:nvPr/>
        </p:nvPicPr>
        <p:blipFill>
          <a:blip r:embed="rId4"/>
          <a:stretch>
            <a:fillRect/>
          </a:stretch>
        </p:blipFill>
        <p:spPr>
          <a:xfrm>
            <a:off x="502920" y="3410712"/>
            <a:ext cx="182880" cy="182880"/>
          </a:xfrm>
          <a:prstGeom prst="rect">
            <a:avLst/>
          </a:prstGeom>
        </p:spPr>
      </p:pic>
      <p:sp>
        <p:nvSpPr>
          <p:cNvPr id="16" name="Text 9"/>
          <p:cNvSpPr txBox="1"/>
          <p:nvPr/>
        </p:nvSpPr>
        <p:spPr>
          <a:xfrm>
            <a:off x="868680" y="3319272"/>
            <a:ext cx="3566160" cy="502920"/>
          </a:xfrm>
          <a:prstGeom prst="rect">
            <a:avLst/>
          </a:prstGeom>
          <a:noFill/>
          <a:ln/>
        </p:spPr>
        <p:txBody>
          <a:bodyPr wrap="square" lIns="0" tIns="0" rIns="0" bIns="0" rtlCol="0" anchor="ctr"/>
          <a:lstStyle/>
          <a:p>
            <a:pPr indent="0" marL="0">
              <a:buNone/>
            </a:pPr>
            <a:r>
              <a:rPr lang="en-US" sz="1400" dirty="0">
                <a:solidFill>
                  <a:schemeClr val="bg1"/>
                </a:solidFill>
              </a:rPr>
              <a:t>MATLAB IK and dual-arm pick-and-place</a:t>
            </a:r>
            <a:endParaRPr lang="en-US" sz="1400" dirty="0"/>
          </a:p>
        </p:txBody>
      </p:sp>
      <p:sp>
        <p:nvSpPr>
          <p:cNvPr id="17" name="Shape 10"/>
          <p:cNvSpPr/>
          <p:nvPr/>
        </p:nvSpPr>
        <p:spPr>
          <a:xfrm>
            <a:off x="457200" y="3968496"/>
            <a:ext cx="274320" cy="274320"/>
          </a:xfrm>
          <a:prstGeom prst="ellipse">
            <a:avLst/>
          </a:prstGeom>
          <a:solidFill>
            <a:schemeClr val="accent1"/>
          </a:solidFill>
          <a:ln w="12700">
            <a:solidFill>
              <a:schemeClr val="accent1"/>
            </a:solidFill>
            <a:prstDash val="solid"/>
          </a:ln>
        </p:spPr>
      </p:sp>
      <p:pic>
        <p:nvPicPr>
          <p:cNvPr id="18" name="Image 4" descr="tick">    </p:cNvPr>
          <p:cNvPicPr>
            <a:picLocks noChangeAspect="1"/>
          </p:cNvPicPr>
          <p:nvPr/>
        </p:nvPicPr>
        <p:blipFill>
          <a:blip r:embed="rId5"/>
          <a:stretch>
            <a:fillRect/>
          </a:stretch>
        </p:blipFill>
        <p:spPr>
          <a:xfrm>
            <a:off x="502920" y="4014216"/>
            <a:ext cx="182880" cy="182880"/>
          </a:xfrm>
          <a:prstGeom prst="rect">
            <a:avLst/>
          </a:prstGeom>
        </p:spPr>
      </p:pic>
      <p:sp>
        <p:nvSpPr>
          <p:cNvPr id="19" name="Text 11"/>
          <p:cNvSpPr txBox="1"/>
          <p:nvPr/>
        </p:nvSpPr>
        <p:spPr>
          <a:xfrm>
            <a:off x="868680" y="3922776"/>
            <a:ext cx="3566160" cy="502920"/>
          </a:xfrm>
          <a:prstGeom prst="rect">
            <a:avLst/>
          </a:prstGeom>
          <a:noFill/>
          <a:ln/>
        </p:spPr>
        <p:txBody>
          <a:bodyPr wrap="square" lIns="0" tIns="0" rIns="0" bIns="0" rtlCol="0" anchor="ctr"/>
          <a:lstStyle/>
          <a:p>
            <a:pPr indent="0" marL="0">
              <a:buNone/>
            </a:pPr>
            <a:r>
              <a:rPr lang="en-US" sz="1400" dirty="0">
                <a:solidFill>
                  <a:schemeClr val="bg1"/>
                </a:solidFill>
              </a:rPr>
              <a:t>Modular ROS 2 architecture, tested safely in simulation</a:t>
            </a:r>
            <a:endParaRPr lang="en-US" sz="1400" dirty="0"/>
          </a:p>
        </p:txBody>
      </p:sp>
      <p:sp>
        <p:nvSpPr>
          <p:cNvPr id="20" name="card"/>
          <p:cNvSpPr/>
          <p:nvPr/>
        </p:nvSpPr>
        <p:spPr>
          <a:xfrm>
            <a:off x="4754880" y="1097280"/>
            <a:ext cx="3931920" cy="3520440"/>
          </a:xfrm>
          <a:prstGeom prst="roundRect">
            <a:avLst>
              <a:gd name="adj" fmla="val 2597"/>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21" name="Text 13"/>
          <p:cNvSpPr txBox="1"/>
          <p:nvPr/>
        </p:nvSpPr>
        <p:spPr>
          <a:xfrm>
            <a:off x="4983480" y="1234440"/>
            <a:ext cx="3474720" cy="274320"/>
          </a:xfrm>
          <a:prstGeom prst="rect">
            <a:avLst/>
          </a:prstGeom>
          <a:noFill/>
          <a:ln/>
        </p:spPr>
        <p:txBody>
          <a:bodyPr wrap="square" lIns="0" tIns="0" rIns="0" bIns="0" rtlCol="0" anchor="t"/>
          <a:lstStyle/>
          <a:p>
            <a:pPr indent="0" marL="0">
              <a:buNone/>
            </a:pPr>
            <a:r>
              <a:rPr lang="en-US" sz="1600" b="1" dirty="0">
                <a:solidFill>
                  <a:schemeClr val="accent2"/>
                </a:solidFill>
              </a:rPr>
              <a:t>Future scope</a:t>
            </a:r>
            <a:endParaRPr lang="en-US" sz="1600" dirty="0"/>
          </a:p>
        </p:txBody>
      </p:sp>
      <p:sp>
        <p:nvSpPr>
          <p:cNvPr id="22" name="Text 14"/>
          <p:cNvSpPr txBox="1"/>
          <p:nvPr/>
        </p:nvSpPr>
        <p:spPr>
          <a:xfrm>
            <a:off x="4983480" y="1691640"/>
            <a:ext cx="3474720" cy="640080"/>
          </a:xfrm>
          <a:prstGeom prst="rect">
            <a:avLst/>
          </a:prstGeom>
          <a:noFill/>
          <a:ln/>
        </p:spPr>
        <p:txBody>
          <a:bodyPr wrap="square" lIns="0" tIns="0" rIns="0" bIns="0" rtlCol="0" anchor="t"/>
          <a:lstStyle/>
          <a:p>
            <a:pPr marL="342900" indent="-342900">
              <a:buSzPct val="100000"/>
              <a:buChar char="•"/>
            </a:pPr>
            <a:r>
              <a:rPr lang="en-US" sz="1400" dirty="0">
                <a:solidFill>
                  <a:schemeClr val="bg1"/>
                </a:solidFill>
              </a:rPr>
              <a:t>Test on a physical dual-arm robot and real camera</a:t>
            </a:r>
            <a:endParaRPr lang="en-US" sz="1400" dirty="0"/>
          </a:p>
        </p:txBody>
      </p:sp>
      <p:sp>
        <p:nvSpPr>
          <p:cNvPr id="23" name="Text 15"/>
          <p:cNvSpPr txBox="1"/>
          <p:nvPr/>
        </p:nvSpPr>
        <p:spPr>
          <a:xfrm>
            <a:off x="4983480" y="2386584"/>
            <a:ext cx="3474720" cy="640080"/>
          </a:xfrm>
          <a:prstGeom prst="rect">
            <a:avLst/>
          </a:prstGeom>
          <a:noFill/>
          <a:ln/>
        </p:spPr>
        <p:txBody>
          <a:bodyPr wrap="square" lIns="0" tIns="0" rIns="0" bIns="0" rtlCol="0" anchor="t"/>
          <a:lstStyle/>
          <a:p>
            <a:pPr marL="342900" indent="-342900">
              <a:buSzPct val="100000"/>
              <a:buChar char="•"/>
            </a:pPr>
            <a:r>
              <a:rPr lang="en-US" sz="1400" dirty="0">
                <a:solidFill>
                  <a:schemeClr val="bg1"/>
                </a:solidFill>
              </a:rPr>
              <a:t>Collision-aware planning, synchronised arms</a:t>
            </a:r>
            <a:endParaRPr lang="en-US" sz="1400" dirty="0"/>
          </a:p>
        </p:txBody>
      </p:sp>
      <p:sp>
        <p:nvSpPr>
          <p:cNvPr id="24" name="Text 16"/>
          <p:cNvSpPr txBox="1"/>
          <p:nvPr/>
        </p:nvSpPr>
        <p:spPr>
          <a:xfrm>
            <a:off x="4983480" y="3081528"/>
            <a:ext cx="3474720" cy="640080"/>
          </a:xfrm>
          <a:prstGeom prst="rect">
            <a:avLst/>
          </a:prstGeom>
          <a:noFill/>
          <a:ln/>
        </p:spPr>
        <p:txBody>
          <a:bodyPr wrap="square" lIns="0" tIns="0" rIns="0" bIns="0" rtlCol="0" anchor="t"/>
          <a:lstStyle/>
          <a:p>
            <a:pPr marL="342900" indent="-342900">
              <a:buSzPct val="100000"/>
              <a:buChar char="•"/>
            </a:pPr>
            <a:r>
              <a:rPr lang="en-US" sz="1400" dirty="0">
                <a:solidFill>
                  <a:schemeClr val="bg1"/>
                </a:solidFill>
              </a:rPr>
              <a:t>Run IK inside ROS 2 for a closed loop</a:t>
            </a:r>
            <a:endParaRPr lang="en-US" sz="1400" dirty="0"/>
          </a:p>
        </p:txBody>
      </p:sp>
      <p:sp>
        <p:nvSpPr>
          <p:cNvPr id="25" name="Text 17"/>
          <p:cNvSpPr txBox="1"/>
          <p:nvPr/>
        </p:nvSpPr>
        <p:spPr>
          <a:xfrm>
            <a:off x="4983480" y="3776472"/>
            <a:ext cx="3474720" cy="640080"/>
          </a:xfrm>
          <a:prstGeom prst="rect">
            <a:avLst/>
          </a:prstGeom>
          <a:noFill/>
          <a:ln/>
        </p:spPr>
        <p:txBody>
          <a:bodyPr wrap="square" lIns="0" tIns="0" rIns="0" bIns="0" rtlCol="0" anchor="t"/>
          <a:lstStyle/>
          <a:p>
            <a:pPr marL="342900" indent="-342900">
              <a:buSzPct val="100000"/>
              <a:buChar char="•"/>
            </a:pPr>
            <a:r>
              <a:rPr lang="en-US" sz="1400" dirty="0">
                <a:solidFill>
                  <a:schemeClr val="bg1"/>
                </a:solidFill>
              </a:rPr>
              <a:t>Clutter and 6D pose estimation</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txBox="1"/>
          <p:nvPr/>
        </p:nvSpPr>
        <p:spPr>
          <a:xfrm>
            <a:off x="457200" y="731520"/>
            <a:ext cx="4114800" cy="82296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4" name="Text 1"/>
          <p:cNvSpPr txBox="1"/>
          <p:nvPr/>
        </p:nvSpPr>
        <p:spPr>
          <a:xfrm>
            <a:off x="457200" y="1600200"/>
            <a:ext cx="4114800" cy="365760"/>
          </a:xfrm>
          <a:prstGeom prst="rect">
            <a:avLst/>
          </a:prstGeom>
          <a:noFill/>
          <a:ln/>
        </p:spPr>
        <p:txBody>
          <a:bodyPr wrap="square" lIns="0" tIns="0" rIns="0" bIns="0" rtlCol="0" anchor="t"/>
          <a:lstStyle/>
          <a:p>
            <a:pPr indent="0" marL="0">
              <a:buNone/>
            </a:pPr>
            <a:r>
              <a:rPr lang="en-US" sz="1800" dirty="0">
                <a:solidFill>
                  <a:schemeClr val="accent2"/>
                </a:solidFill>
              </a:rPr>
              <a:t>Questions welcome</a:t>
            </a:r>
            <a:endParaRPr lang="en-US" sz="1800" dirty="0"/>
          </a:p>
        </p:txBody>
      </p:sp>
      <p:sp>
        <p:nvSpPr>
          <p:cNvPr id="5" name="Text 2"/>
          <p:cNvSpPr txBox="1"/>
          <p:nvPr/>
        </p:nvSpPr>
        <p:spPr>
          <a:xfrm>
            <a:off x="457200" y="3108960"/>
            <a:ext cx="4114800" cy="365760"/>
          </a:xfrm>
          <a:prstGeom prst="rect">
            <a:avLst/>
          </a:prstGeom>
          <a:noFill/>
          <a:ln/>
        </p:spPr>
        <p:txBody>
          <a:bodyPr wrap="square" lIns="0" tIns="0" rIns="0" bIns="0" rtlCol="0" anchor="t"/>
          <a:lstStyle/>
          <a:p>
            <a:pPr indent="0" marL="0">
              <a:buNone/>
            </a:pPr>
            <a:r>
              <a:rPr lang="en-US" sz="1800" b="1" dirty="0">
                <a:solidFill>
                  <a:schemeClr val="bg1"/>
                </a:solidFill>
              </a:rPr>
              <a:t>Perugu Venkata Aditya</a:t>
            </a:r>
            <a:endParaRPr lang="en-US" sz="1800" dirty="0"/>
          </a:p>
        </p:txBody>
      </p:sp>
      <p:sp>
        <p:nvSpPr>
          <p:cNvPr id="6" name="Text 3"/>
          <p:cNvSpPr txBox="1"/>
          <p:nvPr/>
        </p:nvSpPr>
        <p:spPr>
          <a:xfrm>
            <a:off x="457200" y="3520440"/>
            <a:ext cx="4114800" cy="640080"/>
          </a:xfrm>
          <a:prstGeom prst="rect">
            <a:avLst/>
          </a:prstGeom>
          <a:noFill/>
          <a:ln/>
        </p:spPr>
        <p:txBody>
          <a:bodyPr wrap="square" lIns="0" tIns="0" rIns="0" bIns="0" rtlCol="0" anchor="t"/>
          <a:lstStyle/>
          <a:p>
            <a:pPr indent="0" marL="0">
              <a:buNone/>
            </a:pPr>
            <a:r>
              <a:rPr lang="en-US" sz="1300" dirty="0">
                <a:solidFill>
                  <a:schemeClr val="accent6"/>
                </a:solidFill>
              </a:rPr>
              <a:t>B.Tech. Mechanical Engineering (Digital Manufacturing)  |  SASTRA Deemed to be University</a:t>
            </a:r>
            <a:endParaRPr lang="en-US" sz="1300" dirty="0"/>
          </a:p>
        </p:txBody>
      </p:sp>
      <p:sp>
        <p:nvSpPr>
          <p:cNvPr id="7" name="card"/>
          <p:cNvSpPr/>
          <p:nvPr/>
        </p:nvSpPr>
        <p:spPr>
          <a:xfrm>
            <a:off x="4846320" y="731520"/>
            <a:ext cx="3840480" cy="3840480"/>
          </a:xfrm>
          <a:prstGeom prst="roundRect">
            <a:avLst>
              <a:gd name="adj" fmla="val 2381"/>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8" name="Text 5"/>
          <p:cNvSpPr txBox="1"/>
          <p:nvPr/>
        </p:nvSpPr>
        <p:spPr>
          <a:xfrm>
            <a:off x="5074920" y="868680"/>
            <a:ext cx="3383280" cy="274320"/>
          </a:xfrm>
          <a:prstGeom prst="rect">
            <a:avLst/>
          </a:prstGeom>
          <a:noFill/>
          <a:ln/>
        </p:spPr>
        <p:txBody>
          <a:bodyPr wrap="square" lIns="0" tIns="0" rIns="0" bIns="0" rtlCol="0" anchor="t"/>
          <a:lstStyle/>
          <a:p>
            <a:pPr indent="0" marL="0">
              <a:buNone/>
            </a:pPr>
            <a:r>
              <a:rPr lang="en-US" sz="1500" b="1" dirty="0">
                <a:solidFill>
                  <a:schemeClr val="accent2"/>
                </a:solidFill>
              </a:rPr>
              <a:t>Ready to explain</a:t>
            </a:r>
            <a:endParaRPr lang="en-US" sz="1500" dirty="0"/>
          </a:p>
        </p:txBody>
      </p:sp>
      <p:sp>
        <p:nvSpPr>
          <p:cNvPr id="9" name="Shape 6"/>
          <p:cNvSpPr/>
          <p:nvPr/>
        </p:nvSpPr>
        <p:spPr>
          <a:xfrm>
            <a:off x="5074920" y="1371600"/>
            <a:ext cx="411480" cy="411480"/>
          </a:xfrm>
          <a:prstGeom prst="ellipse">
            <a:avLst/>
          </a:prstGeom>
          <a:solidFill>
            <a:schemeClr val="accent1"/>
          </a:solidFill>
          <a:ln w="12700">
            <a:solidFill>
              <a:schemeClr val="accent1"/>
            </a:solidFill>
            <a:prstDash val="solid"/>
          </a:ln>
        </p:spPr>
      </p:sp>
      <p:pic>
        <p:nvPicPr>
          <p:cNvPr id="10" name="Image 0" descr="FaQuestionCircle">    </p:cNvPr>
          <p:cNvPicPr>
            <a:picLocks noChangeAspect="1"/>
          </p:cNvPicPr>
          <p:nvPr/>
        </p:nvPicPr>
        <p:blipFill>
          <a:blip r:embed="rId1"/>
          <a:stretch>
            <a:fillRect/>
          </a:stretch>
        </p:blipFill>
        <p:spPr>
          <a:xfrm>
            <a:off x="5177790" y="1474470"/>
            <a:ext cx="205740" cy="205740"/>
          </a:xfrm>
          <a:prstGeom prst="rect">
            <a:avLst/>
          </a:prstGeom>
        </p:spPr>
      </p:pic>
      <p:sp>
        <p:nvSpPr>
          <p:cNvPr id="11" name="Text 7"/>
          <p:cNvSpPr txBox="1"/>
          <p:nvPr/>
        </p:nvSpPr>
        <p:spPr>
          <a:xfrm>
            <a:off x="5623560" y="1371600"/>
            <a:ext cx="2926080" cy="411480"/>
          </a:xfrm>
          <a:prstGeom prst="rect">
            <a:avLst/>
          </a:prstGeom>
          <a:noFill/>
          <a:ln/>
        </p:spPr>
        <p:txBody>
          <a:bodyPr wrap="square" lIns="0" tIns="0" rIns="0" bIns="0" rtlCol="0" anchor="ctr"/>
          <a:lstStyle/>
          <a:p>
            <a:pPr indent="0" marL="0">
              <a:buNone/>
            </a:pPr>
            <a:r>
              <a:rPr lang="en-US" sz="1400" dirty="0">
                <a:solidFill>
                  <a:schemeClr val="bg1"/>
                </a:solidFill>
              </a:rPr>
              <a:t>Why YOLOv8 for this task?</a:t>
            </a:r>
            <a:endParaRPr lang="en-US" sz="1400" dirty="0"/>
          </a:p>
        </p:txBody>
      </p:sp>
      <p:sp>
        <p:nvSpPr>
          <p:cNvPr id="12" name="Shape 8"/>
          <p:cNvSpPr/>
          <p:nvPr/>
        </p:nvSpPr>
        <p:spPr>
          <a:xfrm>
            <a:off x="5074920" y="1993392"/>
            <a:ext cx="411480" cy="411480"/>
          </a:xfrm>
          <a:prstGeom prst="ellipse">
            <a:avLst/>
          </a:prstGeom>
          <a:solidFill>
            <a:schemeClr val="accent1"/>
          </a:solidFill>
          <a:ln w="12700">
            <a:solidFill>
              <a:schemeClr val="accent1"/>
            </a:solidFill>
            <a:prstDash val="solid"/>
          </a:ln>
        </p:spPr>
      </p:sp>
      <p:pic>
        <p:nvPicPr>
          <p:cNvPr id="13" name="Image 1" descr="FaQuestionCircle">    </p:cNvPr>
          <p:cNvPicPr>
            <a:picLocks noChangeAspect="1"/>
          </p:cNvPicPr>
          <p:nvPr/>
        </p:nvPicPr>
        <p:blipFill>
          <a:blip r:embed="rId2"/>
          <a:stretch>
            <a:fillRect/>
          </a:stretch>
        </p:blipFill>
        <p:spPr>
          <a:xfrm>
            <a:off x="5177790" y="2096262"/>
            <a:ext cx="205740" cy="205740"/>
          </a:xfrm>
          <a:prstGeom prst="rect">
            <a:avLst/>
          </a:prstGeom>
        </p:spPr>
      </p:pic>
      <p:sp>
        <p:nvSpPr>
          <p:cNvPr id="14" name="Text 9"/>
          <p:cNvSpPr txBox="1"/>
          <p:nvPr/>
        </p:nvSpPr>
        <p:spPr>
          <a:xfrm>
            <a:off x="5623560" y="1993392"/>
            <a:ext cx="2926080" cy="411480"/>
          </a:xfrm>
          <a:prstGeom prst="rect">
            <a:avLst/>
          </a:prstGeom>
          <a:noFill/>
          <a:ln/>
        </p:spPr>
        <p:txBody>
          <a:bodyPr wrap="square" lIns="0" tIns="0" rIns="0" bIns="0" rtlCol="0" anchor="ctr"/>
          <a:lstStyle/>
          <a:p>
            <a:pPr indent="0" marL="0">
              <a:buNone/>
            </a:pPr>
            <a:r>
              <a:rPr lang="en-US" sz="1400" dirty="0">
                <a:solidFill>
                  <a:schemeClr val="bg1"/>
                </a:solidFill>
              </a:rPr>
              <a:t>How do pixels become 3D?</a:t>
            </a:r>
            <a:endParaRPr lang="en-US" sz="1400" dirty="0"/>
          </a:p>
        </p:txBody>
      </p:sp>
      <p:sp>
        <p:nvSpPr>
          <p:cNvPr id="15" name="Shape 10"/>
          <p:cNvSpPr/>
          <p:nvPr/>
        </p:nvSpPr>
        <p:spPr>
          <a:xfrm>
            <a:off x="5074920" y="2615184"/>
            <a:ext cx="411480" cy="411480"/>
          </a:xfrm>
          <a:prstGeom prst="ellipse">
            <a:avLst/>
          </a:prstGeom>
          <a:solidFill>
            <a:schemeClr val="accent1"/>
          </a:solidFill>
          <a:ln w="12700">
            <a:solidFill>
              <a:schemeClr val="accent1"/>
            </a:solidFill>
            <a:prstDash val="solid"/>
          </a:ln>
        </p:spPr>
      </p:sp>
      <p:pic>
        <p:nvPicPr>
          <p:cNvPr id="16" name="Image 2" descr="FaQuestionCircle">    </p:cNvPr>
          <p:cNvPicPr>
            <a:picLocks noChangeAspect="1"/>
          </p:cNvPicPr>
          <p:nvPr/>
        </p:nvPicPr>
        <p:blipFill>
          <a:blip r:embed="rId3"/>
          <a:stretch>
            <a:fillRect/>
          </a:stretch>
        </p:blipFill>
        <p:spPr>
          <a:xfrm>
            <a:off x="5177790" y="2718054"/>
            <a:ext cx="205740" cy="205740"/>
          </a:xfrm>
          <a:prstGeom prst="rect">
            <a:avLst/>
          </a:prstGeom>
        </p:spPr>
      </p:pic>
      <p:sp>
        <p:nvSpPr>
          <p:cNvPr id="17" name="Text 11"/>
          <p:cNvSpPr txBox="1"/>
          <p:nvPr/>
        </p:nvSpPr>
        <p:spPr>
          <a:xfrm>
            <a:off x="5623560" y="2615184"/>
            <a:ext cx="2926080" cy="411480"/>
          </a:xfrm>
          <a:prstGeom prst="rect">
            <a:avLst/>
          </a:prstGeom>
          <a:noFill/>
          <a:ln/>
        </p:spPr>
        <p:txBody>
          <a:bodyPr wrap="square" lIns="0" tIns="0" rIns="0" bIns="0" rtlCol="0" anchor="ctr"/>
          <a:lstStyle/>
          <a:p>
            <a:pPr indent="0" marL="0">
              <a:buNone/>
            </a:pPr>
            <a:r>
              <a:rPr lang="en-US" sz="1400" dirty="0">
                <a:solidFill>
                  <a:schemeClr val="bg1"/>
                </a:solidFill>
              </a:rPr>
              <a:t>Why do we need TF?</a:t>
            </a:r>
            <a:endParaRPr lang="en-US" sz="1400" dirty="0"/>
          </a:p>
        </p:txBody>
      </p:sp>
      <p:sp>
        <p:nvSpPr>
          <p:cNvPr id="18" name="Shape 12"/>
          <p:cNvSpPr/>
          <p:nvPr/>
        </p:nvSpPr>
        <p:spPr>
          <a:xfrm>
            <a:off x="5074920" y="3236976"/>
            <a:ext cx="411480" cy="411480"/>
          </a:xfrm>
          <a:prstGeom prst="ellipse">
            <a:avLst/>
          </a:prstGeom>
          <a:solidFill>
            <a:schemeClr val="accent1"/>
          </a:solidFill>
          <a:ln w="12700">
            <a:solidFill>
              <a:schemeClr val="accent1"/>
            </a:solidFill>
            <a:prstDash val="solid"/>
          </a:ln>
        </p:spPr>
      </p:sp>
      <p:pic>
        <p:nvPicPr>
          <p:cNvPr id="19" name="Image 3" descr="FaQuestionCircle">    </p:cNvPr>
          <p:cNvPicPr>
            <a:picLocks noChangeAspect="1"/>
          </p:cNvPicPr>
          <p:nvPr/>
        </p:nvPicPr>
        <p:blipFill>
          <a:blip r:embed="rId4"/>
          <a:stretch>
            <a:fillRect/>
          </a:stretch>
        </p:blipFill>
        <p:spPr>
          <a:xfrm>
            <a:off x="5177790" y="3339846"/>
            <a:ext cx="205740" cy="205740"/>
          </a:xfrm>
          <a:prstGeom prst="rect">
            <a:avLst/>
          </a:prstGeom>
        </p:spPr>
      </p:pic>
      <p:sp>
        <p:nvSpPr>
          <p:cNvPr id="20" name="Text 13"/>
          <p:cNvSpPr txBox="1"/>
          <p:nvPr/>
        </p:nvSpPr>
        <p:spPr>
          <a:xfrm>
            <a:off x="5623560" y="3236976"/>
            <a:ext cx="2926080" cy="411480"/>
          </a:xfrm>
          <a:prstGeom prst="rect">
            <a:avLst/>
          </a:prstGeom>
          <a:noFill/>
          <a:ln/>
        </p:spPr>
        <p:txBody>
          <a:bodyPr wrap="square" lIns="0" tIns="0" rIns="0" bIns="0" rtlCol="0" anchor="ctr"/>
          <a:lstStyle/>
          <a:p>
            <a:pPr indent="0" marL="0">
              <a:buNone/>
            </a:pPr>
            <a:r>
              <a:rPr lang="en-US" sz="1400" dirty="0">
                <a:solidFill>
                  <a:schemeClr val="bg1"/>
                </a:solidFill>
              </a:rPr>
              <a:t>Why MATLAB for IK?</a:t>
            </a:r>
            <a:endParaRPr lang="en-US" sz="1400" dirty="0"/>
          </a:p>
        </p:txBody>
      </p:sp>
      <p:sp>
        <p:nvSpPr>
          <p:cNvPr id="21" name="Shape 14"/>
          <p:cNvSpPr/>
          <p:nvPr/>
        </p:nvSpPr>
        <p:spPr>
          <a:xfrm>
            <a:off x="5074920" y="3858768"/>
            <a:ext cx="411480" cy="411480"/>
          </a:xfrm>
          <a:prstGeom prst="ellipse">
            <a:avLst/>
          </a:prstGeom>
          <a:solidFill>
            <a:schemeClr val="accent1"/>
          </a:solidFill>
          <a:ln w="12700">
            <a:solidFill>
              <a:schemeClr val="accent1"/>
            </a:solidFill>
            <a:prstDash val="solid"/>
          </a:ln>
        </p:spPr>
      </p:sp>
      <p:pic>
        <p:nvPicPr>
          <p:cNvPr id="22" name="Image 4" descr="FaQuestionCircle">    </p:cNvPr>
          <p:cNvPicPr>
            <a:picLocks noChangeAspect="1"/>
          </p:cNvPicPr>
          <p:nvPr/>
        </p:nvPicPr>
        <p:blipFill>
          <a:blip r:embed="rId5"/>
          <a:stretch>
            <a:fillRect/>
          </a:stretch>
        </p:blipFill>
        <p:spPr>
          <a:xfrm>
            <a:off x="5177790" y="3961638"/>
            <a:ext cx="205740" cy="205740"/>
          </a:xfrm>
          <a:prstGeom prst="rect">
            <a:avLst/>
          </a:prstGeom>
        </p:spPr>
      </p:pic>
      <p:sp>
        <p:nvSpPr>
          <p:cNvPr id="23" name="Text 15"/>
          <p:cNvSpPr txBox="1"/>
          <p:nvPr/>
        </p:nvSpPr>
        <p:spPr>
          <a:xfrm>
            <a:off x="5623560" y="3858768"/>
            <a:ext cx="2926080" cy="411480"/>
          </a:xfrm>
          <a:prstGeom prst="rect">
            <a:avLst/>
          </a:prstGeom>
          <a:noFill/>
          <a:ln/>
        </p:spPr>
        <p:txBody>
          <a:bodyPr wrap="square" lIns="0" tIns="0" rIns="0" bIns="0" rtlCol="0" anchor="ctr"/>
          <a:lstStyle/>
          <a:p>
            <a:pPr indent="0" marL="0">
              <a:buNone/>
            </a:pPr>
            <a:r>
              <a:rPr lang="en-US" sz="1400" dirty="0">
                <a:solidFill>
                  <a:schemeClr val="bg1"/>
                </a:solidFill>
              </a:rPr>
              <a:t>How does this reach the real world?</a:t>
            </a:r>
            <a:endParaRPr lang="en-US" sz="1400" dirty="0"/>
          </a:p>
        </p:txBody>
      </p:sp>
      <p:sp>
        <p:nvSpPr>
          <p:cNvPr id="24"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endParaRPr lang="en-US" sz="3000" dirty="0"/>
          </a:p>
        </p:txBody>
      </p:sp>
    </p:spTree>
  </p:cSld>
  <p:clrMapOvr>
    <a:masterClrMapping/>
  </p:clrMapOvr>
</p:sld>
</file>

<file path=ppt/theme/theme1.xml><?xml version="1.0" encoding="utf-8"?>
<a:theme xmlns:a="http://schemas.openxmlformats.org/drawingml/2006/main" name="RoboVision">
  <a:themeElements>
    <a:clrScheme name="RoboVision">
      <a:dk1>
        <a:srgbClr val="0B1F33"/>
      </a:dk1>
      <a:lt1>
        <a:srgbClr val="FFFFFF"/>
      </a:lt1>
      <a:dk2>
        <a:srgbClr val="1D3F5C"/>
      </a:dk2>
      <a:lt2>
        <a:srgbClr val="EEF3F7"/>
      </a:lt2>
      <a:accent1>
        <a:srgbClr val="0FA3B1"/>
      </a:accent1>
      <a:accent2>
        <a:srgbClr val="F59E0B"/>
      </a:accent2>
      <a:accent3>
        <a:srgbClr val="2E7D6B"/>
      </a:accent3>
      <a:accent4>
        <a:srgbClr val="D1495B"/>
      </a:accent4>
      <a:accent5>
        <a:srgbClr val="4F6D86"/>
      </a:accent5>
      <a:accent6>
        <a:srgbClr val="8FB8DE"/>
      </a:accent6>
      <a:hlink>
        <a:srgbClr val="0FA3B1"/>
      </a:hlink>
      <a:folHlink>
        <a:srgbClr val="4F6D86"/>
      </a:folHlink>
    </a:clrScheme>
    <a:fontScheme name="RoboVis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AI-Vision Based Guided Pick and Place Dual Arm Manipulator</dc:title>
  <dc:subject>PptxGenJS Presentation</dc:subject>
  <dc:creator>Perugu Venkata Aditya</dc:creator>
  <cp:lastModifiedBy>Perugu Venkata Aditya</cp:lastModifiedBy>
  <cp:revision>1</cp:revision>
  <dcterms:created xsi:type="dcterms:W3CDTF">2026-10-25T05:44:43Z</dcterms:created>
  <dcterms:modified xsi:type="dcterms:W3CDTF">2026-10-25T05:44:43Z</dcterms:modified>
</cp:coreProperties>
</file>