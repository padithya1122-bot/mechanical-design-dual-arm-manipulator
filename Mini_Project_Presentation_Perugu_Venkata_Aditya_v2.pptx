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Perugu Venkata Aditya from B.Tech Mechanical Engineering (Digital Manufacturing). My mini project is an AI vision guided pick-and-place system for a dual-arm manipulator. In simple words: the robot looks at objects with a camera, finds what they are and where they are, and then picks and places them. Everything was built and tested in the NVIDIA Isaac Sim simulator under the guidance of Dr. Badri Narayanan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my presentation. First the background: introduction, problem and literature. Then what we planned: objective and methodology. Then what I actually did and the results, followed by interpretation, discussion, my own contribution and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dual-arm robot has two arms on one base that work together, like our two hands. Because of this it can hold an object with one arm and work on it with the other. I added AI vision so that the robot can see and decide, instead of repeating fixed positions. This is also what Industry 4.0 asks for: smart, connected and flexible automation, for example in sorting and material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that motivated my work. Normal industrial robots follow fixed programs, so they fail when an object moves or the light changes. Older vision methods find it hard to recognise objects in real scenes. Vision and robot motion are often not properly joined, especially in dual-arm robots where both arms must be coordinated. And building a real robot first is costly, so we design and test in a simulator before the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studied nine papers. For each one I noted what they did, the advantage and the limitation. The first is YOLO, which gives fast detection but does not do any robot manipulation. The second plans dual-arm pick-and-place but assumes the object geometry is known and has no modern vision. The third learns grasp points from human demonstration but does not handle full dual-arm sequencing.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four to six. The humanoid learning-from-demonstration work needs a lot of motion-capture data. The push-and-grasp paper handles clutter using reinforcement learning but needs heavy training and real-world transfer is difficult. The multi-task CNN combines detection and grasp planning but is mostly tested in controlled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seven to nine. Chen combined YOLO with reinforcement learning but this needs a lot of data and compute. Le estimated 6D pose very accurately but only for a single arm. Levine learned hand-eye coordination with deep learning but needed huge data and a single arm. So none of them joins detection, depth, coordinate transformation and dual-arm control in one pipeline. That is the gap my project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I plan to do about the problems. Use YOLOv8 so that the robot can recognise objects in real time. Make both arms work in a coordinated way. Join vision, decision and motion into one system so that the robot works on its own with less human help. And use Isaac Sim to build, test and validate everything before touching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is the whole project in eight steps. Steps one to four are about teaching the robot to see: generate data, prepare the dataset, train YOLO and test it. Step five adds depth to get the 3D position. Step six changes that position from the camera frame to the robot frame. Step seven is grasp planning and step eight is the actual pick-and-place. The output of each step is the input of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eight steps with a few points each. In synthetic data we create virtual scenes and get RGB, depth and bounding boxes automatically. In dataset preparation the boxes become YOLO format text files and we split train and validation. Training gives best.pt, the best weights. In testing we check precision, recall and look at the boxes. Then depth fusion gives X, Y, Z, TF changes camera frame to robot base, grasp planning picks the grasp points and finally we execute pick-and-place with collision-free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was actually implemented. The camera in Isaac Sim gives RGB and depth. ROS 2 carries the data to my processing code. The YOLOv8 model detects objects and gives box, label and confidence. The box centre plus the depth value gives the 3D position. ROS 2 TF converts it to the robot base frame, and the control commands are sent to the arm to check the robot responds.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built the virtual workspace in Isaac Sim: a table, the dual-arm robot, and cubes and cylinders in four colours. I changed object positions, lighting and viewpoint so the dataset is varied. The simulator then gives RGB images with labels automatically. The label file has one line per object: class id, x centre, y centre, width and height, all between 0 and 1. The right image is one RGB image from the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trained YOLOv8 model running on the live camera of Isaac Sim. Each object has a coloured box with its class name, for example cube_red or cylinder_green, and a confidence score of about 0.98 to 0.99. The centre of every box is what we use in the next step to find the 3D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2D detection only gives a pixel. The depth camera gives the distance at that pixel. With the camera intrinsics, X equals pixel offset times depth divided by focal length, and the same for Y. For the black cylinder at pixel 148, 247 and depth 1.159 m, the console prints world X about minus 0.178 and Y about minus 0.141. This matches my hand calculation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position we got is measured from the camera. But the robot arm measures from its own base. So we need to convert it. In the Action Graph, the ROS 2 Publish Transform Tree node publishes the rotation and translation between the frames, and this converts the position into the robot frame. In the beginning my coordinates were wrong because the frames were not aligned properly, and I fixed it by configuring the frames correctly in 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Inverse kinematics means: I know where the gripper has to reach, so what should each joint angle be? I give the X, Y, Z target to the MATLAB Robotics Toolbox solver and it returns the joint angles. The left picture is the MATLAB output with target position, end-effector position, error and joint angles. The right picture is the solved robot pose reaching the target point. I used MATLAB because MoveIt and other IK solvers did not work reliably in my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stage where everything comes together. Using the joint angles, the arm goes to the detected object, closes the gripper for a stable grasp and lifts it. Then it carries the object to the target position and places it. These three images show picking, holding and placing in Isaac 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Action Graph is a node diagram inside Isaac Sim, and it is the backbone of the communication. Camera and depth nodes keep streaming the data. The transform node gives the frames. And the control nodes send joint commands to both arms. I first tried to get depth with the built-in Replicator script but it kept giving syntax errors, so I used the Action Graph, which was stable. Path mismatches between nodes were my biggest debugging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the model I used precision, recall and F1-score. Precision tells how many detections are correct, recall tells how many real objects were found, and F1 is the balance of both. For YOLOv8 the curves stay at 1.0 for almost the whole confidence range and fall only at the highest values, which means that almost every object is detected correctly. One honest point: this is on clean synthetic data, so real-world results will be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YOLOv8n is the nano model, smaller and faster. Its overall mAP at 0.5 is 0.990, and every class from cube_red to cylinder_red is between 0.987 and 0.991, so no class is weak. The precision-recall curve is close to the top-right corner, which is the ideal, and the F1 curve peaks at about 1.0 near confidence 0.9. So the nano model is almost as accurate as the bigger one but suits real-time robots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the results mean? Real-time detection works reliably in the simulator. Depth plus 2D detection gives true 3D position, which a 2D detection alone cannot. TF with rotation and translation maps positions correctly into the robot workspace, so frame alignment is the bridge between seeing and acting. MATLAB inverse kinematics turns task-space positions into joint-space commands. Together YOLOv8, ROS 2, Isaac Sim, TF and MATLAB form a complete perception-to-action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problems I faced and how they were solved. With a small dataset the accuracy was poor, and it improved when I increased the number of training images. The built-in Replicator script for depth gave syntax errors, so I used the Action Graph. Wrong object coordinates came from improper frame alignment and were solved with TF. MoveIt and other IK solvers were unsuccessful in my setup, so I used MATLAB. The screenshot at the bottom is from the Replicator script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compare the result with the objectives I set at the beginning. Every objective was achieved in the simulation: YOLOv8 detection, 3D position from RGB and depth, the perception-to-action pipeline, MATLAB inverse kinematics and the final validation in Isaac Sim before any real-world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my own part. I worked on the dual-arm robot in Isaac Sim with ROS 2 for object handling and motion control, and I did the MATLAB calculations for the joint angles. Through this I learned how YOLO detects, how depth gives 3D position, how rotation and translation work between frames, how to get joint angles from a target, and why simulation is useful. The limitations I faced were Action Graph path mismatches and MATLAB joint-angle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uses YOLO with depth to turn 2D images into 3D coordinates. ROS 2 and MATLAB inverse kinematics position the manipulator, and the robot does pick-and-place on its own with less manual intervention. Isaac Sim gave a safe place for data generation and testing. The ROS 2 architecture is modular and scalable, and the dual-arm set-up improves coordination, stability and precision. The next step would be testing on a real robot with a real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ASTRA">    </p:cNvPr>
          <p:cNvPicPr>
            <a:picLocks noChangeAspect="1"/>
          </p:cNvPicPr>
          <p:nvPr/>
        </p:nvPicPr>
        <p:blipFill>
          <a:blip r:embed="rId1"/>
          <a:stretch>
            <a:fillRect/>
          </a:stretch>
        </p:blipFill>
        <p:spPr>
          <a:xfrm>
            <a:off x="2377440" y="228600"/>
            <a:ext cx="4389120" cy="1170432"/>
          </a:xfrm>
          <a:prstGeom prst="rect">
            <a:avLst/>
          </a:prstGeom>
        </p:spPr>
      </p:pic>
      <p:sp>
        <p:nvSpPr>
          <p:cNvPr id="3" name="Text 0"/>
          <p:cNvSpPr txBox="1"/>
          <p:nvPr/>
        </p:nvSpPr>
        <p:spPr>
          <a:xfrm>
            <a:off x="457200" y="1554480"/>
            <a:ext cx="8229600" cy="731520"/>
          </a:xfrm>
          <a:prstGeom prst="rect">
            <a:avLst/>
          </a:prstGeom>
          <a:noFill/>
          <a:ln/>
        </p:spPr>
        <p:txBody>
          <a:bodyPr wrap="square" lIns="0" tIns="0" rIns="0" bIns="0" rtlCol="0" anchor="ctr"/>
          <a:lstStyle/>
          <a:p>
            <a:pPr algn="ctr" indent="0" marL="0">
              <a:buNone/>
            </a:pPr>
            <a:r>
              <a:rPr lang="en-US" sz="2000" b="1" dirty="0">
                <a:solidFill>
                  <a:srgbClr val="222222"/>
                </a:solidFill>
              </a:rPr>
              <a:t>MCT 300 – MINI PROJECT</a:t>
            </a:r>
            <a:endParaRPr lang="en-US" sz="2000" dirty="0"/>
          </a:p>
          <a:p>
            <a:pPr algn="ctr" indent="0" marL="0">
              <a:buNone/>
            </a:pPr>
            <a:r>
              <a:rPr lang="en-US" sz="2000" b="1" dirty="0">
                <a:solidFill>
                  <a:srgbClr val="222222"/>
                </a:solidFill>
              </a:rPr>
              <a:t>Review - 3</a:t>
            </a:r>
            <a:endParaRPr lang="en-US" sz="2000" dirty="0"/>
          </a:p>
        </p:txBody>
      </p:sp>
      <p:sp>
        <p:nvSpPr>
          <p:cNvPr id="4" name="Text 1"/>
          <p:cNvSpPr txBox="1"/>
          <p:nvPr/>
        </p:nvSpPr>
        <p:spPr>
          <a:xfrm>
            <a:off x="457200" y="2331720"/>
            <a:ext cx="8229600" cy="868680"/>
          </a:xfrm>
          <a:prstGeom prst="rect">
            <a:avLst/>
          </a:prstGeom>
          <a:noFill/>
          <a:ln/>
        </p:spPr>
        <p:txBody>
          <a:bodyPr wrap="square" lIns="0" tIns="0" rIns="0" bIns="0" rtlCol="0" anchor="ctr"/>
          <a:lstStyle/>
          <a:p>
            <a:pPr algn="ctr" indent="0" marL="0">
              <a:buNone/>
            </a:pPr>
            <a:r>
              <a:rPr lang="en-US" sz="2600" b="1" dirty="0">
                <a:solidFill>
                  <a:srgbClr val="1F3864"/>
                </a:solidFill>
              </a:rPr>
              <a:t>AI-BASED VISION GUIDED PICK-AND-PLACE</a:t>
            </a:r>
            <a:endParaRPr lang="en-US" sz="2600" dirty="0"/>
          </a:p>
          <a:p>
            <a:pPr algn="ctr" indent="0" marL="0">
              <a:buNone/>
            </a:pPr>
            <a:r>
              <a:rPr lang="en-US" sz="2600" b="1" dirty="0">
                <a:solidFill>
                  <a:srgbClr val="1F3864"/>
                </a:solidFill>
              </a:rPr>
              <a:t>DUAL-ARM MANIPULATOR</a:t>
            </a:r>
            <a:endParaRPr lang="en-US" sz="2600" dirty="0"/>
          </a:p>
        </p:txBody>
      </p:sp>
      <p:sp>
        <p:nvSpPr>
          <p:cNvPr id="5" name="Text 2"/>
          <p:cNvSpPr txBox="1"/>
          <p:nvPr/>
        </p:nvSpPr>
        <p:spPr>
          <a:xfrm>
            <a:off x="548640" y="3520440"/>
            <a:ext cx="4206240" cy="914400"/>
          </a:xfrm>
          <a:prstGeom prst="rect">
            <a:avLst/>
          </a:prstGeom>
          <a:noFill/>
          <a:ln/>
        </p:spPr>
        <p:txBody>
          <a:bodyPr wrap="square" lIns="0" tIns="0" rIns="0" bIns="0" rtlCol="0" anchor="ctr"/>
          <a:lstStyle/>
          <a:p>
            <a:pPr indent="0" marL="0">
              <a:buNone/>
            </a:pPr>
            <a:r>
              <a:rPr lang="en-US" sz="1500" b="1" dirty="0">
                <a:solidFill>
                  <a:srgbClr val="1F3864"/>
                </a:solidFill>
              </a:rPr>
              <a:t>Presented by:</a:t>
            </a:r>
            <a:endParaRPr lang="en-US" sz="1500" dirty="0"/>
          </a:p>
          <a:p>
            <a:pPr indent="0" marL="0">
              <a:buNone/>
            </a:pPr>
            <a:r>
              <a:rPr lang="en-US" sz="1500" dirty="0">
                <a:solidFill>
                  <a:srgbClr val="222222"/>
                </a:solidFill>
              </a:rPr>
              <a:t>Perugu Venkata Aditya – 127161035</a:t>
            </a:r>
            <a:endParaRPr lang="en-US" sz="1500" dirty="0"/>
          </a:p>
          <a:p>
            <a:pPr indent="0" marL="0">
              <a:buNone/>
            </a:pPr>
            <a:r>
              <a:rPr lang="en-US" sz="1500" dirty="0">
                <a:solidFill>
                  <a:srgbClr val="222222"/>
                </a:solidFill>
              </a:rPr>
              <a:t>B.Tech. Mechanical Engineering (Digital Manufacturing)</a:t>
            </a:r>
            <a:endParaRPr lang="en-US" sz="1500" dirty="0"/>
          </a:p>
        </p:txBody>
      </p:sp>
      <p:sp>
        <p:nvSpPr>
          <p:cNvPr id="6" name="Text 3"/>
          <p:cNvSpPr txBox="1"/>
          <p:nvPr/>
        </p:nvSpPr>
        <p:spPr>
          <a:xfrm>
            <a:off x="5120640" y="3520440"/>
            <a:ext cx="3566160" cy="1097280"/>
          </a:xfrm>
          <a:prstGeom prst="rect">
            <a:avLst/>
          </a:prstGeom>
          <a:noFill/>
          <a:ln/>
        </p:spPr>
        <p:txBody>
          <a:bodyPr wrap="square" lIns="0" tIns="0" rIns="0" bIns="0" rtlCol="0" anchor="ctr"/>
          <a:lstStyle/>
          <a:p>
            <a:pPr indent="0" marL="0">
              <a:buNone/>
            </a:pPr>
            <a:r>
              <a:rPr lang="en-US" sz="1500" b="1" dirty="0">
                <a:solidFill>
                  <a:srgbClr val="1F3864"/>
                </a:solidFill>
              </a:rPr>
              <a:t>Guide:</a:t>
            </a:r>
            <a:endParaRPr lang="en-US" sz="1500" dirty="0"/>
          </a:p>
          <a:p>
            <a:pPr indent="0" marL="0">
              <a:buNone/>
            </a:pPr>
            <a:r>
              <a:rPr lang="en-US" sz="1500" b="1" dirty="0">
                <a:solidFill>
                  <a:srgbClr val="222222"/>
                </a:solidFill>
              </a:rPr>
              <a:t>Dr. BADRI NARAYANAN R</a:t>
            </a:r>
            <a:endParaRPr lang="en-US" sz="1500" dirty="0"/>
          </a:p>
          <a:p>
            <a:pPr indent="0" marL="0">
              <a:buNone/>
            </a:pPr>
            <a:r>
              <a:rPr lang="en-US" sz="1500" dirty="0">
                <a:solidFill>
                  <a:srgbClr val="222222"/>
                </a:solidFill>
              </a:rPr>
              <a:t>Sr. Asst. Professor</a:t>
            </a:r>
            <a:endParaRPr lang="en-US" sz="1500" dirty="0"/>
          </a:p>
          <a:p>
            <a:pPr indent="0" marL="0">
              <a:buNone/>
            </a:pPr>
            <a:r>
              <a:rPr lang="en-US" sz="1500" dirty="0">
                <a:solidFill>
                  <a:srgbClr val="222222"/>
                </a:solidFill>
              </a:rPr>
              <a:t>School of Mechanical Engineering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Contents</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2</a:t>
            </a:r>
            <a:endParaRPr lang="en-US" sz="1000" dirty="0"/>
          </a:p>
        </p:txBody>
      </p:sp>
      <p:sp>
        <p:nvSpPr>
          <p:cNvPr id="6" name="Text 2"/>
          <p:cNvSpPr txBox="1"/>
          <p:nvPr/>
        </p:nvSpPr>
        <p:spPr>
          <a:xfrm>
            <a:off x="731520" y="1143000"/>
            <a:ext cx="3931920" cy="411480"/>
          </a:xfrm>
          <a:prstGeom prst="rect">
            <a:avLst/>
          </a:prstGeom>
          <a:noFill/>
          <a:ln/>
        </p:spPr>
        <p:txBody>
          <a:bodyPr wrap="square" lIns="0" tIns="0" rIns="0" bIns="0" rtlCol="0" anchor="ctr"/>
          <a:lstStyle/>
          <a:p>
            <a:pPr indent="0" marL="0">
              <a:buNone/>
            </a:pPr>
            <a:r>
              <a:rPr lang="en-US" sz="1800" dirty="0">
                <a:solidFill>
                  <a:srgbClr val="222222"/>
                </a:solidFill>
              </a:rPr>
              <a:t>1.  Introduction</a:t>
            </a:r>
            <a:endParaRPr lang="en-US" sz="1800" dirty="0"/>
          </a:p>
        </p:txBody>
      </p:sp>
      <p:sp>
        <p:nvSpPr>
          <p:cNvPr id="7" name="Text 3"/>
          <p:cNvSpPr txBox="1"/>
          <p:nvPr/>
        </p:nvSpPr>
        <p:spPr>
          <a:xfrm>
            <a:off x="731520" y="1709928"/>
            <a:ext cx="3931920" cy="411480"/>
          </a:xfrm>
          <a:prstGeom prst="rect">
            <a:avLst/>
          </a:prstGeom>
          <a:noFill/>
          <a:ln/>
        </p:spPr>
        <p:txBody>
          <a:bodyPr wrap="square" lIns="0" tIns="0" rIns="0" bIns="0" rtlCol="0" anchor="ctr"/>
          <a:lstStyle/>
          <a:p>
            <a:pPr indent="0" marL="0">
              <a:buNone/>
            </a:pPr>
            <a:r>
              <a:rPr lang="en-US" sz="1800" dirty="0">
                <a:solidFill>
                  <a:srgbClr val="222222"/>
                </a:solidFill>
              </a:rPr>
              <a:t>2.  Problem Statement</a:t>
            </a:r>
            <a:endParaRPr lang="en-US" sz="1800" dirty="0"/>
          </a:p>
        </p:txBody>
      </p:sp>
      <p:sp>
        <p:nvSpPr>
          <p:cNvPr id="8" name="Text 4"/>
          <p:cNvSpPr txBox="1"/>
          <p:nvPr/>
        </p:nvSpPr>
        <p:spPr>
          <a:xfrm>
            <a:off x="731520" y="2276856"/>
            <a:ext cx="3931920" cy="411480"/>
          </a:xfrm>
          <a:prstGeom prst="rect">
            <a:avLst/>
          </a:prstGeom>
          <a:noFill/>
          <a:ln/>
        </p:spPr>
        <p:txBody>
          <a:bodyPr wrap="square" lIns="0" tIns="0" rIns="0" bIns="0" rtlCol="0" anchor="ctr"/>
          <a:lstStyle/>
          <a:p>
            <a:pPr indent="0" marL="0">
              <a:buNone/>
            </a:pPr>
            <a:r>
              <a:rPr lang="en-US" sz="1800" dirty="0">
                <a:solidFill>
                  <a:srgbClr val="222222"/>
                </a:solidFill>
              </a:rPr>
              <a:t>3.  Literature Survey</a:t>
            </a:r>
            <a:endParaRPr lang="en-US" sz="1800" dirty="0"/>
          </a:p>
        </p:txBody>
      </p:sp>
      <p:sp>
        <p:nvSpPr>
          <p:cNvPr id="9" name="Text 5"/>
          <p:cNvSpPr txBox="1"/>
          <p:nvPr/>
        </p:nvSpPr>
        <p:spPr>
          <a:xfrm>
            <a:off x="731520" y="2843784"/>
            <a:ext cx="3931920" cy="411480"/>
          </a:xfrm>
          <a:prstGeom prst="rect">
            <a:avLst/>
          </a:prstGeom>
          <a:noFill/>
          <a:ln/>
        </p:spPr>
        <p:txBody>
          <a:bodyPr wrap="square" lIns="0" tIns="0" rIns="0" bIns="0" rtlCol="0" anchor="ctr"/>
          <a:lstStyle/>
          <a:p>
            <a:pPr indent="0" marL="0">
              <a:buNone/>
            </a:pPr>
            <a:r>
              <a:rPr lang="en-US" sz="1800" dirty="0">
                <a:solidFill>
                  <a:srgbClr val="222222"/>
                </a:solidFill>
              </a:rPr>
              <a:t>4.  Solution / Objective</a:t>
            </a:r>
            <a:endParaRPr lang="en-US" sz="1800" dirty="0"/>
          </a:p>
        </p:txBody>
      </p:sp>
      <p:sp>
        <p:nvSpPr>
          <p:cNvPr id="10" name="Text 6"/>
          <p:cNvSpPr txBox="1"/>
          <p:nvPr/>
        </p:nvSpPr>
        <p:spPr>
          <a:xfrm>
            <a:off x="731520" y="3410712"/>
            <a:ext cx="3931920" cy="411480"/>
          </a:xfrm>
          <a:prstGeom prst="rect">
            <a:avLst/>
          </a:prstGeom>
          <a:noFill/>
          <a:ln/>
        </p:spPr>
        <p:txBody>
          <a:bodyPr wrap="square" lIns="0" tIns="0" rIns="0" bIns="0" rtlCol="0" anchor="ctr"/>
          <a:lstStyle/>
          <a:p>
            <a:pPr indent="0" marL="0">
              <a:buNone/>
            </a:pPr>
            <a:r>
              <a:rPr lang="en-US" sz="1800" dirty="0">
                <a:solidFill>
                  <a:srgbClr val="222222"/>
                </a:solidFill>
              </a:rPr>
              <a:t>5.  Methodology / Work Plan</a:t>
            </a:r>
            <a:endParaRPr lang="en-US" sz="1800" dirty="0"/>
          </a:p>
        </p:txBody>
      </p:sp>
      <p:sp>
        <p:nvSpPr>
          <p:cNvPr id="11" name="Text 7"/>
          <p:cNvSpPr txBox="1"/>
          <p:nvPr/>
        </p:nvSpPr>
        <p:spPr>
          <a:xfrm>
            <a:off x="731520" y="3977640"/>
            <a:ext cx="3931920" cy="411480"/>
          </a:xfrm>
          <a:prstGeom prst="rect">
            <a:avLst/>
          </a:prstGeom>
          <a:noFill/>
          <a:ln/>
        </p:spPr>
        <p:txBody>
          <a:bodyPr wrap="square" lIns="0" tIns="0" rIns="0" bIns="0" rtlCol="0" anchor="ctr"/>
          <a:lstStyle/>
          <a:p>
            <a:pPr indent="0" marL="0">
              <a:buNone/>
            </a:pPr>
            <a:r>
              <a:rPr lang="en-US" sz="1800" dirty="0">
                <a:solidFill>
                  <a:srgbClr val="222222"/>
                </a:solidFill>
              </a:rPr>
              <a:t>6.  Implementation of Methodology</a:t>
            </a:r>
            <a:endParaRPr lang="en-US" sz="1800" dirty="0"/>
          </a:p>
        </p:txBody>
      </p:sp>
      <p:sp>
        <p:nvSpPr>
          <p:cNvPr id="12" name="Text 8"/>
          <p:cNvSpPr txBox="1"/>
          <p:nvPr/>
        </p:nvSpPr>
        <p:spPr>
          <a:xfrm>
            <a:off x="4937760" y="1143000"/>
            <a:ext cx="3931920" cy="411480"/>
          </a:xfrm>
          <a:prstGeom prst="rect">
            <a:avLst/>
          </a:prstGeom>
          <a:noFill/>
          <a:ln/>
        </p:spPr>
        <p:txBody>
          <a:bodyPr wrap="square" lIns="0" tIns="0" rIns="0" bIns="0" rtlCol="0" anchor="ctr"/>
          <a:lstStyle/>
          <a:p>
            <a:pPr indent="0" marL="0">
              <a:buNone/>
            </a:pPr>
            <a:r>
              <a:rPr lang="en-US" sz="1800" dirty="0">
                <a:solidFill>
                  <a:srgbClr val="222222"/>
                </a:solidFill>
              </a:rPr>
              <a:t>7.  Results</a:t>
            </a:r>
            <a:endParaRPr lang="en-US" sz="1800" dirty="0"/>
          </a:p>
        </p:txBody>
      </p:sp>
      <p:sp>
        <p:nvSpPr>
          <p:cNvPr id="13" name="Text 9"/>
          <p:cNvSpPr txBox="1"/>
          <p:nvPr/>
        </p:nvSpPr>
        <p:spPr>
          <a:xfrm>
            <a:off x="4937760" y="1709928"/>
            <a:ext cx="3931920" cy="411480"/>
          </a:xfrm>
          <a:prstGeom prst="rect">
            <a:avLst/>
          </a:prstGeom>
          <a:noFill/>
          <a:ln/>
        </p:spPr>
        <p:txBody>
          <a:bodyPr wrap="square" lIns="0" tIns="0" rIns="0" bIns="0" rtlCol="0" anchor="ctr"/>
          <a:lstStyle/>
          <a:p>
            <a:pPr indent="0" marL="0">
              <a:buNone/>
            </a:pPr>
            <a:r>
              <a:rPr lang="en-US" sz="1800" dirty="0">
                <a:solidFill>
                  <a:srgbClr val="222222"/>
                </a:solidFill>
              </a:rPr>
              <a:t>8.  Interpretation and Discussion</a:t>
            </a:r>
            <a:endParaRPr lang="en-US" sz="1800" dirty="0"/>
          </a:p>
        </p:txBody>
      </p:sp>
      <p:sp>
        <p:nvSpPr>
          <p:cNvPr id="14" name="Text 10"/>
          <p:cNvSpPr txBox="1"/>
          <p:nvPr/>
        </p:nvSpPr>
        <p:spPr>
          <a:xfrm>
            <a:off x="4937760" y="2276856"/>
            <a:ext cx="3931920" cy="411480"/>
          </a:xfrm>
          <a:prstGeom prst="rect">
            <a:avLst/>
          </a:prstGeom>
          <a:noFill/>
          <a:ln/>
        </p:spPr>
        <p:txBody>
          <a:bodyPr wrap="square" lIns="0" tIns="0" rIns="0" bIns="0" rtlCol="0" anchor="ctr"/>
          <a:lstStyle/>
          <a:p>
            <a:pPr indent="0" marL="0">
              <a:buNone/>
            </a:pPr>
            <a:r>
              <a:rPr lang="en-US" sz="1800" dirty="0">
                <a:solidFill>
                  <a:srgbClr val="222222"/>
                </a:solidFill>
              </a:rPr>
              <a:t>9.  Attainment of Objectives</a:t>
            </a:r>
            <a:endParaRPr lang="en-US" sz="1800" dirty="0"/>
          </a:p>
        </p:txBody>
      </p:sp>
      <p:sp>
        <p:nvSpPr>
          <p:cNvPr id="15" name="Text 11"/>
          <p:cNvSpPr txBox="1"/>
          <p:nvPr/>
        </p:nvSpPr>
        <p:spPr>
          <a:xfrm>
            <a:off x="4937760" y="2843784"/>
            <a:ext cx="3931920" cy="411480"/>
          </a:xfrm>
          <a:prstGeom prst="rect">
            <a:avLst/>
          </a:prstGeom>
          <a:noFill/>
          <a:ln/>
        </p:spPr>
        <p:txBody>
          <a:bodyPr wrap="square" lIns="0" tIns="0" rIns="0" bIns="0" rtlCol="0" anchor="ctr"/>
          <a:lstStyle/>
          <a:p>
            <a:pPr indent="0" marL="0">
              <a:buNone/>
            </a:pPr>
            <a:r>
              <a:rPr lang="en-US" sz="1800" dirty="0">
                <a:solidFill>
                  <a:srgbClr val="222222"/>
                </a:solidFill>
              </a:rPr>
              <a:t>10.  My Contribution and Learning</a:t>
            </a:r>
            <a:endParaRPr lang="en-US" sz="1800" dirty="0"/>
          </a:p>
        </p:txBody>
      </p:sp>
      <p:sp>
        <p:nvSpPr>
          <p:cNvPr id="16" name="Text 12"/>
          <p:cNvSpPr txBox="1"/>
          <p:nvPr/>
        </p:nvSpPr>
        <p:spPr>
          <a:xfrm>
            <a:off x="4937760" y="3410712"/>
            <a:ext cx="3931920" cy="411480"/>
          </a:xfrm>
          <a:prstGeom prst="rect">
            <a:avLst/>
          </a:prstGeom>
          <a:noFill/>
          <a:ln/>
        </p:spPr>
        <p:txBody>
          <a:bodyPr wrap="square" lIns="0" tIns="0" rIns="0" bIns="0" rtlCol="0" anchor="ctr"/>
          <a:lstStyle/>
          <a:p>
            <a:pPr indent="0" marL="0">
              <a:buNone/>
            </a:pPr>
            <a:r>
              <a:rPr lang="en-US" sz="1800" dirty="0">
                <a:solidFill>
                  <a:srgbClr val="222222"/>
                </a:solidFill>
              </a:rPr>
              <a:t>11.  Conclusion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Introduction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3</a:t>
            </a:r>
            <a:endParaRPr lang="en-US" sz="1000" dirty="0"/>
          </a:p>
        </p:txBody>
      </p:sp>
      <p:sp>
        <p:nvSpPr>
          <p:cNvPr id="6" name="Text 2"/>
          <p:cNvSpPr txBox="1"/>
          <p:nvPr/>
        </p:nvSpPr>
        <p:spPr>
          <a:xfrm>
            <a:off x="457200" y="1005840"/>
            <a:ext cx="5120640" cy="822960"/>
          </a:xfrm>
          <a:prstGeom prst="rect">
            <a:avLst/>
          </a:prstGeom>
          <a:noFill/>
          <a:ln/>
        </p:spPr>
        <p:txBody>
          <a:bodyPr wrap="square" lIns="0" tIns="0" rIns="0" bIns="0" rtlCol="0" anchor="ctr"/>
          <a:lstStyle/>
          <a:p>
            <a:pPr indent="0" marL="0">
              <a:buNone/>
            </a:pPr>
            <a:r>
              <a:rPr lang="en-US" sz="1500" dirty="0">
                <a:solidFill>
                  <a:srgbClr val="222222"/>
                </a:solidFill>
              </a:rPr>
              <a:t>A dual-arm robotic manipulator consists of two coordinated robotic arms mounted on a common base, designed to perform tasks requiring:</a:t>
            </a:r>
            <a:endParaRPr lang="en-US" sz="1500" dirty="0"/>
          </a:p>
        </p:txBody>
      </p:sp>
      <p:sp>
        <p:nvSpPr>
          <p:cNvPr id="7" name="Text 3"/>
          <p:cNvSpPr txBox="1"/>
          <p:nvPr/>
        </p:nvSpPr>
        <p:spPr>
          <a:xfrm>
            <a:off x="457200" y="1874520"/>
            <a:ext cx="51206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222"/>
                </a:solidFill>
              </a:rPr>
              <a:t>AI vision for real-time detection and decisions.</a:t>
            </a:r>
            <a:endParaRPr lang="en-US" sz="1500" dirty="0"/>
          </a:p>
          <a:p>
            <a:pPr marL="342900" indent="-342900">
              <a:spcAft>
                <a:spcPts val="800"/>
              </a:spcAft>
              <a:buSzPct val="100000"/>
              <a:buChar char="•"/>
            </a:pPr>
            <a:r>
              <a:rPr lang="en-US" sz="1500" dirty="0">
                <a:solidFill>
                  <a:srgbClr val="222222"/>
                </a:solidFill>
              </a:rPr>
              <a:t>Dynamic adaptability to changing environments.</a:t>
            </a:r>
            <a:endParaRPr lang="en-US" sz="1500" dirty="0"/>
          </a:p>
          <a:p>
            <a:pPr marL="342900" indent="-342900">
              <a:spcAft>
                <a:spcPts val="800"/>
              </a:spcAft>
              <a:buSzPct val="100000"/>
              <a:buChar char="•"/>
            </a:pPr>
            <a:r>
              <a:rPr lang="en-US" sz="1500" dirty="0">
                <a:solidFill>
                  <a:srgbClr val="222222"/>
                </a:solidFill>
              </a:rPr>
              <a:t>Industry 4.0 readiness for smart, connected automation.</a:t>
            </a:r>
            <a:endParaRPr lang="en-US" sz="1500" dirty="0"/>
          </a:p>
          <a:p>
            <a:pPr marL="342900" indent="-342900">
              <a:spcAft>
                <a:spcPts val="800"/>
              </a:spcAft>
              <a:buSzPct val="100000"/>
              <a:buChar char="•"/>
            </a:pPr>
            <a:r>
              <a:rPr lang="en-US" sz="1500" dirty="0">
                <a:solidFill>
                  <a:srgbClr val="222222"/>
                </a:solidFill>
              </a:rPr>
              <a:t>Coordinated handling for precise manipulation and transfer.</a:t>
            </a:r>
            <a:endParaRPr lang="en-US" sz="1500" dirty="0"/>
          </a:p>
          <a:p>
            <a:pPr marL="342900" indent="-342900">
              <a:spcAft>
                <a:spcPts val="800"/>
              </a:spcAft>
              <a:buSzPct val="100000"/>
              <a:buChar char="•"/>
            </a:pPr>
            <a:r>
              <a:rPr lang="en-US" sz="1500" dirty="0">
                <a:solidFill>
                  <a:srgbClr val="222222"/>
                </a:solidFill>
              </a:rPr>
              <a:t>Use in smart manufacturing and automated material handling.</a:t>
            </a:r>
            <a:endParaRPr lang="en-US" sz="1500" dirty="0"/>
          </a:p>
        </p:txBody>
      </p:sp>
      <p:sp>
        <p:nvSpPr>
          <p:cNvPr id="8" name="Shape 4"/>
          <p:cNvSpPr/>
          <p:nvPr/>
        </p:nvSpPr>
        <p:spPr>
          <a:xfrm>
            <a:off x="6126480" y="1005840"/>
            <a:ext cx="2377440" cy="3566160"/>
          </a:xfrm>
          <a:prstGeom prst="rect">
            <a:avLst/>
          </a:prstGeom>
          <a:solidFill>
            <a:srgbClr val="FFFFFF"/>
          </a:solidFill>
          <a:ln w="9525">
            <a:solidFill>
              <a:srgbClr val="BFBFBF"/>
            </a:solidFill>
            <a:prstDash val="solid"/>
          </a:ln>
        </p:spPr>
      </p:sp>
      <p:pic>
        <p:nvPicPr>
          <p:cNvPr id="9" name="Image 1" descr="robot.png">    </p:cNvPr>
          <p:cNvPicPr>
            <a:picLocks noChangeAspect="1"/>
          </p:cNvPicPr>
          <p:nvPr/>
        </p:nvPicPr>
        <p:blipFill>
          <a:blip r:embed="rId2"/>
          <a:stretch>
            <a:fillRect/>
          </a:stretch>
        </p:blipFill>
        <p:spPr>
          <a:xfrm>
            <a:off x="6126480" y="1005840"/>
            <a:ext cx="2377440" cy="3566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Problem Statement</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4</a:t>
            </a:r>
            <a:endParaRPr lang="en-US" sz="1000" dirty="0"/>
          </a:p>
        </p:txBody>
      </p:sp>
      <p:sp>
        <p:nvSpPr>
          <p:cNvPr id="6" name="Text 2"/>
          <p:cNvSpPr txBox="1"/>
          <p:nvPr/>
        </p:nvSpPr>
        <p:spPr>
          <a:xfrm>
            <a:off x="457200" y="1005840"/>
            <a:ext cx="822960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22222"/>
                </a:solidFill>
              </a:rPr>
              <a:t>Most industrial robots operate using fixed programs and predefined paths, which limits autonomy and the ability to adapt to changing environments.</a:t>
            </a:r>
            <a:endParaRPr lang="en-US" sz="1700" dirty="0"/>
          </a:p>
          <a:p>
            <a:pPr marL="342900" indent="-342900">
              <a:spcAft>
                <a:spcPts val="1000"/>
              </a:spcAft>
              <a:buSzPct val="100000"/>
              <a:buChar char="•"/>
            </a:pPr>
            <a:r>
              <a:rPr lang="en-US" sz="1700" dirty="0">
                <a:solidFill>
                  <a:srgbClr val="222222"/>
                </a:solidFill>
              </a:rPr>
              <a:t>They perform well only in controlled settings, but fail when object positions or lighting conditions change, highlighting the need for intelligent perception systems.</a:t>
            </a:r>
            <a:endParaRPr lang="en-US" sz="1700" dirty="0"/>
          </a:p>
          <a:p>
            <a:pPr marL="342900" indent="-342900">
              <a:spcAft>
                <a:spcPts val="1000"/>
              </a:spcAft>
              <a:buSzPct val="100000"/>
              <a:buChar char="•"/>
            </a:pPr>
            <a:r>
              <a:rPr lang="en-US" sz="1700" dirty="0">
                <a:solidFill>
                  <a:srgbClr val="222222"/>
                </a:solidFill>
              </a:rPr>
              <a:t>Traditional vision systems struggle to detect and classify objects accurately in complex, real-world scenes, reducing flexibility and adaptability.</a:t>
            </a:r>
            <a:endParaRPr lang="en-US" sz="1700" dirty="0"/>
          </a:p>
          <a:p>
            <a:pPr marL="342900" indent="-342900">
              <a:spcAft>
                <a:spcPts val="1000"/>
              </a:spcAft>
              <a:buSzPct val="100000"/>
              <a:buChar char="•"/>
            </a:pPr>
            <a:r>
              <a:rPr lang="en-US" sz="1700" dirty="0">
                <a:solidFill>
                  <a:srgbClr val="222222"/>
                </a:solidFill>
              </a:rPr>
              <a:t>Existing systems often lack integration between vision sensing and motion control, especially in dual-arm robots, where efficient coordination and synchronization is critical for accurate pick-and-place operations.</a:t>
            </a:r>
            <a:endParaRPr lang="en-US" sz="1700" dirty="0"/>
          </a:p>
          <a:p>
            <a:pPr marL="342900" indent="-342900">
              <a:spcAft>
                <a:spcPts val="1000"/>
              </a:spcAft>
              <a:buSzPct val="100000"/>
              <a:buChar char="•"/>
            </a:pPr>
            <a:r>
              <a:rPr lang="en-US" sz="1700" dirty="0">
                <a:solidFill>
                  <a:srgbClr val="222222"/>
                </a:solidFill>
              </a:rPr>
              <a:t>Before physically building the robot system, we can design and simulate tasks in a virtual environment to reduce risk, time, and cost.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Literature Survey</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411480"/>
                <a:gridCol w="1691640"/>
                <a:gridCol w="1005840"/>
                <a:gridCol w="2240280"/>
                <a:gridCol w="1417320"/>
                <a:gridCol w="1463040"/>
              </a:tblGrid>
              <a:tr h="0">
                <a:tc>
                  <a:txBody>
                    <a:bodyPr/>
                    <a:lstStyle/>
                    <a:p>
                      <a:pPr algn="ctr" indent="0" marL="0">
                        <a:buNone/>
                      </a:pPr>
                      <a:r>
                        <a:rPr lang="en-US" sz="1100" b="1" dirty="0">
                          <a:solidFill>
                            <a:srgbClr val="FFFFFF"/>
                          </a:solidFill>
                        </a:rPr>
                        <a:t>S No.</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Title</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Authors</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What They Did</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Pros</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Limitations / Research Gap</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r>
              <a:tr h="0">
                <a:tc>
                  <a:txBody>
                    <a:bodyPr/>
                    <a:lstStyle/>
                    <a:p>
                      <a:pPr indent="0" marL="0">
                        <a:buNone/>
                      </a:pPr>
                      <a:r>
                        <a:rPr lang="en-US" sz="1000" dirty="0">
                          <a:solidFill>
                            <a:srgbClr val="222222"/>
                          </a:solidFill>
                        </a:rPr>
                        <a:t>1</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You Only Look Once: Unified, Real-Time Object Detection (IEEE CVPR, 2016)</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Joseph Redmon et al.</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Introduced YOLO for real-time object detection widely used in robotics.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High accuracy; real-time detection; works in dynamic environments.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Not designed for manipulation; no dual-arm coordination.</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0">
                <a:tc>
                  <a:txBody>
                    <a:bodyPr/>
                    <a:lstStyle/>
                    <a:p>
                      <a:pPr indent="0" marL="0">
                        <a:buNone/>
                      </a:pPr>
                      <a:r>
                        <a:rPr lang="en-US" sz="1000" dirty="0">
                          <a:solidFill>
                            <a:srgbClr val="222222"/>
                          </a:solidFill>
                        </a:rPr>
                        <a:t>2</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Pick and Place Planning for Dual-Arm Manipulators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Kensuke Harada, Torea Foissotte</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Presented a method for planning pick-and-place motions using dual-arm manipulators, with offline region analysis and online trajectory selection.</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Deals with coordinated motion planning for both arms.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Assumes known object geometry and does not integrate modern vision / imitation learning.</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0">
                <a:tc>
                  <a:txBody>
                    <a:bodyPr/>
                    <a:lstStyle/>
                    <a:p>
                      <a:pPr indent="0" marL="0">
                        <a:buNone/>
                      </a:pPr>
                      <a:r>
                        <a:rPr lang="en-US" sz="1000" dirty="0">
                          <a:solidFill>
                            <a:srgbClr val="222222"/>
                          </a:solidFill>
                        </a:rPr>
                        <a:t>3</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A visual imitation learning algorithm for the selection of robot's grasping points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Shuai Zhang, Zhiguo Wang</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Proposed a CNN-based imitation learning algorithm where robots learn optimal grasping points from human demonstrations.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Reduces reliance on manual geometric modelling; faster grasp planning.</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Focused mainly on grasp points; does not address full dual-arm task sequencing or motion coordination.</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Literature Survey</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411480"/>
                <a:gridCol w="1691640"/>
                <a:gridCol w="1005840"/>
                <a:gridCol w="2240280"/>
                <a:gridCol w="1417320"/>
                <a:gridCol w="1463040"/>
              </a:tblGrid>
              <a:tr h="0">
                <a:tc>
                  <a:txBody>
                    <a:bodyPr/>
                    <a:lstStyle/>
                    <a:p>
                      <a:pPr algn="ctr" indent="0" marL="0">
                        <a:buNone/>
                      </a:pPr>
                      <a:r>
                        <a:rPr lang="en-US" sz="1100" b="1" dirty="0">
                          <a:solidFill>
                            <a:srgbClr val="FFFFFF"/>
                          </a:solidFill>
                        </a:rPr>
                        <a:t>S No.</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Title</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Authors</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What They Did</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Pros</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Limitations / Research Gap</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r>
              <a:tr h="0">
                <a:tc>
                  <a:txBody>
                    <a:bodyPr/>
                    <a:lstStyle/>
                    <a:p>
                      <a:pPr indent="0" marL="0">
                        <a:buNone/>
                      </a:pPr>
                      <a:r>
                        <a:rPr lang="en-US" sz="1000" dirty="0">
                          <a:solidFill>
                            <a:srgbClr val="222222"/>
                          </a:solidFill>
                        </a:rPr>
                        <a:t>4</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Research on LFD Systems of Humanoid Dual-Arm Robot</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Ze Cui, Lang Kou</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Investigated learning from demonstration for a humanoid dual-arm robot, using GMM and keyframe segmentation to build action primitives.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Improves demonstration generalization for complex tasks.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Heavy reliance on motion capture and real human data; vision integration needs work.</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0">
                <a:tc>
                  <a:txBody>
                    <a:bodyPr/>
                    <a:lstStyle/>
                    <a:p>
                      <a:pPr indent="0" marL="0">
                        <a:buNone/>
                      </a:pPr>
                      <a:r>
                        <a:rPr lang="en-US" sz="1000" dirty="0">
                          <a:solidFill>
                            <a:srgbClr val="222222"/>
                          </a:solidFill>
                        </a:rPr>
                        <a:t>5</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Learning Dual-Arm Push and Grasp Synergy in Dense Clutter</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Yongliang Wang, Hamidreza Kasaei</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Developed a hierarchical DRL framework for dual-arm push-grasp strategies in dense clutter.</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Extends dual-arm coordination into cluttered environments.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Computationally intensive training; needs large simulation data; real-world transfer still challenging.</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0">
                <a:tc>
                  <a:txBody>
                    <a:bodyPr/>
                    <a:lstStyle/>
                    <a:p>
                      <a:pPr indent="0" marL="0">
                        <a:buNone/>
                      </a:pPr>
                      <a:r>
                        <a:rPr lang="en-US" sz="1000" dirty="0">
                          <a:solidFill>
                            <a:srgbClr val="222222"/>
                          </a:solidFill>
                        </a:rPr>
                        <a:t>6</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A Multi-task CNN for Autonomous Robotic Grasping in Object Stacking Scenes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Hanbo Zhang, Xuguang Lan</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Proposed a CNN that jointly performs object detection and grasp planning in stacked scenes.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Combines perception and grasp planning in one model.</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Tested mostly in controlled settings; performance drops in unstructured real environments.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Literature Survey</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411480"/>
                <a:gridCol w="1691640"/>
                <a:gridCol w="1005840"/>
                <a:gridCol w="2240280"/>
                <a:gridCol w="1417320"/>
                <a:gridCol w="1463040"/>
              </a:tblGrid>
              <a:tr h="0">
                <a:tc>
                  <a:txBody>
                    <a:bodyPr/>
                    <a:lstStyle/>
                    <a:p>
                      <a:pPr algn="ctr" indent="0" marL="0">
                        <a:buNone/>
                      </a:pPr>
                      <a:r>
                        <a:rPr lang="en-US" sz="1100" b="1" dirty="0">
                          <a:solidFill>
                            <a:srgbClr val="FFFFFF"/>
                          </a:solidFill>
                        </a:rPr>
                        <a:t>S No.</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Title</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Authors</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What They Did</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Pros</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rPr>
                        <a:t>Limitations / Research Gap</a:t>
                      </a:r>
                      <a:endParaRPr lang="en-US" sz="1100" dirty="0"/>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864"/>
                    </a:solidFill>
                  </a:tcPr>
                </a:tc>
              </a:tr>
              <a:tr h="0">
                <a:tc>
                  <a:txBody>
                    <a:bodyPr/>
                    <a:lstStyle/>
                    <a:p>
                      <a:pPr indent="0" marL="0">
                        <a:buNone/>
                      </a:pPr>
                      <a:r>
                        <a:rPr lang="en-US" sz="1000" dirty="0">
                          <a:solidFill>
                            <a:srgbClr val="222222"/>
                          </a:solidFill>
                        </a:rPr>
                        <a:t>7</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Vision-Based Robotic Object Grasping – A Deep Reinforcement Learning Approach</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Yan-Ling Chen, Yan-Rou Cai</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Combined vision (YOLO object detection) with deep reinforcement learning (Soft Actor-Critic) to grasp objects autonomously.</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Integrates vision with learning; reduces manual programming.</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RL is data and computation heavy; not focused on dual-arm coordination.</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0">
                <a:tc>
                  <a:txBody>
                    <a:bodyPr/>
                    <a:lstStyle/>
                    <a:p>
                      <a:pPr indent="0" marL="0">
                        <a:buNone/>
                      </a:pPr>
                      <a:r>
                        <a:rPr lang="en-US" sz="1000" dirty="0">
                          <a:solidFill>
                            <a:srgbClr val="222222"/>
                          </a:solidFill>
                        </a:rPr>
                        <a:t>8</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6D Pose Estimation with Combined Deep Learning and 3D Vision Techniques for Fast and Accurate Object Grasping</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Tuan-Tang Le, Trung-Son Le</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Combined 2D deep learning recognition with 6D pose estimation for accurate real-time 3D object pose in cluttered scenes.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High accuracy and improved grasping success in real pick-and-place.</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Single-arm grasping; needs extensive pose datasets; no dual-arm coordination.</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0">
                <a:tc>
                  <a:txBody>
                    <a:bodyPr/>
                    <a:lstStyle/>
                    <a:p>
                      <a:pPr indent="0" marL="0">
                        <a:buNone/>
                      </a:pPr>
                      <a:r>
                        <a:rPr lang="en-US" sz="1000" dirty="0">
                          <a:solidFill>
                            <a:srgbClr val="222222"/>
                          </a:solidFill>
                        </a:rPr>
                        <a:t>9</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Learning Hand-Eye Coordination for Robotic Grasping (IJRR, 2016)</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Sergey Levine et al.</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Used deep learning for robotic grasp prediction.</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High grasp success; works in dynamic environments.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222222"/>
                          </a:solidFill>
                        </a:rPr>
                        <a:t>High computational cost; single-arm focus.</a:t>
                      </a:r>
                      <a:endParaRPr lang="en-US" sz="1000" dirty="0"/>
                    </a:p>
                  </a:txBody>
                  <a:tcPr marL="91440" marR="91440" marT="45720" marB="4572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Solution / Objective</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8</a:t>
            </a:r>
            <a:endParaRPr lang="en-US" sz="1000" dirty="0"/>
          </a:p>
        </p:txBody>
      </p:sp>
      <p:sp>
        <p:nvSpPr>
          <p:cNvPr id="6" name="Text 2"/>
          <p:cNvSpPr txBox="1"/>
          <p:nvPr/>
        </p:nvSpPr>
        <p:spPr>
          <a:xfrm>
            <a:off x="457200" y="1005840"/>
            <a:ext cx="822960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22222"/>
                </a:solidFill>
              </a:rPr>
              <a:t>Implement an AI-based vision system (YOLOv8) to enable real-time object detection and classification, allowing the robot to perceive dynamic environments accurately.</a:t>
            </a:r>
            <a:endParaRPr lang="en-US" sz="1700" dirty="0"/>
          </a:p>
          <a:p>
            <a:pPr marL="342900" indent="-342900">
              <a:spcAft>
                <a:spcPts val="1000"/>
              </a:spcAft>
              <a:buSzPct val="100000"/>
              <a:buChar char="•"/>
            </a:pPr>
            <a:r>
              <a:rPr lang="en-US" sz="1700" dirty="0">
                <a:solidFill>
                  <a:srgbClr val="222222"/>
                </a:solidFill>
              </a:rPr>
              <a:t>Develop a dual-arm coordination framework to ensure synchronized and efficient motion during complex operations.</a:t>
            </a:r>
            <a:endParaRPr lang="en-US" sz="1700" dirty="0"/>
          </a:p>
          <a:p>
            <a:pPr marL="342900" indent="-342900">
              <a:spcAft>
                <a:spcPts val="1000"/>
              </a:spcAft>
              <a:buSzPct val="100000"/>
              <a:buChar char="•"/>
            </a:pPr>
            <a:r>
              <a:rPr lang="en-US" sz="1700" dirty="0">
                <a:solidFill>
                  <a:srgbClr val="222222"/>
                </a:solidFill>
              </a:rPr>
              <a:t>Combine vision sensing, decision-making, and motion control in a unified AI-driven system, enabling autonomous operation.</a:t>
            </a:r>
            <a:endParaRPr lang="en-US" sz="1700" dirty="0"/>
          </a:p>
          <a:p>
            <a:pPr marL="342900" indent="-342900">
              <a:spcAft>
                <a:spcPts val="1000"/>
              </a:spcAft>
              <a:buSzPct val="100000"/>
              <a:buChar char="•"/>
            </a:pPr>
            <a:r>
              <a:rPr lang="en-US" sz="1700" dirty="0">
                <a:solidFill>
                  <a:srgbClr val="222222"/>
                </a:solidFill>
              </a:rPr>
              <a:t>Minimize human intervention by automating task planning and execution, ensuring real-time responsiveness despite changes in object positions or lighting conditions.</a:t>
            </a:r>
            <a:endParaRPr lang="en-US" sz="1700" dirty="0"/>
          </a:p>
          <a:p>
            <a:pPr marL="342900" indent="-342900">
              <a:spcAft>
                <a:spcPts val="1000"/>
              </a:spcAft>
              <a:buSzPct val="100000"/>
              <a:buChar char="•"/>
            </a:pPr>
            <a:r>
              <a:rPr lang="en-US" sz="1700" dirty="0">
                <a:solidFill>
                  <a:srgbClr val="222222"/>
                </a:solidFill>
              </a:rPr>
              <a:t>Use NVIDIA Isaac Sim to simulate, train, and validate AI-based dual-arm robotic systems before real-world implementation.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Methodology / Work Plan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9</a:t>
            </a:r>
            <a:endParaRPr lang="en-US" sz="1000" dirty="0"/>
          </a:p>
        </p:txBody>
      </p:sp>
      <p:sp>
        <p:nvSpPr>
          <p:cNvPr id="6" name="Shape 2"/>
          <p:cNvSpPr/>
          <p:nvPr/>
        </p:nvSpPr>
        <p:spPr>
          <a:xfrm>
            <a:off x="1298040" y="914400"/>
            <a:ext cx="6547920" cy="3840480"/>
          </a:xfrm>
          <a:prstGeom prst="rect">
            <a:avLst/>
          </a:prstGeom>
          <a:solidFill>
            <a:srgbClr val="FFFFFF"/>
          </a:solidFill>
          <a:ln w="9525">
            <a:solidFill>
              <a:srgbClr val="BFBFBF"/>
            </a:solidFill>
            <a:prstDash val="solid"/>
          </a:ln>
        </p:spPr>
      </p:sp>
      <p:pic>
        <p:nvPicPr>
          <p:cNvPr id="7" name="Image 1" descr="flow.png">    </p:cNvPr>
          <p:cNvPicPr>
            <a:picLocks noChangeAspect="1"/>
          </p:cNvPicPr>
          <p:nvPr/>
        </p:nvPicPr>
        <p:blipFill>
          <a:blip r:embed="rId2"/>
          <a:stretch>
            <a:fillRect/>
          </a:stretch>
        </p:blipFill>
        <p:spPr>
          <a:xfrm>
            <a:off x="1298040" y="914400"/>
            <a:ext cx="6547920" cy="3840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Methodology / Work Plan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10</a:t>
            </a:r>
            <a:endParaRPr lang="en-US" sz="1000" dirty="0"/>
          </a:p>
        </p:txBody>
      </p:sp>
      <p:sp>
        <p:nvSpPr>
          <p:cNvPr id="6" name="Text 2"/>
          <p:cNvSpPr txBox="1"/>
          <p:nvPr/>
        </p:nvSpPr>
        <p:spPr>
          <a:xfrm>
            <a:off x="457200" y="1005840"/>
            <a:ext cx="4023360" cy="3749040"/>
          </a:xfrm>
          <a:prstGeom prst="rect">
            <a:avLst/>
          </a:prstGeom>
          <a:noFill/>
          <a:ln/>
        </p:spPr>
        <p:txBody>
          <a:bodyPr wrap="square" lIns="0" tIns="0" rIns="0" bIns="0" rtlCol="0" anchor="t"/>
          <a:lstStyle/>
          <a:p>
            <a:pPr indent="0" marL="0">
              <a:buNone/>
            </a:pPr>
            <a:r>
              <a:rPr lang="en-US" sz="1500" b="1" dirty="0">
                <a:solidFill>
                  <a:srgbClr val="1F3864"/>
                </a:solidFill>
              </a:rPr>
              <a:t>1. Synthetic Data Generation</a:t>
            </a:r>
            <a:endParaRPr lang="en-US" sz="1300" dirty="0"/>
          </a:p>
          <a:p>
            <a:pPr marL="342900" indent="-342900">
              <a:buSzPct val="100000"/>
              <a:buChar char="•"/>
            </a:pPr>
            <a:r>
              <a:rPr lang="en-US" sz="1300" dirty="0">
                <a:solidFill>
                  <a:srgbClr val="222222"/>
                </a:solidFill>
              </a:rPr>
              <a:t>Create virtual scenes and objects in NVIDIA Isaac Sim.</a:t>
            </a:r>
            <a:endParaRPr lang="en-US" sz="1300" dirty="0"/>
          </a:p>
          <a:p>
            <a:pPr marL="342900" indent="-342900">
              <a:buSzPct val="100000"/>
              <a:buChar char="•"/>
            </a:pPr>
            <a:r>
              <a:rPr lang="en-US" sz="1300" dirty="0">
                <a:solidFill>
                  <a:srgbClr val="222222"/>
                </a:solidFill>
              </a:rPr>
              <a:t>Generate RGB images, depth maps, and 2D bounding boxes.</a:t>
            </a:r>
            <a:endParaRPr lang="en-US" sz="1300" dirty="0"/>
          </a:p>
          <a:p>
            <a:pPr marL="342900" indent="-342900">
              <a:buSzPct val="100000"/>
              <a:buChar char="•"/>
            </a:pPr>
            <a:r>
              <a:rPr lang="en-US" sz="1300" dirty="0">
                <a:solidFill>
                  <a:srgbClr val="222222"/>
                </a:solidFill>
              </a:rPr>
              <a:t>Capture varied lighting and object positions.</a:t>
            </a:r>
            <a:endParaRPr lang="en-US" sz="1300" dirty="0"/>
          </a:p>
          <a:p>
            <a:pPr indent="0" marL="0">
              <a:buNone/>
            </a:pPr>
            <a:r>
              <a:rPr lang="en-US" sz="1500" b="1" dirty="0">
                <a:solidFill>
                  <a:srgbClr val="1F3864"/>
                </a:solidFill>
              </a:rPr>
              <a:t>2. Dataset Preparation</a:t>
            </a:r>
            <a:endParaRPr lang="en-US" sz="1300" dirty="0"/>
          </a:p>
          <a:p>
            <a:pPr marL="342900" indent="-342900">
              <a:buSzPct val="100000"/>
              <a:buChar char="•"/>
            </a:pPr>
            <a:r>
              <a:rPr lang="en-US" sz="1300" dirty="0">
                <a:solidFill>
                  <a:srgbClr val="222222"/>
                </a:solidFill>
              </a:rPr>
              <a:t>Convert annotations to YOLO format.</a:t>
            </a:r>
            <a:endParaRPr lang="en-US" sz="1300" dirty="0"/>
          </a:p>
          <a:p>
            <a:pPr marL="342900" indent="-342900">
              <a:buSzPct val="100000"/>
              <a:buChar char="•"/>
            </a:pPr>
            <a:r>
              <a:rPr lang="en-US" sz="1300" dirty="0">
                <a:solidFill>
                  <a:srgbClr val="222222"/>
                </a:solidFill>
              </a:rPr>
              <a:t>Organize images and labels into train/validation sets.</a:t>
            </a:r>
            <a:endParaRPr lang="en-US" sz="1300" dirty="0"/>
          </a:p>
          <a:p>
            <a:pPr marL="342900" indent="-342900">
              <a:buSzPct val="100000"/>
              <a:buChar char="•"/>
            </a:pPr>
            <a:r>
              <a:rPr lang="en-US" sz="1300" dirty="0">
                <a:solidFill>
                  <a:srgbClr val="222222"/>
                </a:solidFill>
              </a:rPr>
              <a:t>Verify label accuracy and class IDs.</a:t>
            </a:r>
            <a:endParaRPr lang="en-US" sz="1300" dirty="0"/>
          </a:p>
          <a:p>
            <a:pPr indent="0" marL="0">
              <a:buNone/>
            </a:pPr>
            <a:r>
              <a:rPr lang="en-US" sz="1500" b="1" dirty="0">
                <a:solidFill>
                  <a:srgbClr val="1F3864"/>
                </a:solidFill>
              </a:rPr>
              <a:t>3. Training YOLO Model</a:t>
            </a:r>
            <a:endParaRPr lang="en-US" sz="1300" dirty="0"/>
          </a:p>
          <a:p>
            <a:pPr marL="342900" indent="-342900">
              <a:buSzPct val="100000"/>
              <a:buChar char="•"/>
            </a:pPr>
            <a:r>
              <a:rPr lang="en-US" sz="1300" dirty="0">
                <a:solidFill>
                  <a:srgbClr val="222222"/>
                </a:solidFill>
              </a:rPr>
              <a:t>Train on the labelled synthetic dataset; tune over epochs.</a:t>
            </a:r>
            <a:endParaRPr lang="en-US" sz="1300" dirty="0"/>
          </a:p>
          <a:p>
            <a:pPr marL="342900" indent="-342900">
              <a:buSzPct val="100000"/>
              <a:buChar char="•"/>
            </a:pPr>
            <a:r>
              <a:rPr lang="en-US" sz="1300" dirty="0">
                <a:solidFill>
                  <a:srgbClr val="222222"/>
                </a:solidFill>
              </a:rPr>
              <a:t>Save trained weights (best.pt) for deployment.</a:t>
            </a:r>
            <a:endParaRPr lang="en-US" sz="1300" dirty="0"/>
          </a:p>
          <a:p>
            <a:pPr indent="0" marL="0">
              <a:buNone/>
            </a:pPr>
            <a:r>
              <a:rPr lang="en-US" sz="1500" b="1" dirty="0">
                <a:solidFill>
                  <a:srgbClr val="1F3864"/>
                </a:solidFill>
              </a:rPr>
              <a:t>4. Testing and Validation</a:t>
            </a:r>
            <a:endParaRPr lang="en-US" sz="1300" dirty="0"/>
          </a:p>
          <a:p>
            <a:pPr marL="342900" indent="-342900">
              <a:buSzPct val="100000"/>
              <a:buChar char="•"/>
            </a:pPr>
            <a:r>
              <a:rPr lang="en-US" sz="1300" dirty="0">
                <a:solidFill>
                  <a:srgbClr val="222222"/>
                </a:solidFill>
              </a:rPr>
              <a:t>Evaluate on validation dataset; inspect predicted boxes.</a:t>
            </a:r>
            <a:endParaRPr lang="en-US" sz="1300" dirty="0"/>
          </a:p>
        </p:txBody>
      </p:sp>
      <p:sp>
        <p:nvSpPr>
          <p:cNvPr id="7" name="Text 3"/>
          <p:cNvSpPr txBox="1"/>
          <p:nvPr/>
        </p:nvSpPr>
        <p:spPr>
          <a:xfrm>
            <a:off x="4663440" y="1005840"/>
            <a:ext cx="4023360" cy="3749040"/>
          </a:xfrm>
          <a:prstGeom prst="rect">
            <a:avLst/>
          </a:prstGeom>
          <a:noFill/>
          <a:ln/>
        </p:spPr>
        <p:txBody>
          <a:bodyPr wrap="square" lIns="0" tIns="0" rIns="0" bIns="0" rtlCol="0" anchor="t"/>
          <a:lstStyle/>
          <a:p>
            <a:pPr indent="0" marL="0">
              <a:buNone/>
            </a:pPr>
            <a:r>
              <a:rPr lang="en-US" sz="1500" b="1" dirty="0">
                <a:solidFill>
                  <a:srgbClr val="1F3864"/>
                </a:solidFill>
              </a:rPr>
              <a:t>5. Adding 3D Information (Depth Fusion)</a:t>
            </a:r>
            <a:endParaRPr lang="en-US" sz="1300" dirty="0"/>
          </a:p>
          <a:p>
            <a:pPr marL="342900" indent="-342900">
              <a:buSzPct val="100000"/>
              <a:buChar char="•"/>
            </a:pPr>
            <a:r>
              <a:rPr lang="en-US" sz="1300" dirty="0">
                <a:solidFill>
                  <a:srgbClr val="222222"/>
                </a:solidFill>
              </a:rPr>
              <a:t>Combine depth data with 2D detections.</a:t>
            </a:r>
            <a:endParaRPr lang="en-US" sz="1300" dirty="0"/>
          </a:p>
          <a:p>
            <a:pPr marL="342900" indent="-342900">
              <a:buSzPct val="100000"/>
              <a:buChar char="•"/>
            </a:pPr>
            <a:r>
              <a:rPr lang="en-US" sz="1300" dirty="0">
                <a:solidFill>
                  <a:srgbClr val="222222"/>
                </a:solidFill>
              </a:rPr>
              <a:t>Compute real-world object positions (X, Y, Z).</a:t>
            </a:r>
            <a:endParaRPr lang="en-US" sz="1300" dirty="0"/>
          </a:p>
          <a:p>
            <a:pPr indent="0" marL="0">
              <a:buNone/>
            </a:pPr>
            <a:r>
              <a:rPr lang="en-US" sz="1500" b="1" dirty="0">
                <a:solidFill>
                  <a:srgbClr val="1F3864"/>
                </a:solidFill>
              </a:rPr>
              <a:t>6. Coordinate Transformation (Camera → Robot Base)</a:t>
            </a:r>
            <a:endParaRPr lang="en-US" sz="1300" dirty="0"/>
          </a:p>
          <a:p>
            <a:pPr marL="342900" indent="-342900">
              <a:buSzPct val="100000"/>
              <a:buChar char="•"/>
            </a:pPr>
            <a:r>
              <a:rPr lang="en-US" sz="1300" dirty="0">
                <a:solidFill>
                  <a:srgbClr val="222222"/>
                </a:solidFill>
              </a:rPr>
              <a:t>Convert object coordinates from camera frame to robot arm frame.</a:t>
            </a:r>
            <a:endParaRPr lang="en-US" sz="1300" dirty="0"/>
          </a:p>
          <a:p>
            <a:pPr indent="0" marL="0">
              <a:buNone/>
            </a:pPr>
            <a:r>
              <a:rPr lang="en-US" sz="1500" b="1" dirty="0">
                <a:solidFill>
                  <a:srgbClr val="1F3864"/>
                </a:solidFill>
              </a:rPr>
              <a:t>7. Grasp Planning</a:t>
            </a:r>
            <a:endParaRPr lang="en-US" sz="1300" dirty="0"/>
          </a:p>
          <a:p>
            <a:pPr marL="342900" indent="-342900">
              <a:buSzPct val="100000"/>
              <a:buChar char="•"/>
            </a:pPr>
            <a:r>
              <a:rPr lang="en-US" sz="1300" dirty="0">
                <a:solidFill>
                  <a:srgbClr val="222222"/>
                </a:solidFill>
              </a:rPr>
              <a:t>Determine optimal grasp points and orientations.</a:t>
            </a:r>
            <a:endParaRPr lang="en-US" sz="1300" dirty="0"/>
          </a:p>
          <a:p>
            <a:pPr indent="0" marL="0">
              <a:buNone/>
            </a:pPr>
            <a:r>
              <a:rPr lang="en-US" sz="1500" b="1" dirty="0">
                <a:solidFill>
                  <a:srgbClr val="1F3864"/>
                </a:solidFill>
              </a:rPr>
              <a:t>8. Motion Planning &amp; Execution (Pick-and-Place)</a:t>
            </a:r>
            <a:endParaRPr lang="en-US" sz="1300" dirty="0"/>
          </a:p>
          <a:p>
            <a:pPr marL="342900" indent="-342900">
              <a:buSzPct val="100000"/>
              <a:buChar char="•"/>
            </a:pPr>
            <a:r>
              <a:rPr lang="en-US" sz="1300" dirty="0">
                <a:solidFill>
                  <a:srgbClr val="222222"/>
                </a:solidFill>
              </a:rPr>
              <a:t>Generate collision-free robot trajectories.</a:t>
            </a:r>
            <a:endParaRPr lang="en-US" sz="1300" dirty="0"/>
          </a:p>
          <a:p>
            <a:pPr marL="342900" indent="-342900">
              <a:buSzPct val="100000"/>
              <a:buChar char="•"/>
            </a:pPr>
            <a:r>
              <a:rPr lang="en-US" sz="1300" dirty="0">
                <a:solidFill>
                  <a:srgbClr val="222222"/>
                </a:solidFill>
              </a:rPr>
              <a:t>Execute pick-and-place tasks accurately.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Implementation of Methodology</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11</a:t>
            </a:r>
            <a:endParaRPr lang="en-US" sz="1000" dirty="0"/>
          </a:p>
        </p:txBody>
      </p:sp>
      <p:sp>
        <p:nvSpPr>
          <p:cNvPr id="6" name="Text 2"/>
          <p:cNvSpPr txBox="1"/>
          <p:nvPr/>
        </p:nvSpPr>
        <p:spPr>
          <a:xfrm>
            <a:off x="457200" y="1005840"/>
            <a:ext cx="8229600" cy="37490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222222"/>
                </a:solidFill>
              </a:rPr>
              <a:t>Created a simulation environment in NVIDIA Isaac Sim with a virtual RGB-D camera.</a:t>
            </a:r>
            <a:endParaRPr lang="en-US" sz="1600" dirty="0"/>
          </a:p>
          <a:p>
            <a:pPr marL="342900" indent="-342900">
              <a:spcAft>
                <a:spcPts val="900"/>
              </a:spcAft>
              <a:buSzPct val="100000"/>
              <a:buChar char="•"/>
            </a:pPr>
            <a:r>
              <a:rPr lang="en-US" sz="1600" dirty="0">
                <a:solidFill>
                  <a:srgbClr val="222222"/>
                </a:solidFill>
              </a:rPr>
              <a:t>Captured real-time RGB and depth data from the simulated environment.</a:t>
            </a:r>
            <a:endParaRPr lang="en-US" sz="1600" dirty="0"/>
          </a:p>
          <a:p>
            <a:pPr marL="342900" indent="-342900">
              <a:spcAft>
                <a:spcPts val="900"/>
              </a:spcAft>
              <a:buSzPct val="100000"/>
              <a:buChar char="•"/>
            </a:pPr>
            <a:r>
              <a:rPr lang="en-US" sz="1600" dirty="0">
                <a:solidFill>
                  <a:srgbClr val="222222"/>
                </a:solidFill>
              </a:rPr>
              <a:t>Established ROS2 communication by subscribing to RGB and depth topics.</a:t>
            </a:r>
            <a:endParaRPr lang="en-US" sz="1600" dirty="0"/>
          </a:p>
          <a:p>
            <a:pPr marL="342900" indent="-342900">
              <a:spcAft>
                <a:spcPts val="900"/>
              </a:spcAft>
              <a:buSzPct val="100000"/>
              <a:buChar char="•"/>
            </a:pPr>
            <a:r>
              <a:rPr lang="en-US" sz="1600" dirty="0">
                <a:solidFill>
                  <a:srgbClr val="222222"/>
                </a:solidFill>
              </a:rPr>
              <a:t>Verified continuous data flow between simulation and processing modules.</a:t>
            </a:r>
            <a:endParaRPr lang="en-US" sz="1600" dirty="0"/>
          </a:p>
          <a:p>
            <a:pPr marL="342900" indent="-342900">
              <a:spcAft>
                <a:spcPts val="900"/>
              </a:spcAft>
              <a:buSzPct val="100000"/>
              <a:buChar char="•"/>
            </a:pPr>
            <a:r>
              <a:rPr lang="en-US" sz="1600" dirty="0">
                <a:solidFill>
                  <a:srgbClr val="222222"/>
                </a:solidFill>
              </a:rPr>
              <a:t>Implemented a custom YOLOv8 model for object detection.</a:t>
            </a:r>
            <a:endParaRPr lang="en-US" sz="1600" dirty="0"/>
          </a:p>
          <a:p>
            <a:pPr marL="342900" indent="-342900">
              <a:spcAft>
                <a:spcPts val="900"/>
              </a:spcAft>
              <a:buSzPct val="100000"/>
              <a:buChar char="•"/>
            </a:pPr>
            <a:r>
              <a:rPr lang="en-US" sz="1600" dirty="0">
                <a:solidFill>
                  <a:srgbClr val="222222"/>
                </a:solidFill>
              </a:rPr>
              <a:t>Detected objects and extracted bounding boxes, labels, and confidence scores.</a:t>
            </a:r>
            <a:endParaRPr lang="en-US" sz="1600" dirty="0"/>
          </a:p>
          <a:p>
            <a:pPr marL="342900" indent="-342900">
              <a:spcAft>
                <a:spcPts val="900"/>
              </a:spcAft>
              <a:buSzPct val="100000"/>
              <a:buChar char="•"/>
            </a:pPr>
            <a:r>
              <a:rPr lang="en-US" sz="1600" dirty="0">
                <a:solidFill>
                  <a:srgbClr val="222222"/>
                </a:solidFill>
              </a:rPr>
              <a:t>Utilized depth information to estimate 3D position of detected objects.</a:t>
            </a:r>
            <a:endParaRPr lang="en-US" sz="1600" dirty="0"/>
          </a:p>
          <a:p>
            <a:pPr marL="342900" indent="-342900">
              <a:spcAft>
                <a:spcPts val="900"/>
              </a:spcAft>
              <a:buSzPct val="100000"/>
              <a:buChar char="•"/>
            </a:pPr>
            <a:r>
              <a:rPr lang="en-US" sz="1600" dirty="0">
                <a:solidFill>
                  <a:srgbClr val="222222"/>
                </a:solidFill>
              </a:rPr>
              <a:t>Computed spatial coordinates using the center of bounding boxes.</a:t>
            </a:r>
            <a:endParaRPr lang="en-US" sz="1600" dirty="0"/>
          </a:p>
          <a:p>
            <a:pPr marL="342900" indent="-342900">
              <a:spcAft>
                <a:spcPts val="900"/>
              </a:spcAft>
              <a:buSzPct val="100000"/>
              <a:buChar char="•"/>
            </a:pPr>
            <a:r>
              <a:rPr lang="en-US" sz="1600" dirty="0">
                <a:solidFill>
                  <a:srgbClr val="222222"/>
                </a:solidFill>
              </a:rPr>
              <a:t>Applied ROS2 TF framework to transform coordinates from camera frame to robot base frame.</a:t>
            </a:r>
            <a:endParaRPr lang="en-US" sz="1600" dirty="0"/>
          </a:p>
          <a:p>
            <a:pPr marL="342900" indent="-342900">
              <a:spcAft>
                <a:spcPts val="900"/>
              </a:spcAft>
              <a:buSzPct val="100000"/>
              <a:buChar char="•"/>
            </a:pPr>
            <a:r>
              <a:rPr lang="en-US" sz="1600" dirty="0">
                <a:solidFill>
                  <a:srgbClr val="222222"/>
                </a:solidFill>
              </a:rPr>
              <a:t>Sent control commands to the robotic arm to validate system response.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Environment and Synthetic Data</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12</a:t>
            </a:r>
            <a:endParaRPr lang="en-US" sz="1000" dirty="0"/>
          </a:p>
        </p:txBody>
      </p:sp>
      <p:sp>
        <p:nvSpPr>
          <p:cNvPr id="6" name="Shape 2"/>
          <p:cNvSpPr/>
          <p:nvPr/>
        </p:nvSpPr>
        <p:spPr>
          <a:xfrm>
            <a:off x="457200" y="1018413"/>
            <a:ext cx="4206240" cy="2260854"/>
          </a:xfrm>
          <a:prstGeom prst="rect">
            <a:avLst/>
          </a:prstGeom>
          <a:solidFill>
            <a:srgbClr val="FFFFFF"/>
          </a:solidFill>
          <a:ln w="9525">
            <a:solidFill>
              <a:srgbClr val="BFBFBF"/>
            </a:solidFill>
            <a:prstDash val="solid"/>
          </a:ln>
        </p:spPr>
      </p:sp>
      <p:pic>
        <p:nvPicPr>
          <p:cNvPr id="7" name="Image 1" descr="Isaac Sim environment">    </p:cNvPr>
          <p:cNvPicPr>
            <a:picLocks noChangeAspect="1"/>
          </p:cNvPicPr>
          <p:nvPr/>
        </p:nvPicPr>
        <p:blipFill>
          <a:blip r:embed="rId2"/>
          <a:stretch>
            <a:fillRect/>
          </a:stretch>
        </p:blipFill>
        <p:spPr>
          <a:xfrm>
            <a:off x="457200" y="1018413"/>
            <a:ext cx="4206240" cy="2260854"/>
          </a:xfrm>
          <a:prstGeom prst="rect">
            <a:avLst/>
          </a:prstGeom>
        </p:spPr>
      </p:pic>
      <p:sp>
        <p:nvSpPr>
          <p:cNvPr id="8" name="Text 3"/>
          <p:cNvSpPr txBox="1"/>
          <p:nvPr/>
        </p:nvSpPr>
        <p:spPr>
          <a:xfrm>
            <a:off x="457200" y="3315843"/>
            <a:ext cx="4206240" cy="228600"/>
          </a:xfrm>
          <a:prstGeom prst="rect">
            <a:avLst/>
          </a:prstGeom>
          <a:noFill/>
          <a:ln/>
        </p:spPr>
        <p:txBody>
          <a:bodyPr wrap="square" lIns="0" tIns="0" rIns="0" bIns="0" rtlCol="0" anchor="ctr"/>
          <a:lstStyle/>
          <a:p>
            <a:pPr algn="ctr" indent="0" marL="0">
              <a:buNone/>
            </a:pPr>
            <a:r>
              <a:rPr lang="en-US" sz="1100" i="1" dirty="0">
                <a:solidFill>
                  <a:srgbClr val="595959"/>
                </a:solidFill>
              </a:rPr>
              <a:t>Isaac Sim environment</a:t>
            </a:r>
            <a:endParaRPr lang="en-US" sz="1100" dirty="0"/>
          </a:p>
        </p:txBody>
      </p:sp>
      <p:sp>
        <p:nvSpPr>
          <p:cNvPr id="9" name="Shape 4"/>
          <p:cNvSpPr/>
          <p:nvPr/>
        </p:nvSpPr>
        <p:spPr>
          <a:xfrm>
            <a:off x="4937760" y="983612"/>
            <a:ext cx="3108960" cy="2330456"/>
          </a:xfrm>
          <a:prstGeom prst="rect">
            <a:avLst/>
          </a:prstGeom>
          <a:solidFill>
            <a:srgbClr val="FFFFFF"/>
          </a:solidFill>
          <a:ln w="9525">
            <a:solidFill>
              <a:srgbClr val="BFBFBF"/>
            </a:solidFill>
            <a:prstDash val="solid"/>
          </a:ln>
        </p:spPr>
      </p:sp>
      <p:pic>
        <p:nvPicPr>
          <p:cNvPr id="10" name="Image 2" descr="RGB image">    </p:cNvPr>
          <p:cNvPicPr>
            <a:picLocks noChangeAspect="1"/>
          </p:cNvPicPr>
          <p:nvPr/>
        </p:nvPicPr>
        <p:blipFill>
          <a:blip r:embed="rId3"/>
          <a:stretch>
            <a:fillRect/>
          </a:stretch>
        </p:blipFill>
        <p:spPr>
          <a:xfrm>
            <a:off x="4937760" y="983612"/>
            <a:ext cx="3108960" cy="2330456"/>
          </a:xfrm>
          <a:prstGeom prst="rect">
            <a:avLst/>
          </a:prstGeom>
        </p:spPr>
      </p:pic>
      <p:sp>
        <p:nvSpPr>
          <p:cNvPr id="11" name="Text 5"/>
          <p:cNvSpPr txBox="1"/>
          <p:nvPr/>
        </p:nvSpPr>
        <p:spPr>
          <a:xfrm>
            <a:off x="4937760" y="3350644"/>
            <a:ext cx="3108960" cy="228600"/>
          </a:xfrm>
          <a:prstGeom prst="rect">
            <a:avLst/>
          </a:prstGeom>
          <a:noFill/>
          <a:ln/>
        </p:spPr>
        <p:txBody>
          <a:bodyPr wrap="square" lIns="0" tIns="0" rIns="0" bIns="0" rtlCol="0" anchor="ctr"/>
          <a:lstStyle/>
          <a:p>
            <a:pPr algn="ctr" indent="0" marL="0">
              <a:buNone/>
            </a:pPr>
            <a:r>
              <a:rPr lang="en-US" sz="1100" i="1" dirty="0">
                <a:solidFill>
                  <a:srgbClr val="595959"/>
                </a:solidFill>
              </a:rPr>
              <a:t>RGB image</a:t>
            </a:r>
            <a:endParaRPr lang="en-US" sz="1100" dirty="0"/>
          </a:p>
        </p:txBody>
      </p:sp>
      <p:sp>
        <p:nvSpPr>
          <p:cNvPr id="12" name="Shape 6"/>
          <p:cNvSpPr/>
          <p:nvPr/>
        </p:nvSpPr>
        <p:spPr>
          <a:xfrm>
            <a:off x="931699" y="3611880"/>
            <a:ext cx="3257241" cy="1097280"/>
          </a:xfrm>
          <a:prstGeom prst="rect">
            <a:avLst/>
          </a:prstGeom>
          <a:solidFill>
            <a:srgbClr val="FFFFFF"/>
          </a:solidFill>
          <a:ln w="9525">
            <a:solidFill>
              <a:srgbClr val="BFBFBF"/>
            </a:solidFill>
            <a:prstDash val="solid"/>
          </a:ln>
        </p:spPr>
      </p:sp>
      <p:pic>
        <p:nvPicPr>
          <p:cNvPr id="13" name="Image 3" descr="2D labels (YOLO format)">    </p:cNvPr>
          <p:cNvPicPr>
            <a:picLocks noChangeAspect="1"/>
          </p:cNvPicPr>
          <p:nvPr/>
        </p:nvPicPr>
        <p:blipFill>
          <a:blip r:embed="rId4"/>
          <a:stretch>
            <a:fillRect/>
          </a:stretch>
        </p:blipFill>
        <p:spPr>
          <a:xfrm>
            <a:off x="931699" y="3611880"/>
            <a:ext cx="3257241" cy="1097280"/>
          </a:xfrm>
          <a:prstGeom prst="rect">
            <a:avLst/>
          </a:prstGeom>
        </p:spPr>
      </p:pic>
      <p:sp>
        <p:nvSpPr>
          <p:cNvPr id="14" name="Text 7"/>
          <p:cNvSpPr txBox="1"/>
          <p:nvPr/>
        </p:nvSpPr>
        <p:spPr>
          <a:xfrm>
            <a:off x="457200" y="4745736"/>
            <a:ext cx="4206240" cy="228600"/>
          </a:xfrm>
          <a:prstGeom prst="rect">
            <a:avLst/>
          </a:prstGeom>
          <a:noFill/>
          <a:ln/>
        </p:spPr>
        <p:txBody>
          <a:bodyPr wrap="square" lIns="0" tIns="0" rIns="0" bIns="0" rtlCol="0" anchor="ctr"/>
          <a:lstStyle/>
          <a:p>
            <a:pPr algn="ctr" indent="0" marL="0">
              <a:buNone/>
            </a:pPr>
            <a:r>
              <a:rPr lang="en-US" sz="1100" i="1" dirty="0">
                <a:solidFill>
                  <a:srgbClr val="595959"/>
                </a:solidFill>
              </a:rPr>
              <a:t>2D labels (YOLO format)</a:t>
            </a:r>
            <a:endParaRPr lang="en-US" sz="1100" dirty="0"/>
          </a:p>
        </p:txBody>
      </p:sp>
      <p:sp>
        <p:nvSpPr>
          <p:cNvPr id="15" name="Text 8"/>
          <p:cNvSpPr txBox="1"/>
          <p:nvPr/>
        </p:nvSpPr>
        <p:spPr>
          <a:xfrm>
            <a:off x="4937760" y="3611880"/>
            <a:ext cx="3749040" cy="1097280"/>
          </a:xfrm>
          <a:prstGeom prst="rect">
            <a:avLst/>
          </a:prstGeom>
          <a:noFill/>
          <a:ln/>
        </p:spPr>
        <p:txBody>
          <a:bodyPr wrap="square" lIns="0" tIns="0" rIns="0" bIns="0" rtlCol="0" anchor="t"/>
          <a:lstStyle/>
          <a:p>
            <a:pPr indent="0" marL="0">
              <a:buNone/>
            </a:pPr>
            <a:r>
              <a:rPr lang="en-US" sz="1300" dirty="0">
                <a:solidFill>
                  <a:srgbClr val="222222"/>
                </a:solidFill>
              </a:rPr>
              <a:t>YOLO label: &lt;class_id&gt; &lt;x_center&gt; &lt;y_center&gt; &lt;width&gt; &lt;height&gt;</a:t>
            </a:r>
            <a:endParaRPr lang="en-US" sz="1300" dirty="0"/>
          </a:p>
          <a:p>
            <a:pPr indent="0" marL="0">
              <a:buNone/>
            </a:pPr>
            <a:r>
              <a:rPr lang="en-US" sz="1300" dirty="0">
                <a:solidFill>
                  <a:srgbClr val="222222"/>
                </a:solidFill>
              </a:rPr>
              <a:t>Values are normalized (0–1). Example: 0 → cube, 1 → cylinder.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Object Detection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13</a:t>
            </a:r>
            <a:endParaRPr lang="en-US" sz="1000" dirty="0"/>
          </a:p>
        </p:txBody>
      </p:sp>
      <p:sp>
        <p:nvSpPr>
          <p:cNvPr id="6" name="Text 2"/>
          <p:cNvSpPr txBox="1"/>
          <p:nvPr/>
        </p:nvSpPr>
        <p:spPr>
          <a:xfrm>
            <a:off x="457200" y="914400"/>
            <a:ext cx="8229600" cy="548640"/>
          </a:xfrm>
          <a:prstGeom prst="rect">
            <a:avLst/>
          </a:prstGeom>
          <a:noFill/>
          <a:ln/>
        </p:spPr>
        <p:txBody>
          <a:bodyPr wrap="square" lIns="0" tIns="0" rIns="0" bIns="0" rtlCol="0" anchor="ctr"/>
          <a:lstStyle/>
          <a:p>
            <a:pPr indent="0" marL="0">
              <a:buNone/>
            </a:pPr>
            <a:r>
              <a:rPr lang="en-US" sz="1500" dirty="0">
                <a:solidFill>
                  <a:srgbClr val="222222"/>
                </a:solidFill>
              </a:rPr>
              <a:t>Simulation environment was created and tested in real-time through trained YOLOv8 model in NVIDIA Isaac Sim and successfully detected objects.</a:t>
            </a:r>
            <a:endParaRPr lang="en-US" sz="1500" dirty="0"/>
          </a:p>
        </p:txBody>
      </p:sp>
      <p:sp>
        <p:nvSpPr>
          <p:cNvPr id="7" name="Shape 3"/>
          <p:cNvSpPr/>
          <p:nvPr/>
        </p:nvSpPr>
        <p:spPr>
          <a:xfrm>
            <a:off x="457200" y="2027682"/>
            <a:ext cx="4023360" cy="2162556"/>
          </a:xfrm>
          <a:prstGeom prst="rect">
            <a:avLst/>
          </a:prstGeom>
          <a:solidFill>
            <a:srgbClr val="FFFFFF"/>
          </a:solidFill>
          <a:ln w="9525">
            <a:solidFill>
              <a:srgbClr val="BFBFBF"/>
            </a:solidFill>
            <a:prstDash val="solid"/>
          </a:ln>
        </p:spPr>
      </p:sp>
      <p:pic>
        <p:nvPicPr>
          <p:cNvPr id="8" name="Image 1" descr="Live detection in Isaac Sim">    </p:cNvPr>
          <p:cNvPicPr>
            <a:picLocks noChangeAspect="1"/>
          </p:cNvPicPr>
          <p:nvPr/>
        </p:nvPicPr>
        <p:blipFill>
          <a:blip r:embed="rId2"/>
          <a:stretch>
            <a:fillRect/>
          </a:stretch>
        </p:blipFill>
        <p:spPr>
          <a:xfrm>
            <a:off x="457200" y="2027682"/>
            <a:ext cx="4023360" cy="2162556"/>
          </a:xfrm>
          <a:prstGeom prst="rect">
            <a:avLst/>
          </a:prstGeom>
        </p:spPr>
      </p:pic>
      <p:sp>
        <p:nvSpPr>
          <p:cNvPr id="9" name="Text 4"/>
          <p:cNvSpPr txBox="1"/>
          <p:nvPr/>
        </p:nvSpPr>
        <p:spPr>
          <a:xfrm>
            <a:off x="457200" y="4226814"/>
            <a:ext cx="4023360" cy="228600"/>
          </a:xfrm>
          <a:prstGeom prst="rect">
            <a:avLst/>
          </a:prstGeom>
          <a:noFill/>
          <a:ln/>
        </p:spPr>
        <p:txBody>
          <a:bodyPr wrap="square" lIns="0" tIns="0" rIns="0" bIns="0" rtlCol="0" anchor="ctr"/>
          <a:lstStyle/>
          <a:p>
            <a:pPr algn="ctr" indent="0" marL="0">
              <a:buNone/>
            </a:pPr>
            <a:r>
              <a:rPr lang="en-US" sz="1100" i="1" dirty="0">
                <a:solidFill>
                  <a:srgbClr val="595959"/>
                </a:solidFill>
              </a:rPr>
              <a:t>Live detection in Isaac Sim</a:t>
            </a:r>
            <a:endParaRPr lang="en-US" sz="1100" dirty="0"/>
          </a:p>
        </p:txBody>
      </p:sp>
      <p:sp>
        <p:nvSpPr>
          <p:cNvPr id="10" name="Shape 5"/>
          <p:cNvSpPr/>
          <p:nvPr/>
        </p:nvSpPr>
        <p:spPr>
          <a:xfrm>
            <a:off x="4672584" y="1600200"/>
            <a:ext cx="4005072" cy="3017520"/>
          </a:xfrm>
          <a:prstGeom prst="rect">
            <a:avLst/>
          </a:prstGeom>
          <a:solidFill>
            <a:srgbClr val="FFFFFF"/>
          </a:solidFill>
          <a:ln w="9525">
            <a:solidFill>
              <a:srgbClr val="BFBFBF"/>
            </a:solidFill>
            <a:prstDash val="solid"/>
          </a:ln>
        </p:spPr>
      </p:sp>
      <p:pic>
        <p:nvPicPr>
          <p:cNvPr id="11" name="Image 2" descr="Detection output with class and confidence">    </p:cNvPr>
          <p:cNvPicPr>
            <a:picLocks noChangeAspect="1"/>
          </p:cNvPicPr>
          <p:nvPr/>
        </p:nvPicPr>
        <p:blipFill>
          <a:blip r:embed="rId3"/>
          <a:stretch>
            <a:fillRect/>
          </a:stretch>
        </p:blipFill>
        <p:spPr>
          <a:xfrm>
            <a:off x="4672584" y="1600200"/>
            <a:ext cx="4005072" cy="3017520"/>
          </a:xfrm>
          <a:prstGeom prst="rect">
            <a:avLst/>
          </a:prstGeom>
        </p:spPr>
      </p:pic>
      <p:sp>
        <p:nvSpPr>
          <p:cNvPr id="12" name="Text 6"/>
          <p:cNvSpPr txBox="1"/>
          <p:nvPr/>
        </p:nvSpPr>
        <p:spPr>
          <a:xfrm>
            <a:off x="4663440" y="4654296"/>
            <a:ext cx="4023360" cy="228600"/>
          </a:xfrm>
          <a:prstGeom prst="rect">
            <a:avLst/>
          </a:prstGeom>
          <a:noFill/>
          <a:ln/>
        </p:spPr>
        <p:txBody>
          <a:bodyPr wrap="square" lIns="0" tIns="0" rIns="0" bIns="0" rtlCol="0" anchor="ctr"/>
          <a:lstStyle/>
          <a:p>
            <a:pPr algn="ctr" indent="0" marL="0">
              <a:buNone/>
            </a:pPr>
            <a:r>
              <a:rPr lang="en-US" sz="1100" i="1" dirty="0">
                <a:solidFill>
                  <a:srgbClr val="595959"/>
                </a:solidFill>
              </a:rPr>
              <a:t>Detection output with class and confidence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Depth Integration (2D to 3D)</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14</a:t>
            </a:r>
            <a:endParaRPr lang="en-US" sz="1000" dirty="0"/>
          </a:p>
        </p:txBody>
      </p:sp>
      <p:sp>
        <p:nvSpPr>
          <p:cNvPr id="6" name="Text 2"/>
          <p:cNvSpPr txBox="1"/>
          <p:nvPr/>
        </p:nvSpPr>
        <p:spPr>
          <a:xfrm>
            <a:off x="457200" y="914400"/>
            <a:ext cx="8229600" cy="502920"/>
          </a:xfrm>
          <a:prstGeom prst="rect">
            <a:avLst/>
          </a:prstGeom>
          <a:noFill/>
          <a:ln/>
        </p:spPr>
        <p:txBody>
          <a:bodyPr wrap="square" lIns="0" tIns="0" rIns="0" bIns="0" rtlCol="0" anchor="ctr"/>
          <a:lstStyle/>
          <a:p>
            <a:pPr indent="0" marL="0">
              <a:buNone/>
            </a:pPr>
            <a:r>
              <a:rPr lang="en-US" sz="1400" dirty="0">
                <a:solidFill>
                  <a:srgbClr val="222222"/>
                </a:solidFill>
              </a:rPr>
              <a:t>Depth information was generated from NVIDIA Isaac Sim using the ROS2 Action Graph and integrated with 2D YOLO detections to obtain the 3D position of objects.</a:t>
            </a:r>
            <a:endParaRPr lang="en-US" sz="1400" dirty="0"/>
          </a:p>
        </p:txBody>
      </p:sp>
      <p:sp>
        <p:nvSpPr>
          <p:cNvPr id="7" name="Shape 3"/>
          <p:cNvSpPr/>
          <p:nvPr/>
        </p:nvSpPr>
        <p:spPr>
          <a:xfrm>
            <a:off x="616410" y="1508760"/>
            <a:ext cx="3613500" cy="2331720"/>
          </a:xfrm>
          <a:prstGeom prst="rect">
            <a:avLst/>
          </a:prstGeom>
          <a:solidFill>
            <a:srgbClr val="FFFFFF"/>
          </a:solidFill>
          <a:ln w="9525">
            <a:solidFill>
              <a:srgbClr val="BFBFBF"/>
            </a:solidFill>
            <a:prstDash val="solid"/>
          </a:ln>
        </p:spPr>
      </p:sp>
      <p:pic>
        <p:nvPicPr>
          <p:cNvPr id="8" name="Image 1" descr="YOLO detection with depth">    </p:cNvPr>
          <p:cNvPicPr>
            <a:picLocks noChangeAspect="1"/>
          </p:cNvPicPr>
          <p:nvPr/>
        </p:nvPicPr>
        <p:blipFill>
          <a:blip r:embed="rId2"/>
          <a:stretch>
            <a:fillRect/>
          </a:stretch>
        </p:blipFill>
        <p:spPr>
          <a:xfrm>
            <a:off x="616410" y="1508760"/>
            <a:ext cx="3613500" cy="2331720"/>
          </a:xfrm>
          <a:prstGeom prst="rect">
            <a:avLst/>
          </a:prstGeom>
        </p:spPr>
      </p:pic>
      <p:sp>
        <p:nvSpPr>
          <p:cNvPr id="9" name="Text 4"/>
          <p:cNvSpPr txBox="1"/>
          <p:nvPr/>
        </p:nvSpPr>
        <p:spPr>
          <a:xfrm>
            <a:off x="457200" y="3877056"/>
            <a:ext cx="3931920" cy="228600"/>
          </a:xfrm>
          <a:prstGeom prst="rect">
            <a:avLst/>
          </a:prstGeom>
          <a:noFill/>
          <a:ln/>
        </p:spPr>
        <p:txBody>
          <a:bodyPr wrap="square" lIns="0" tIns="0" rIns="0" bIns="0" rtlCol="0" anchor="ctr"/>
          <a:lstStyle/>
          <a:p>
            <a:pPr algn="ctr" indent="0" marL="0">
              <a:buNone/>
            </a:pPr>
            <a:r>
              <a:rPr lang="en-US" sz="1100" i="1" dirty="0">
                <a:solidFill>
                  <a:srgbClr val="595959"/>
                </a:solidFill>
              </a:rPr>
              <a:t>YOLO detection with depth</a:t>
            </a:r>
            <a:endParaRPr lang="en-US" sz="1100" dirty="0"/>
          </a:p>
        </p:txBody>
      </p:sp>
      <p:sp>
        <p:nvSpPr>
          <p:cNvPr id="10" name="Shape 5"/>
          <p:cNvSpPr/>
          <p:nvPr/>
        </p:nvSpPr>
        <p:spPr>
          <a:xfrm>
            <a:off x="4592060" y="1508760"/>
            <a:ext cx="4074681" cy="2331720"/>
          </a:xfrm>
          <a:prstGeom prst="rect">
            <a:avLst/>
          </a:prstGeom>
          <a:solidFill>
            <a:srgbClr val="FFFFFF"/>
          </a:solidFill>
          <a:ln w="9525">
            <a:solidFill>
              <a:srgbClr val="BFBFBF"/>
            </a:solidFill>
            <a:prstDash val="solid"/>
          </a:ln>
        </p:spPr>
      </p:sp>
      <p:pic>
        <p:nvPicPr>
          <p:cNvPr id="11" name="Image 2" descr="Console output: pixel, depth, world XYZ">    </p:cNvPr>
          <p:cNvPicPr>
            <a:picLocks noChangeAspect="1"/>
          </p:cNvPicPr>
          <p:nvPr/>
        </p:nvPicPr>
        <p:blipFill>
          <a:blip r:embed="rId3"/>
          <a:stretch>
            <a:fillRect/>
          </a:stretch>
        </p:blipFill>
        <p:spPr>
          <a:xfrm>
            <a:off x="4592060" y="1508760"/>
            <a:ext cx="4074681" cy="2331720"/>
          </a:xfrm>
          <a:prstGeom prst="rect">
            <a:avLst/>
          </a:prstGeom>
        </p:spPr>
      </p:pic>
      <p:sp>
        <p:nvSpPr>
          <p:cNvPr id="12" name="Text 6"/>
          <p:cNvSpPr txBox="1"/>
          <p:nvPr/>
        </p:nvSpPr>
        <p:spPr>
          <a:xfrm>
            <a:off x="4572000" y="3877056"/>
            <a:ext cx="4114800" cy="228600"/>
          </a:xfrm>
          <a:prstGeom prst="rect">
            <a:avLst/>
          </a:prstGeom>
          <a:noFill/>
          <a:ln/>
        </p:spPr>
        <p:txBody>
          <a:bodyPr wrap="square" lIns="0" tIns="0" rIns="0" bIns="0" rtlCol="0" anchor="ctr"/>
          <a:lstStyle/>
          <a:p>
            <a:pPr algn="ctr" indent="0" marL="0">
              <a:buNone/>
            </a:pPr>
            <a:r>
              <a:rPr lang="en-US" sz="1100" i="1" dirty="0">
                <a:solidFill>
                  <a:srgbClr val="595959"/>
                </a:solidFill>
              </a:rPr>
              <a:t>Console output: pixel, depth, world XYZ</a:t>
            </a:r>
            <a:endParaRPr lang="en-US" sz="1100" dirty="0"/>
          </a:p>
        </p:txBody>
      </p:sp>
      <p:sp>
        <p:nvSpPr>
          <p:cNvPr id="13" name="Text 7"/>
          <p:cNvSpPr txBox="1"/>
          <p:nvPr/>
        </p:nvSpPr>
        <p:spPr>
          <a:xfrm>
            <a:off x="457200" y="4069080"/>
            <a:ext cx="8229600" cy="640080"/>
          </a:xfrm>
          <a:prstGeom prst="rect">
            <a:avLst/>
          </a:prstGeom>
          <a:noFill/>
          <a:ln/>
        </p:spPr>
        <p:txBody>
          <a:bodyPr wrap="square" lIns="0" tIns="0" rIns="0" bIns="0" rtlCol="0" anchor="ctr"/>
          <a:lstStyle/>
          <a:p>
            <a:pPr indent="0" marL="0">
              <a:buNone/>
            </a:pPr>
            <a:r>
              <a:rPr lang="en-US" sz="1500" b="1" dirty="0">
                <a:solidFill>
                  <a:srgbClr val="1F3864"/>
                </a:solidFill>
              </a:rPr>
              <a:t>X = (u − cx)·Z / fx = (148 − 240) × 1.1595 / 600 = −0.1778 m</a:t>
            </a:r>
            <a:endParaRPr lang="en-US" sz="1500" dirty="0"/>
          </a:p>
          <a:p>
            <a:pPr indent="0" marL="0">
              <a:buNone/>
            </a:pPr>
            <a:r>
              <a:rPr lang="en-US" sz="1500" b="1" dirty="0">
                <a:solidFill>
                  <a:srgbClr val="1F3864"/>
                </a:solidFill>
              </a:rPr>
              <a:t>Y = (v − cy)·Z / fy = (247 − 320) × 1.1595 / 600 = −0.1411 m</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Coordinate Transformation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15</a:t>
            </a:r>
            <a:endParaRPr lang="en-US" sz="1000" dirty="0"/>
          </a:p>
        </p:txBody>
      </p:sp>
      <p:sp>
        <p:nvSpPr>
          <p:cNvPr id="6" name="Text 2"/>
          <p:cNvSpPr txBox="1"/>
          <p:nvPr/>
        </p:nvSpPr>
        <p:spPr>
          <a:xfrm>
            <a:off x="457200" y="1005840"/>
            <a:ext cx="493776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22222"/>
                </a:solidFill>
              </a:rPr>
              <a:t>Coordinate transformation from the camera frame to the robot base frame was achieved using a ROS2 TF node within the Action Graph.</a:t>
            </a:r>
            <a:endParaRPr lang="en-US" sz="1500" dirty="0"/>
          </a:p>
          <a:p>
            <a:pPr marL="342900" indent="-342900">
              <a:spcAft>
                <a:spcPts val="1000"/>
              </a:spcAft>
              <a:buSzPct val="100000"/>
              <a:buChar char="•"/>
            </a:pPr>
            <a:r>
              <a:rPr lang="en-US" sz="1500" dirty="0">
                <a:solidFill>
                  <a:srgbClr val="222222"/>
                </a:solidFill>
              </a:rPr>
              <a:t>The node applies rotation and translation between reference frames.</a:t>
            </a:r>
            <a:endParaRPr lang="en-US" sz="1500" dirty="0"/>
          </a:p>
          <a:p>
            <a:pPr marL="342900" indent="-342900">
              <a:spcAft>
                <a:spcPts val="1000"/>
              </a:spcAft>
              <a:buSzPct val="100000"/>
              <a:buChar char="•"/>
            </a:pPr>
            <a:r>
              <a:rPr lang="en-US" sz="1500" dirty="0">
                <a:solidFill>
                  <a:srgbClr val="222222"/>
                </a:solidFill>
              </a:rPr>
              <a:t>Initial wrong coordinates were caused by improper frame alignment and were corrected by configuring the frames in TF.</a:t>
            </a:r>
            <a:endParaRPr lang="en-US" sz="1500" dirty="0"/>
          </a:p>
        </p:txBody>
      </p:sp>
      <p:sp>
        <p:nvSpPr>
          <p:cNvPr id="7" name="Shape 3"/>
          <p:cNvSpPr/>
          <p:nvPr/>
        </p:nvSpPr>
        <p:spPr>
          <a:xfrm>
            <a:off x="5852160" y="1287902"/>
            <a:ext cx="2194560" cy="3093476"/>
          </a:xfrm>
          <a:prstGeom prst="rect">
            <a:avLst/>
          </a:prstGeom>
          <a:solidFill>
            <a:srgbClr val="FFFFFF"/>
          </a:solidFill>
          <a:ln w="9525">
            <a:solidFill>
              <a:srgbClr val="BFBFBF"/>
            </a:solidFill>
            <a:prstDash val="solid"/>
          </a:ln>
        </p:spPr>
      </p:sp>
      <p:pic>
        <p:nvPicPr>
          <p:cNvPr id="8" name="Image 1" descr="ROS2 Publish Transform Tree">    </p:cNvPr>
          <p:cNvPicPr>
            <a:picLocks noChangeAspect="1"/>
          </p:cNvPicPr>
          <p:nvPr/>
        </p:nvPicPr>
        <p:blipFill>
          <a:blip r:embed="rId2"/>
          <a:stretch>
            <a:fillRect/>
          </a:stretch>
        </p:blipFill>
        <p:spPr>
          <a:xfrm>
            <a:off x="5852160" y="1287902"/>
            <a:ext cx="2194560" cy="3093476"/>
          </a:xfrm>
          <a:prstGeom prst="rect">
            <a:avLst/>
          </a:prstGeom>
        </p:spPr>
      </p:pic>
      <p:sp>
        <p:nvSpPr>
          <p:cNvPr id="9" name="Text 4"/>
          <p:cNvSpPr txBox="1"/>
          <p:nvPr/>
        </p:nvSpPr>
        <p:spPr>
          <a:xfrm>
            <a:off x="5852160" y="4417954"/>
            <a:ext cx="2194560" cy="228600"/>
          </a:xfrm>
          <a:prstGeom prst="rect">
            <a:avLst/>
          </a:prstGeom>
          <a:noFill/>
          <a:ln/>
        </p:spPr>
        <p:txBody>
          <a:bodyPr wrap="square" lIns="0" tIns="0" rIns="0" bIns="0" rtlCol="0" anchor="ctr"/>
          <a:lstStyle/>
          <a:p>
            <a:pPr algn="ctr" indent="0" marL="0">
              <a:buNone/>
            </a:pPr>
            <a:r>
              <a:rPr lang="en-US" sz="1100" i="1" dirty="0">
                <a:solidFill>
                  <a:srgbClr val="595959"/>
                </a:solidFill>
              </a:rPr>
              <a:t>ROS2 Publish Transform Tree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Inverse Kinematics (MATLAB)</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16</a:t>
            </a:r>
            <a:endParaRPr lang="en-US" sz="1000" dirty="0"/>
          </a:p>
        </p:txBody>
      </p:sp>
      <p:sp>
        <p:nvSpPr>
          <p:cNvPr id="6" name="Text 2"/>
          <p:cNvSpPr txBox="1"/>
          <p:nvPr/>
        </p:nvSpPr>
        <p:spPr>
          <a:xfrm>
            <a:off x="457200" y="914400"/>
            <a:ext cx="8229600" cy="502920"/>
          </a:xfrm>
          <a:prstGeom prst="rect">
            <a:avLst/>
          </a:prstGeom>
          <a:noFill/>
          <a:ln/>
        </p:spPr>
        <p:txBody>
          <a:bodyPr wrap="square" lIns="0" tIns="0" rIns="0" bIns="0" rtlCol="0" anchor="ctr"/>
          <a:lstStyle/>
          <a:p>
            <a:pPr indent="0" marL="0">
              <a:buNone/>
            </a:pPr>
            <a:r>
              <a:rPr lang="en-US" sz="1500" dirty="0">
                <a:solidFill>
                  <a:srgbClr val="222222"/>
                </a:solidFill>
              </a:rPr>
              <a:t>Inverse kinematics was computed using MATLAB to determine joint angles required for pick-and-place operations.</a:t>
            </a:r>
            <a:endParaRPr lang="en-US" sz="1500" dirty="0"/>
          </a:p>
        </p:txBody>
      </p:sp>
      <p:sp>
        <p:nvSpPr>
          <p:cNvPr id="7" name="Shape 3"/>
          <p:cNvSpPr/>
          <p:nvPr/>
        </p:nvSpPr>
        <p:spPr>
          <a:xfrm>
            <a:off x="457200" y="1878978"/>
            <a:ext cx="4663440" cy="2459965"/>
          </a:xfrm>
          <a:prstGeom prst="rect">
            <a:avLst/>
          </a:prstGeom>
          <a:solidFill>
            <a:srgbClr val="FFFFFF"/>
          </a:solidFill>
          <a:ln w="9525">
            <a:solidFill>
              <a:srgbClr val="BFBFBF"/>
            </a:solidFill>
            <a:prstDash val="solid"/>
          </a:ln>
        </p:spPr>
      </p:sp>
      <p:pic>
        <p:nvPicPr>
          <p:cNvPr id="8" name="Image 1" descr="MATLAB result: joint angles">    </p:cNvPr>
          <p:cNvPicPr>
            <a:picLocks noChangeAspect="1"/>
          </p:cNvPicPr>
          <p:nvPr/>
        </p:nvPicPr>
        <p:blipFill>
          <a:blip r:embed="rId2"/>
          <a:stretch>
            <a:fillRect/>
          </a:stretch>
        </p:blipFill>
        <p:spPr>
          <a:xfrm>
            <a:off x="457200" y="1878978"/>
            <a:ext cx="4663440" cy="2459965"/>
          </a:xfrm>
          <a:prstGeom prst="rect">
            <a:avLst/>
          </a:prstGeom>
        </p:spPr>
      </p:pic>
      <p:sp>
        <p:nvSpPr>
          <p:cNvPr id="9" name="Text 4"/>
          <p:cNvSpPr txBox="1"/>
          <p:nvPr/>
        </p:nvSpPr>
        <p:spPr>
          <a:xfrm>
            <a:off x="457200" y="4375518"/>
            <a:ext cx="4663440" cy="228600"/>
          </a:xfrm>
          <a:prstGeom prst="rect">
            <a:avLst/>
          </a:prstGeom>
          <a:noFill/>
          <a:ln/>
        </p:spPr>
        <p:txBody>
          <a:bodyPr wrap="square" lIns="0" tIns="0" rIns="0" bIns="0" rtlCol="0" anchor="ctr"/>
          <a:lstStyle/>
          <a:p>
            <a:pPr algn="ctr" indent="0" marL="0">
              <a:buNone/>
            </a:pPr>
            <a:r>
              <a:rPr lang="en-US" sz="1100" i="1" dirty="0">
                <a:solidFill>
                  <a:srgbClr val="595959"/>
                </a:solidFill>
              </a:rPr>
              <a:t>MATLAB result: joint angles</a:t>
            </a:r>
            <a:endParaRPr lang="en-US" sz="1100" dirty="0"/>
          </a:p>
        </p:txBody>
      </p:sp>
      <p:sp>
        <p:nvSpPr>
          <p:cNvPr id="10" name="Shape 5"/>
          <p:cNvSpPr/>
          <p:nvPr/>
        </p:nvSpPr>
        <p:spPr>
          <a:xfrm>
            <a:off x="5303520" y="2171322"/>
            <a:ext cx="3383280" cy="1875276"/>
          </a:xfrm>
          <a:prstGeom prst="rect">
            <a:avLst/>
          </a:prstGeom>
          <a:solidFill>
            <a:srgbClr val="FFFFFF"/>
          </a:solidFill>
          <a:ln w="9525">
            <a:solidFill>
              <a:srgbClr val="BFBFBF"/>
            </a:solidFill>
            <a:prstDash val="solid"/>
          </a:ln>
        </p:spPr>
      </p:sp>
      <p:pic>
        <p:nvPicPr>
          <p:cNvPr id="11" name="Image 2" descr="IK solution and target point">    </p:cNvPr>
          <p:cNvPicPr>
            <a:picLocks noChangeAspect="1"/>
          </p:cNvPicPr>
          <p:nvPr/>
        </p:nvPicPr>
        <p:blipFill>
          <a:blip r:embed="rId3"/>
          <a:stretch>
            <a:fillRect/>
          </a:stretch>
        </p:blipFill>
        <p:spPr>
          <a:xfrm>
            <a:off x="5303520" y="2171322"/>
            <a:ext cx="3383280" cy="1875276"/>
          </a:xfrm>
          <a:prstGeom prst="rect">
            <a:avLst/>
          </a:prstGeom>
        </p:spPr>
      </p:pic>
      <p:sp>
        <p:nvSpPr>
          <p:cNvPr id="12" name="Text 6"/>
          <p:cNvSpPr txBox="1"/>
          <p:nvPr/>
        </p:nvSpPr>
        <p:spPr>
          <a:xfrm>
            <a:off x="5303520" y="4083174"/>
            <a:ext cx="3383280" cy="228600"/>
          </a:xfrm>
          <a:prstGeom prst="rect">
            <a:avLst/>
          </a:prstGeom>
          <a:noFill/>
          <a:ln/>
        </p:spPr>
        <p:txBody>
          <a:bodyPr wrap="square" lIns="0" tIns="0" rIns="0" bIns="0" rtlCol="0" anchor="ctr"/>
          <a:lstStyle/>
          <a:p>
            <a:pPr algn="ctr" indent="0" marL="0">
              <a:buNone/>
            </a:pPr>
            <a:r>
              <a:rPr lang="en-US" sz="1100" i="1" dirty="0">
                <a:solidFill>
                  <a:srgbClr val="595959"/>
                </a:solidFill>
              </a:rPr>
              <a:t>IK solution and target point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Pick-and-Place Operation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17</a:t>
            </a:r>
            <a:endParaRPr lang="en-US" sz="1000" dirty="0"/>
          </a:p>
        </p:txBody>
      </p:sp>
      <p:sp>
        <p:nvSpPr>
          <p:cNvPr id="6" name="Text 2"/>
          <p:cNvSpPr txBox="1"/>
          <p:nvPr/>
        </p:nvSpPr>
        <p:spPr>
          <a:xfrm>
            <a:off x="457200" y="914400"/>
            <a:ext cx="8229600" cy="548640"/>
          </a:xfrm>
          <a:prstGeom prst="rect">
            <a:avLst/>
          </a:prstGeom>
          <a:noFill/>
          <a:ln/>
        </p:spPr>
        <p:txBody>
          <a:bodyPr wrap="square" lIns="0" tIns="0" rIns="0" bIns="0" rtlCol="0" anchor="ctr"/>
          <a:lstStyle/>
          <a:p>
            <a:pPr indent="0" marL="0">
              <a:buNone/>
            </a:pPr>
            <a:r>
              <a:rPr lang="en-US" sz="1400" dirty="0">
                <a:solidFill>
                  <a:srgbClr val="222222"/>
                </a:solidFill>
              </a:rPr>
              <a:t>Based on the calculated joint angles, the robotic manipulator moves toward the detected object, performs a stable grasp, lifts it, transports it to the target location and places it accurately.</a:t>
            </a:r>
            <a:endParaRPr lang="en-US" sz="1400" dirty="0"/>
          </a:p>
        </p:txBody>
      </p:sp>
      <p:sp>
        <p:nvSpPr>
          <p:cNvPr id="7" name="Shape 3"/>
          <p:cNvSpPr/>
          <p:nvPr/>
        </p:nvSpPr>
        <p:spPr>
          <a:xfrm>
            <a:off x="457200" y="2187469"/>
            <a:ext cx="2651760" cy="1294341"/>
          </a:xfrm>
          <a:prstGeom prst="rect">
            <a:avLst/>
          </a:prstGeom>
          <a:solidFill>
            <a:srgbClr val="FFFFFF"/>
          </a:solidFill>
          <a:ln w="9525">
            <a:solidFill>
              <a:srgbClr val="BFBFBF"/>
            </a:solidFill>
            <a:prstDash val="solid"/>
          </a:ln>
        </p:spPr>
      </p:sp>
      <p:pic>
        <p:nvPicPr>
          <p:cNvPr id="8" name="Image 1" descr="Picking of object">    </p:cNvPr>
          <p:cNvPicPr>
            <a:picLocks noChangeAspect="1"/>
          </p:cNvPicPr>
          <p:nvPr/>
        </p:nvPicPr>
        <p:blipFill>
          <a:blip r:embed="rId2"/>
          <a:stretch>
            <a:fillRect/>
          </a:stretch>
        </p:blipFill>
        <p:spPr>
          <a:xfrm>
            <a:off x="457200" y="2187469"/>
            <a:ext cx="2651760" cy="1294341"/>
          </a:xfrm>
          <a:prstGeom prst="rect">
            <a:avLst/>
          </a:prstGeom>
        </p:spPr>
      </p:pic>
      <p:sp>
        <p:nvSpPr>
          <p:cNvPr id="9" name="Text 4"/>
          <p:cNvSpPr txBox="1"/>
          <p:nvPr/>
        </p:nvSpPr>
        <p:spPr>
          <a:xfrm>
            <a:off x="457200" y="3518387"/>
            <a:ext cx="2651760" cy="228600"/>
          </a:xfrm>
          <a:prstGeom prst="rect">
            <a:avLst/>
          </a:prstGeom>
          <a:noFill/>
          <a:ln/>
        </p:spPr>
        <p:txBody>
          <a:bodyPr wrap="square" lIns="0" tIns="0" rIns="0" bIns="0" rtlCol="0" anchor="ctr"/>
          <a:lstStyle/>
          <a:p>
            <a:pPr algn="ctr" indent="0" marL="0">
              <a:buNone/>
            </a:pPr>
            <a:r>
              <a:rPr lang="en-US" sz="1100" i="1" dirty="0">
                <a:solidFill>
                  <a:srgbClr val="595959"/>
                </a:solidFill>
              </a:rPr>
              <a:t>Picking of object</a:t>
            </a:r>
            <a:endParaRPr lang="en-US" sz="1100" dirty="0"/>
          </a:p>
        </p:txBody>
      </p:sp>
      <p:sp>
        <p:nvSpPr>
          <p:cNvPr id="10" name="Shape 5"/>
          <p:cNvSpPr/>
          <p:nvPr/>
        </p:nvSpPr>
        <p:spPr>
          <a:xfrm>
            <a:off x="3246120" y="2187341"/>
            <a:ext cx="2651760" cy="1294598"/>
          </a:xfrm>
          <a:prstGeom prst="rect">
            <a:avLst/>
          </a:prstGeom>
          <a:solidFill>
            <a:srgbClr val="FFFFFF"/>
          </a:solidFill>
          <a:ln w="9525">
            <a:solidFill>
              <a:srgbClr val="BFBFBF"/>
            </a:solidFill>
            <a:prstDash val="solid"/>
          </a:ln>
        </p:spPr>
      </p:sp>
      <p:pic>
        <p:nvPicPr>
          <p:cNvPr id="11" name="Image 2" descr="Holding of object">    </p:cNvPr>
          <p:cNvPicPr>
            <a:picLocks noChangeAspect="1"/>
          </p:cNvPicPr>
          <p:nvPr/>
        </p:nvPicPr>
        <p:blipFill>
          <a:blip r:embed="rId3"/>
          <a:stretch>
            <a:fillRect/>
          </a:stretch>
        </p:blipFill>
        <p:spPr>
          <a:xfrm>
            <a:off x="3246120" y="2187341"/>
            <a:ext cx="2651760" cy="1294598"/>
          </a:xfrm>
          <a:prstGeom prst="rect">
            <a:avLst/>
          </a:prstGeom>
        </p:spPr>
      </p:pic>
      <p:sp>
        <p:nvSpPr>
          <p:cNvPr id="12" name="Text 6"/>
          <p:cNvSpPr txBox="1"/>
          <p:nvPr/>
        </p:nvSpPr>
        <p:spPr>
          <a:xfrm>
            <a:off x="3246120" y="3518515"/>
            <a:ext cx="2651760" cy="228600"/>
          </a:xfrm>
          <a:prstGeom prst="rect">
            <a:avLst/>
          </a:prstGeom>
          <a:noFill/>
          <a:ln/>
        </p:spPr>
        <p:txBody>
          <a:bodyPr wrap="square" lIns="0" tIns="0" rIns="0" bIns="0" rtlCol="0" anchor="ctr"/>
          <a:lstStyle/>
          <a:p>
            <a:pPr algn="ctr" indent="0" marL="0">
              <a:buNone/>
            </a:pPr>
            <a:r>
              <a:rPr lang="en-US" sz="1100" i="1" dirty="0">
                <a:solidFill>
                  <a:srgbClr val="595959"/>
                </a:solidFill>
              </a:rPr>
              <a:t>Holding of object</a:t>
            </a:r>
            <a:endParaRPr lang="en-US" sz="1100" dirty="0"/>
          </a:p>
        </p:txBody>
      </p:sp>
      <p:sp>
        <p:nvSpPr>
          <p:cNvPr id="13" name="Shape 7"/>
          <p:cNvSpPr/>
          <p:nvPr/>
        </p:nvSpPr>
        <p:spPr>
          <a:xfrm>
            <a:off x="6035040" y="2218644"/>
            <a:ext cx="2651760" cy="1231992"/>
          </a:xfrm>
          <a:prstGeom prst="rect">
            <a:avLst/>
          </a:prstGeom>
          <a:solidFill>
            <a:srgbClr val="FFFFFF"/>
          </a:solidFill>
          <a:ln w="9525">
            <a:solidFill>
              <a:srgbClr val="BFBFBF"/>
            </a:solidFill>
            <a:prstDash val="solid"/>
          </a:ln>
        </p:spPr>
      </p:sp>
      <p:pic>
        <p:nvPicPr>
          <p:cNvPr id="14" name="Image 3" descr="Placing of object">    </p:cNvPr>
          <p:cNvPicPr>
            <a:picLocks noChangeAspect="1"/>
          </p:cNvPicPr>
          <p:nvPr/>
        </p:nvPicPr>
        <p:blipFill>
          <a:blip r:embed="rId4"/>
          <a:stretch>
            <a:fillRect/>
          </a:stretch>
        </p:blipFill>
        <p:spPr>
          <a:xfrm>
            <a:off x="6035040" y="2218644"/>
            <a:ext cx="2651760" cy="1231992"/>
          </a:xfrm>
          <a:prstGeom prst="rect">
            <a:avLst/>
          </a:prstGeom>
        </p:spPr>
      </p:pic>
      <p:sp>
        <p:nvSpPr>
          <p:cNvPr id="15" name="Text 8"/>
          <p:cNvSpPr txBox="1"/>
          <p:nvPr/>
        </p:nvSpPr>
        <p:spPr>
          <a:xfrm>
            <a:off x="6035040" y="3487212"/>
            <a:ext cx="2651760" cy="228600"/>
          </a:xfrm>
          <a:prstGeom prst="rect">
            <a:avLst/>
          </a:prstGeom>
          <a:noFill/>
          <a:ln/>
        </p:spPr>
        <p:txBody>
          <a:bodyPr wrap="square" lIns="0" tIns="0" rIns="0" bIns="0" rtlCol="0" anchor="ctr"/>
          <a:lstStyle/>
          <a:p>
            <a:pPr algn="ctr" indent="0" marL="0">
              <a:buNone/>
            </a:pPr>
            <a:r>
              <a:rPr lang="en-US" sz="1100" i="1" dirty="0">
                <a:solidFill>
                  <a:srgbClr val="595959"/>
                </a:solidFill>
              </a:rPr>
              <a:t>Placing of object</a:t>
            </a:r>
            <a:endParaRPr lang="en-US" sz="1100" dirty="0"/>
          </a:p>
        </p:txBody>
      </p:sp>
      <p:sp>
        <p:nvSpPr>
          <p:cNvPr id="16" name="Text 9"/>
          <p:cNvSpPr txBox="1"/>
          <p:nvPr/>
        </p:nvSpPr>
        <p:spPr>
          <a:xfrm>
            <a:off x="457200" y="4251960"/>
            <a:ext cx="8229600" cy="365760"/>
          </a:xfrm>
          <a:prstGeom prst="rect">
            <a:avLst/>
          </a:prstGeom>
          <a:noFill/>
          <a:ln/>
        </p:spPr>
        <p:txBody>
          <a:bodyPr wrap="square" lIns="0" tIns="0" rIns="0" bIns="0" rtlCol="0" anchor="ctr"/>
          <a:lstStyle/>
          <a:p>
            <a:pPr algn="ctr" indent="0" marL="0">
              <a:buNone/>
            </a:pPr>
            <a:r>
              <a:rPr lang="en-US" sz="1500" b="1" dirty="0">
                <a:solidFill>
                  <a:srgbClr val="1F3864"/>
                </a:solidFill>
              </a:rPr>
              <a:t>Perception, planning and control are integrated for autonomous task execution.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ROS2 Action Graph</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18</a:t>
            </a:r>
            <a:endParaRPr lang="en-US" sz="1000" dirty="0"/>
          </a:p>
        </p:txBody>
      </p:sp>
      <p:sp>
        <p:nvSpPr>
          <p:cNvPr id="6" name="Text 2"/>
          <p:cNvSpPr txBox="1"/>
          <p:nvPr/>
        </p:nvSpPr>
        <p:spPr>
          <a:xfrm>
            <a:off x="457200" y="1005840"/>
            <a:ext cx="82296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222"/>
                </a:solidFill>
              </a:rPr>
              <a:t>All nodes are interconnected to acquire RGB images, depth information and perform coordinate transformations.</a:t>
            </a:r>
            <a:endParaRPr lang="en-US" sz="1400" dirty="0"/>
          </a:p>
          <a:p>
            <a:pPr marL="342900" indent="-342900">
              <a:spcAft>
                <a:spcPts val="600"/>
              </a:spcAft>
              <a:buSzPct val="100000"/>
              <a:buChar char="•"/>
            </a:pPr>
            <a:r>
              <a:rPr lang="en-US" sz="1400" dirty="0">
                <a:solidFill>
                  <a:srgbClr val="222222"/>
                </a:solidFill>
              </a:rPr>
              <a:t>Camera and depth nodes continuously stream data.</a:t>
            </a:r>
            <a:endParaRPr lang="en-US" sz="1400" dirty="0"/>
          </a:p>
          <a:p>
            <a:pPr marL="342900" indent="-342900">
              <a:spcAft>
                <a:spcPts val="600"/>
              </a:spcAft>
              <a:buSzPct val="100000"/>
              <a:buChar char="•"/>
            </a:pPr>
            <a:r>
              <a:rPr lang="en-US" sz="1400" dirty="0">
                <a:solidFill>
                  <a:srgbClr val="222222"/>
                </a:solidFill>
              </a:rPr>
              <a:t>Control nodes send joint commands for both robotic arms, enabling coordinated motion and execution of pick-and-place.</a:t>
            </a:r>
            <a:endParaRPr lang="en-US" sz="1400" dirty="0"/>
          </a:p>
        </p:txBody>
      </p:sp>
      <p:sp>
        <p:nvSpPr>
          <p:cNvPr id="7" name="Shape 3"/>
          <p:cNvSpPr/>
          <p:nvPr/>
        </p:nvSpPr>
        <p:spPr>
          <a:xfrm>
            <a:off x="1949210" y="2240280"/>
            <a:ext cx="5245580" cy="2514600"/>
          </a:xfrm>
          <a:prstGeom prst="rect">
            <a:avLst/>
          </a:prstGeom>
          <a:solidFill>
            <a:srgbClr val="FFFFFF"/>
          </a:solidFill>
          <a:ln w="9525">
            <a:solidFill>
              <a:srgbClr val="BFBFBF"/>
            </a:solidFill>
            <a:prstDash val="solid"/>
          </a:ln>
        </p:spPr>
      </p:sp>
      <p:pic>
        <p:nvPicPr>
          <p:cNvPr id="8" name="Image 1" descr="graph2.jpg">    </p:cNvPr>
          <p:cNvPicPr>
            <a:picLocks noChangeAspect="1"/>
          </p:cNvPicPr>
          <p:nvPr/>
        </p:nvPicPr>
        <p:blipFill>
          <a:blip r:embed="rId2"/>
          <a:stretch>
            <a:fillRect/>
          </a:stretch>
        </p:blipFill>
        <p:spPr>
          <a:xfrm>
            <a:off x="1949210" y="2240280"/>
            <a:ext cx="5245580" cy="2514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Model Evaluation – YOLOv8</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19</a:t>
            </a:r>
            <a:endParaRPr lang="en-US" sz="1000" dirty="0"/>
          </a:p>
        </p:txBody>
      </p:sp>
      <p:sp>
        <p:nvSpPr>
          <p:cNvPr id="6" name="Text 2"/>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500" dirty="0">
                <a:solidFill>
                  <a:srgbClr val="222222"/>
                </a:solidFill>
              </a:rPr>
              <a:t>The performance was evaluated using precision, recall and F1-score.  Model: YOLOv8</a:t>
            </a:r>
            <a:endParaRPr lang="en-US" sz="1500" dirty="0"/>
          </a:p>
        </p:txBody>
      </p:sp>
      <p:sp>
        <p:nvSpPr>
          <p:cNvPr id="7" name="Shape 3"/>
          <p:cNvSpPr/>
          <p:nvPr/>
        </p:nvSpPr>
        <p:spPr>
          <a:xfrm>
            <a:off x="1471832" y="1371600"/>
            <a:ext cx="1994095" cy="1600200"/>
          </a:xfrm>
          <a:prstGeom prst="rect">
            <a:avLst/>
          </a:prstGeom>
          <a:solidFill>
            <a:srgbClr val="FFFFFF"/>
          </a:solidFill>
          <a:ln w="9525">
            <a:solidFill>
              <a:srgbClr val="BFBFBF"/>
            </a:solidFill>
            <a:prstDash val="solid"/>
          </a:ln>
        </p:spPr>
      </p:sp>
      <p:pic>
        <p:nvPicPr>
          <p:cNvPr id="8" name="Image 1" descr="v8_acc">    </p:cNvPr>
          <p:cNvPicPr>
            <a:picLocks noChangeAspect="1"/>
          </p:cNvPicPr>
          <p:nvPr/>
        </p:nvPicPr>
        <p:blipFill>
          <a:blip r:embed="rId2"/>
          <a:stretch>
            <a:fillRect/>
          </a:stretch>
        </p:blipFill>
        <p:spPr>
          <a:xfrm>
            <a:off x="1471832" y="1371600"/>
            <a:ext cx="1994095" cy="1600200"/>
          </a:xfrm>
          <a:prstGeom prst="rect">
            <a:avLst/>
          </a:prstGeom>
        </p:spPr>
      </p:pic>
      <p:sp>
        <p:nvSpPr>
          <p:cNvPr id="9" name="Shape 4"/>
          <p:cNvSpPr/>
          <p:nvPr/>
        </p:nvSpPr>
        <p:spPr>
          <a:xfrm>
            <a:off x="5477337" y="1371600"/>
            <a:ext cx="2395566" cy="1600200"/>
          </a:xfrm>
          <a:prstGeom prst="rect">
            <a:avLst/>
          </a:prstGeom>
          <a:solidFill>
            <a:srgbClr val="FFFFFF"/>
          </a:solidFill>
          <a:ln w="9525">
            <a:solidFill>
              <a:srgbClr val="BFBFBF"/>
            </a:solidFill>
            <a:prstDash val="solid"/>
          </a:ln>
        </p:spPr>
      </p:sp>
      <p:pic>
        <p:nvPicPr>
          <p:cNvPr id="10" name="Image 2" descr="v8_pc">    </p:cNvPr>
          <p:cNvPicPr>
            <a:picLocks noChangeAspect="1"/>
          </p:cNvPicPr>
          <p:nvPr/>
        </p:nvPicPr>
        <p:blipFill>
          <a:blip r:embed="rId3"/>
          <a:stretch>
            <a:fillRect/>
          </a:stretch>
        </p:blipFill>
        <p:spPr>
          <a:xfrm>
            <a:off x="5477337" y="1371600"/>
            <a:ext cx="2395566" cy="1600200"/>
          </a:xfrm>
          <a:prstGeom prst="rect">
            <a:avLst/>
          </a:prstGeom>
        </p:spPr>
      </p:pic>
      <p:sp>
        <p:nvSpPr>
          <p:cNvPr id="11" name="Shape 5"/>
          <p:cNvSpPr/>
          <p:nvPr/>
        </p:nvSpPr>
        <p:spPr>
          <a:xfrm>
            <a:off x="1269565" y="3063240"/>
            <a:ext cx="2398630" cy="1600200"/>
          </a:xfrm>
          <a:prstGeom prst="rect">
            <a:avLst/>
          </a:prstGeom>
          <a:solidFill>
            <a:srgbClr val="FFFFFF"/>
          </a:solidFill>
          <a:ln w="9525">
            <a:solidFill>
              <a:srgbClr val="BFBFBF"/>
            </a:solidFill>
            <a:prstDash val="solid"/>
          </a:ln>
        </p:spPr>
      </p:sp>
      <p:pic>
        <p:nvPicPr>
          <p:cNvPr id="12" name="Image 3" descr="v8_f1">    </p:cNvPr>
          <p:cNvPicPr>
            <a:picLocks noChangeAspect="1"/>
          </p:cNvPicPr>
          <p:nvPr/>
        </p:nvPicPr>
        <p:blipFill>
          <a:blip r:embed="rId4"/>
          <a:stretch>
            <a:fillRect/>
          </a:stretch>
        </p:blipFill>
        <p:spPr>
          <a:xfrm>
            <a:off x="1269565" y="3063240"/>
            <a:ext cx="2398630" cy="1600200"/>
          </a:xfrm>
          <a:prstGeom prst="rect">
            <a:avLst/>
          </a:prstGeom>
        </p:spPr>
      </p:pic>
      <p:sp>
        <p:nvSpPr>
          <p:cNvPr id="13" name="Shape 6"/>
          <p:cNvSpPr/>
          <p:nvPr/>
        </p:nvSpPr>
        <p:spPr>
          <a:xfrm>
            <a:off x="5474970" y="3063240"/>
            <a:ext cx="2400300" cy="1600200"/>
          </a:xfrm>
          <a:prstGeom prst="rect">
            <a:avLst/>
          </a:prstGeom>
          <a:solidFill>
            <a:srgbClr val="FFFFFF"/>
          </a:solidFill>
          <a:ln w="9525">
            <a:solidFill>
              <a:srgbClr val="BFBFBF"/>
            </a:solidFill>
            <a:prstDash val="solid"/>
          </a:ln>
        </p:spPr>
      </p:sp>
      <p:pic>
        <p:nvPicPr>
          <p:cNvPr id="14" name="Image 4" descr="v8_rec">    </p:cNvPr>
          <p:cNvPicPr>
            <a:picLocks noChangeAspect="1"/>
          </p:cNvPicPr>
          <p:nvPr/>
        </p:nvPicPr>
        <p:blipFill>
          <a:blip r:embed="rId5"/>
          <a:stretch>
            <a:fillRect/>
          </a:stretch>
        </p:blipFill>
        <p:spPr>
          <a:xfrm>
            <a:off x="5474970" y="3063240"/>
            <a:ext cx="2400300" cy="160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Result: Model Evaluation – YOLOv8n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20</a:t>
            </a:r>
            <a:endParaRPr lang="en-US" sz="1000" dirty="0"/>
          </a:p>
        </p:txBody>
      </p:sp>
      <p:sp>
        <p:nvSpPr>
          <p:cNvPr id="6" name="Text 2"/>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500" dirty="0">
                <a:solidFill>
                  <a:srgbClr val="222222"/>
                </a:solidFill>
              </a:rPr>
              <a:t>Model: YOLOv8n  (overall mAP@0.5 = 0.990)</a:t>
            </a:r>
            <a:endParaRPr lang="en-US" sz="1500" dirty="0"/>
          </a:p>
        </p:txBody>
      </p:sp>
      <p:sp>
        <p:nvSpPr>
          <p:cNvPr id="7" name="Shape 3"/>
          <p:cNvSpPr/>
          <p:nvPr/>
        </p:nvSpPr>
        <p:spPr>
          <a:xfrm>
            <a:off x="1127026" y="1371600"/>
            <a:ext cx="2683709" cy="1600200"/>
          </a:xfrm>
          <a:prstGeom prst="rect">
            <a:avLst/>
          </a:prstGeom>
          <a:solidFill>
            <a:srgbClr val="FFFFFF"/>
          </a:solidFill>
          <a:ln w="9525">
            <a:solidFill>
              <a:srgbClr val="BFBFBF"/>
            </a:solidFill>
            <a:prstDash val="solid"/>
          </a:ln>
        </p:spPr>
      </p:sp>
      <p:pic>
        <p:nvPicPr>
          <p:cNvPr id="8" name="Image 1" descr="n_acc">    </p:cNvPr>
          <p:cNvPicPr>
            <a:picLocks noChangeAspect="1"/>
          </p:cNvPicPr>
          <p:nvPr/>
        </p:nvPicPr>
        <p:blipFill>
          <a:blip r:embed="rId2"/>
          <a:stretch>
            <a:fillRect/>
          </a:stretch>
        </p:blipFill>
        <p:spPr>
          <a:xfrm>
            <a:off x="1127026" y="1371600"/>
            <a:ext cx="2683709" cy="1600200"/>
          </a:xfrm>
          <a:prstGeom prst="rect">
            <a:avLst/>
          </a:prstGeom>
        </p:spPr>
      </p:pic>
      <p:sp>
        <p:nvSpPr>
          <p:cNvPr id="9" name="Shape 4"/>
          <p:cNvSpPr/>
          <p:nvPr/>
        </p:nvSpPr>
        <p:spPr>
          <a:xfrm>
            <a:off x="5474970" y="1371600"/>
            <a:ext cx="2400300" cy="1600200"/>
          </a:xfrm>
          <a:prstGeom prst="rect">
            <a:avLst/>
          </a:prstGeom>
          <a:solidFill>
            <a:srgbClr val="FFFFFF"/>
          </a:solidFill>
          <a:ln w="9525">
            <a:solidFill>
              <a:srgbClr val="BFBFBF"/>
            </a:solidFill>
            <a:prstDash val="solid"/>
          </a:ln>
        </p:spPr>
      </p:sp>
      <p:pic>
        <p:nvPicPr>
          <p:cNvPr id="10" name="Image 2" descr="n_pr">    </p:cNvPr>
          <p:cNvPicPr>
            <a:picLocks noChangeAspect="1"/>
          </p:cNvPicPr>
          <p:nvPr/>
        </p:nvPicPr>
        <p:blipFill>
          <a:blip r:embed="rId3"/>
          <a:stretch>
            <a:fillRect/>
          </a:stretch>
        </p:blipFill>
        <p:spPr>
          <a:xfrm>
            <a:off x="5474970" y="1371600"/>
            <a:ext cx="2400300" cy="1600200"/>
          </a:xfrm>
          <a:prstGeom prst="rect">
            <a:avLst/>
          </a:prstGeom>
        </p:spPr>
      </p:pic>
      <p:sp>
        <p:nvSpPr>
          <p:cNvPr id="11" name="Shape 5"/>
          <p:cNvSpPr/>
          <p:nvPr/>
        </p:nvSpPr>
        <p:spPr>
          <a:xfrm>
            <a:off x="1267915" y="3063240"/>
            <a:ext cx="2401930" cy="1600200"/>
          </a:xfrm>
          <a:prstGeom prst="rect">
            <a:avLst/>
          </a:prstGeom>
          <a:solidFill>
            <a:srgbClr val="FFFFFF"/>
          </a:solidFill>
          <a:ln w="9525">
            <a:solidFill>
              <a:srgbClr val="BFBFBF"/>
            </a:solidFill>
            <a:prstDash val="solid"/>
          </a:ln>
        </p:spPr>
      </p:sp>
      <p:pic>
        <p:nvPicPr>
          <p:cNvPr id="12" name="Image 3" descr="n_pc">    </p:cNvPr>
          <p:cNvPicPr>
            <a:picLocks noChangeAspect="1"/>
          </p:cNvPicPr>
          <p:nvPr/>
        </p:nvPicPr>
        <p:blipFill>
          <a:blip r:embed="rId4"/>
          <a:stretch>
            <a:fillRect/>
          </a:stretch>
        </p:blipFill>
        <p:spPr>
          <a:xfrm>
            <a:off x="1267915" y="3063240"/>
            <a:ext cx="2401930" cy="1600200"/>
          </a:xfrm>
          <a:prstGeom prst="rect">
            <a:avLst/>
          </a:prstGeom>
        </p:spPr>
      </p:pic>
      <p:sp>
        <p:nvSpPr>
          <p:cNvPr id="13" name="Shape 6"/>
          <p:cNvSpPr/>
          <p:nvPr/>
        </p:nvSpPr>
        <p:spPr>
          <a:xfrm>
            <a:off x="5474113" y="3063240"/>
            <a:ext cx="2402013" cy="1600200"/>
          </a:xfrm>
          <a:prstGeom prst="rect">
            <a:avLst/>
          </a:prstGeom>
          <a:solidFill>
            <a:srgbClr val="FFFFFF"/>
          </a:solidFill>
          <a:ln w="9525">
            <a:solidFill>
              <a:srgbClr val="BFBFBF"/>
            </a:solidFill>
            <a:prstDash val="solid"/>
          </a:ln>
        </p:spPr>
      </p:sp>
      <p:pic>
        <p:nvPicPr>
          <p:cNvPr id="14" name="Image 4" descr="n_f1">    </p:cNvPr>
          <p:cNvPicPr>
            <a:picLocks noChangeAspect="1"/>
          </p:cNvPicPr>
          <p:nvPr/>
        </p:nvPicPr>
        <p:blipFill>
          <a:blip r:embed="rId5"/>
          <a:stretch>
            <a:fillRect/>
          </a:stretch>
        </p:blipFill>
        <p:spPr>
          <a:xfrm>
            <a:off x="5474113" y="3063240"/>
            <a:ext cx="2402013" cy="160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Interpretation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21</a:t>
            </a:r>
            <a:endParaRPr lang="en-US" sz="1000" dirty="0"/>
          </a:p>
        </p:txBody>
      </p:sp>
      <p:sp>
        <p:nvSpPr>
          <p:cNvPr id="6" name="Text 2"/>
          <p:cNvSpPr txBox="1"/>
          <p:nvPr/>
        </p:nvSpPr>
        <p:spPr>
          <a:xfrm>
            <a:off x="457200" y="1005840"/>
            <a:ext cx="8229600" cy="3749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222"/>
                </a:solidFill>
              </a:rPr>
              <a:t>Real-time object detection was achieved using the trained YOLOv8 model in NVIDIA Isaac Sim, showing that the model can reliably identify objects in the simulation environment.</a:t>
            </a:r>
            <a:endParaRPr lang="en-US" sz="1600" dirty="0"/>
          </a:p>
          <a:p>
            <a:pPr marL="342900" indent="-342900">
              <a:spcAft>
                <a:spcPts val="1000"/>
              </a:spcAft>
              <a:buSzPct val="100000"/>
              <a:buChar char="•"/>
            </a:pPr>
            <a:r>
              <a:rPr lang="en-US" sz="1600" dirty="0">
                <a:solidFill>
                  <a:srgbClr val="222222"/>
                </a:solidFill>
              </a:rPr>
              <a:t>RGB and depth data obtained via the ROS2 Action Graph were combined to estimate object positions in 3D space, showing that fusion of visual and depth information enables spatial understanding beyond simple 2D detection.</a:t>
            </a:r>
            <a:endParaRPr lang="en-US" sz="1600" dirty="0"/>
          </a:p>
          <a:p>
            <a:pPr marL="342900" indent="-342900">
              <a:spcAft>
                <a:spcPts val="1000"/>
              </a:spcAft>
              <a:buSzPct val="100000"/>
              <a:buChar char="•"/>
            </a:pPr>
            <a:r>
              <a:rPr lang="en-US" sz="1600" dirty="0">
                <a:solidFill>
                  <a:srgbClr val="222222"/>
                </a:solidFill>
              </a:rPr>
              <a:t>The 3D coordinates in the camera frame were transformed into the robot base frame using ROS2 TF, showing that proper frame alignment is essential for bridging perception and robotic execution.</a:t>
            </a:r>
            <a:endParaRPr lang="en-US" sz="1600" dirty="0"/>
          </a:p>
          <a:p>
            <a:pPr marL="342900" indent="-342900">
              <a:spcAft>
                <a:spcPts val="1000"/>
              </a:spcAft>
              <a:buSzPct val="100000"/>
              <a:buChar char="•"/>
            </a:pPr>
            <a:r>
              <a:rPr lang="en-US" sz="1600" dirty="0">
                <a:solidFill>
                  <a:srgbClr val="222222"/>
                </a:solidFill>
              </a:rPr>
              <a:t>Inverse kinematics solved in MATLAB converts transformed 3D target positions into joint angles, so task-space coordinates are translated into joint-space commands.</a:t>
            </a:r>
            <a:endParaRPr lang="en-US" sz="1600" dirty="0"/>
          </a:p>
          <a:p>
            <a:pPr marL="342900" indent="-342900">
              <a:spcAft>
                <a:spcPts val="1000"/>
              </a:spcAft>
              <a:buSzPct val="100000"/>
              <a:buChar char="•"/>
            </a:pPr>
            <a:r>
              <a:rPr lang="en-US" sz="1600" dirty="0">
                <a:solidFill>
                  <a:srgbClr val="222222"/>
                </a:solidFill>
              </a:rPr>
              <a:t>The overall system integrating YOLOv8, ROS2, Isaac Sim, TF, and MATLAB demonstrates a complete perception-to-action framework.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Discussion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22</a:t>
            </a:r>
            <a:endParaRPr lang="en-US" sz="1000" dirty="0"/>
          </a:p>
        </p:txBody>
      </p:sp>
      <p:sp>
        <p:nvSpPr>
          <p:cNvPr id="6" name="Text 2"/>
          <p:cNvSpPr txBox="1"/>
          <p:nvPr/>
        </p:nvSpPr>
        <p:spPr>
          <a:xfrm>
            <a:off x="457200" y="1005840"/>
            <a:ext cx="822960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222"/>
                </a:solidFill>
              </a:rPr>
              <a:t>Initial training of the YOLOv8 model with a smaller dataset resulted in poor detection accuracy, which improved after increasing the number of training images.</a:t>
            </a:r>
            <a:endParaRPr lang="en-US" sz="1400" dirty="0"/>
          </a:p>
          <a:p>
            <a:pPr marL="342900" indent="-342900">
              <a:spcAft>
                <a:spcPts val="600"/>
              </a:spcAft>
              <a:buSzPct val="100000"/>
              <a:buChar char="•"/>
            </a:pPr>
            <a:r>
              <a:rPr lang="en-US" sz="1400" dirty="0">
                <a:solidFill>
                  <a:srgbClr val="222222"/>
                </a:solidFill>
              </a:rPr>
              <a:t>The initial attempt to generate depth information using the built-in Replicator script resulted in multiple syntax issues, leading to the adoption of the ROS2 Action Graph for stable and reliable data acquisition.</a:t>
            </a:r>
            <a:endParaRPr lang="en-US" sz="1400" dirty="0"/>
          </a:p>
          <a:p>
            <a:pPr marL="342900" indent="-342900">
              <a:spcAft>
                <a:spcPts val="600"/>
              </a:spcAft>
              <a:buSzPct val="100000"/>
              <a:buChar char="•"/>
            </a:pPr>
            <a:r>
              <a:rPr lang="en-US" sz="1400" dirty="0">
                <a:solidFill>
                  <a:srgbClr val="222222"/>
                </a:solidFill>
              </a:rPr>
              <a:t>Incorrect object coordinates were observed during the initial transformation due to improper frame alignment, which was resolved by correctly configuring the coordinate frames using ROS2 TF.</a:t>
            </a:r>
            <a:endParaRPr lang="en-US" sz="1400" dirty="0"/>
          </a:p>
          <a:p>
            <a:pPr marL="342900" indent="-342900">
              <a:spcAft>
                <a:spcPts val="600"/>
              </a:spcAft>
              <a:buSzPct val="100000"/>
              <a:buChar char="•"/>
            </a:pPr>
            <a:r>
              <a:rPr lang="en-US" sz="1400" dirty="0">
                <a:solidFill>
                  <a:srgbClr val="222222"/>
                </a:solidFill>
              </a:rPr>
              <a:t>Attempts to compute inverse kinematics using MoveIt and IK solvers were unsuccessful in this setup, leading to the use of MATLAB for reliable joint angle computation.</a:t>
            </a:r>
            <a:endParaRPr lang="en-US" sz="1400" dirty="0"/>
          </a:p>
        </p:txBody>
      </p:sp>
      <p:sp>
        <p:nvSpPr>
          <p:cNvPr id="7" name="Shape 3"/>
          <p:cNvSpPr/>
          <p:nvPr/>
        </p:nvSpPr>
        <p:spPr>
          <a:xfrm>
            <a:off x="916590" y="3611880"/>
            <a:ext cx="2190180" cy="1143000"/>
          </a:xfrm>
          <a:prstGeom prst="rect">
            <a:avLst/>
          </a:prstGeom>
          <a:solidFill>
            <a:srgbClr val="FFFFFF"/>
          </a:solidFill>
          <a:ln w="9525">
            <a:solidFill>
              <a:srgbClr val="BFBFBF"/>
            </a:solidFill>
            <a:prstDash val="solid"/>
          </a:ln>
        </p:spPr>
      </p:sp>
      <p:pic>
        <p:nvPicPr>
          <p:cNvPr id="8" name="Image 1" descr="Replicator script errors">    </p:cNvPr>
          <p:cNvPicPr>
            <a:picLocks noChangeAspect="1"/>
          </p:cNvPicPr>
          <p:nvPr/>
        </p:nvPicPr>
        <p:blipFill>
          <a:blip r:embed="rId2"/>
          <a:stretch>
            <a:fillRect/>
          </a:stretch>
        </p:blipFill>
        <p:spPr>
          <a:xfrm>
            <a:off x="916590" y="3611880"/>
            <a:ext cx="2190180" cy="1143000"/>
          </a:xfrm>
          <a:prstGeom prst="rect">
            <a:avLst/>
          </a:prstGeom>
        </p:spPr>
      </p:pic>
      <p:sp>
        <p:nvSpPr>
          <p:cNvPr id="9" name="Text 4"/>
          <p:cNvSpPr txBox="1"/>
          <p:nvPr/>
        </p:nvSpPr>
        <p:spPr>
          <a:xfrm>
            <a:off x="457200" y="4791456"/>
            <a:ext cx="3108960" cy="228600"/>
          </a:xfrm>
          <a:prstGeom prst="rect">
            <a:avLst/>
          </a:prstGeom>
          <a:noFill/>
          <a:ln/>
        </p:spPr>
        <p:txBody>
          <a:bodyPr wrap="square" lIns="0" tIns="0" rIns="0" bIns="0" rtlCol="0" anchor="ctr"/>
          <a:lstStyle/>
          <a:p>
            <a:pPr algn="ctr" indent="0" marL="0">
              <a:buNone/>
            </a:pPr>
            <a:r>
              <a:rPr lang="en-US" sz="1100" i="1" dirty="0">
                <a:solidFill>
                  <a:srgbClr val="595959"/>
                </a:solidFill>
              </a:rPr>
              <a:t>Replicator script errors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Attainment of Objectives</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23</a:t>
            </a:r>
            <a:endParaRPr lang="en-US" sz="1000" dirty="0"/>
          </a:p>
        </p:txBody>
      </p:sp>
      <p:sp>
        <p:nvSpPr>
          <p:cNvPr id="6" name="Text 2"/>
          <p:cNvSpPr txBox="1"/>
          <p:nvPr/>
        </p:nvSpPr>
        <p:spPr>
          <a:xfrm>
            <a:off x="457200" y="1005840"/>
            <a:ext cx="8229600" cy="37490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222"/>
                </a:solidFill>
              </a:rPr>
              <a:t>The AI-based vision system using YOLOv8 was successfully implemented, enabling real-time object detection in the simulation environment.</a:t>
            </a:r>
            <a:endParaRPr lang="en-US" sz="1700" dirty="0"/>
          </a:p>
          <a:p>
            <a:pPr marL="342900" indent="-342900">
              <a:spcAft>
                <a:spcPts val="1200"/>
              </a:spcAft>
              <a:buSzPct val="100000"/>
              <a:buChar char="•"/>
            </a:pPr>
            <a:r>
              <a:rPr lang="en-US" sz="1700" dirty="0">
                <a:solidFill>
                  <a:srgbClr val="222222"/>
                </a:solidFill>
              </a:rPr>
              <a:t>RGB and depth data from NVIDIA Isaac Sim were used to estimate 3D object positions, allowing the robot to perceive spatial information effectively.</a:t>
            </a:r>
            <a:endParaRPr lang="en-US" sz="1700" dirty="0"/>
          </a:p>
          <a:p>
            <a:pPr marL="342900" indent="-342900">
              <a:spcAft>
                <a:spcPts val="1200"/>
              </a:spcAft>
              <a:buSzPct val="100000"/>
              <a:buChar char="•"/>
            </a:pPr>
            <a:r>
              <a:rPr lang="en-US" sz="1700" dirty="0">
                <a:solidFill>
                  <a:srgbClr val="222222"/>
                </a:solidFill>
              </a:rPr>
              <a:t>A perception-to-action pipeline was developed by integrating vision sensing, coordinate transformation, and motion control.</a:t>
            </a:r>
            <a:endParaRPr lang="en-US" sz="1700" dirty="0"/>
          </a:p>
          <a:p>
            <a:pPr marL="342900" indent="-342900">
              <a:spcAft>
                <a:spcPts val="1200"/>
              </a:spcAft>
              <a:buSzPct val="100000"/>
              <a:buChar char="•"/>
            </a:pPr>
            <a:r>
              <a:rPr lang="en-US" sz="1700" dirty="0">
                <a:solidFill>
                  <a:srgbClr val="222222"/>
                </a:solidFill>
              </a:rPr>
              <a:t>Inverse kinematics was implemented using MATLAB to enable the robot to perform pick-and-place related movements.</a:t>
            </a:r>
            <a:endParaRPr lang="en-US" sz="1700" dirty="0"/>
          </a:p>
          <a:p>
            <a:pPr marL="342900" indent="-342900">
              <a:spcAft>
                <a:spcPts val="1200"/>
              </a:spcAft>
              <a:buSzPct val="100000"/>
              <a:buChar char="•"/>
            </a:pPr>
            <a:r>
              <a:rPr lang="en-US" sz="1700" dirty="0">
                <a:solidFill>
                  <a:srgbClr val="222222"/>
                </a:solidFill>
              </a:rPr>
              <a:t>The system was validated in NVIDIA Isaac Sim, demonstrating successful simulation and testing before real-world deployment.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My Contribution and Learning</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24</a:t>
            </a:r>
            <a:endParaRPr lang="en-US" sz="1000" dirty="0"/>
          </a:p>
        </p:txBody>
      </p:sp>
      <p:sp>
        <p:nvSpPr>
          <p:cNvPr id="6" name="Text 2"/>
          <p:cNvSpPr txBox="1"/>
          <p:nvPr/>
        </p:nvSpPr>
        <p:spPr>
          <a:xfrm>
            <a:off x="457200" y="1005840"/>
            <a:ext cx="3931920" cy="320040"/>
          </a:xfrm>
          <a:prstGeom prst="rect">
            <a:avLst/>
          </a:prstGeom>
          <a:noFill/>
          <a:ln/>
        </p:spPr>
        <p:txBody>
          <a:bodyPr wrap="square" lIns="0" tIns="0" rIns="0" bIns="0" rtlCol="0" anchor="ctr"/>
          <a:lstStyle/>
          <a:p>
            <a:pPr indent="0" marL="0">
              <a:buNone/>
            </a:pPr>
            <a:r>
              <a:rPr lang="en-US" sz="1700" b="1" dirty="0">
                <a:solidFill>
                  <a:srgbClr val="1F3864"/>
                </a:solidFill>
              </a:rPr>
              <a:t>My Contribution</a:t>
            </a:r>
            <a:endParaRPr lang="en-US" sz="1700" dirty="0"/>
          </a:p>
        </p:txBody>
      </p:sp>
      <p:sp>
        <p:nvSpPr>
          <p:cNvPr id="7" name="Text 3"/>
          <p:cNvSpPr txBox="1"/>
          <p:nvPr/>
        </p:nvSpPr>
        <p:spPr>
          <a:xfrm>
            <a:off x="457200" y="1417320"/>
            <a:ext cx="39319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222"/>
                </a:solidFill>
              </a:rPr>
              <a:t>Worked on the dual-arm robot in NVIDIA Isaac Sim using ROS 2 for object handling and motion control.</a:t>
            </a:r>
            <a:endParaRPr lang="en-US" sz="1500" dirty="0"/>
          </a:p>
          <a:p>
            <a:pPr marL="342900" indent="-342900">
              <a:spcAft>
                <a:spcPts val="800"/>
              </a:spcAft>
              <a:buSzPct val="100000"/>
              <a:buChar char="•"/>
            </a:pPr>
            <a:r>
              <a:rPr lang="en-US" sz="1500" dirty="0">
                <a:solidFill>
                  <a:srgbClr val="222222"/>
                </a:solidFill>
              </a:rPr>
              <a:t>Implemented MATLAB-based calculations to determine joint angles for motion.</a:t>
            </a:r>
            <a:endParaRPr lang="en-US" sz="1500" dirty="0"/>
          </a:p>
          <a:p>
            <a:pPr marL="342900" indent="-342900">
              <a:spcAft>
                <a:spcPts val="800"/>
              </a:spcAft>
              <a:buSzPct val="100000"/>
              <a:buChar char="•"/>
            </a:pPr>
            <a:r>
              <a:rPr lang="en-US" sz="1500" dirty="0">
                <a:solidFill>
                  <a:srgbClr val="222222"/>
                </a:solidFill>
              </a:rPr>
              <a:t>Limitations: Action Graph path mismatches and MATLAB joint-angle errors reduced positioning accuracy and dual-arm coordination.</a:t>
            </a:r>
            <a:endParaRPr lang="en-US" sz="1500" dirty="0"/>
          </a:p>
        </p:txBody>
      </p:sp>
      <p:sp>
        <p:nvSpPr>
          <p:cNvPr id="8" name="Text 4"/>
          <p:cNvSpPr txBox="1"/>
          <p:nvPr/>
        </p:nvSpPr>
        <p:spPr>
          <a:xfrm>
            <a:off x="4663440" y="1005840"/>
            <a:ext cx="4023360" cy="320040"/>
          </a:xfrm>
          <a:prstGeom prst="rect">
            <a:avLst/>
          </a:prstGeom>
          <a:noFill/>
          <a:ln/>
        </p:spPr>
        <p:txBody>
          <a:bodyPr wrap="square" lIns="0" tIns="0" rIns="0" bIns="0" rtlCol="0" anchor="ctr"/>
          <a:lstStyle/>
          <a:p>
            <a:pPr indent="0" marL="0">
              <a:buNone/>
            </a:pPr>
            <a:r>
              <a:rPr lang="en-US" sz="1700" b="1" dirty="0">
                <a:solidFill>
                  <a:srgbClr val="1F3864"/>
                </a:solidFill>
              </a:rPr>
              <a:t>Inferences (What I Learned)</a:t>
            </a:r>
            <a:endParaRPr lang="en-US" sz="1700" dirty="0"/>
          </a:p>
        </p:txBody>
      </p:sp>
      <p:sp>
        <p:nvSpPr>
          <p:cNvPr id="9" name="Text 5"/>
          <p:cNvSpPr txBox="1"/>
          <p:nvPr/>
        </p:nvSpPr>
        <p:spPr>
          <a:xfrm>
            <a:off x="4663440" y="1417320"/>
            <a:ext cx="402336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222"/>
                </a:solidFill>
              </a:rPr>
              <a:t>YOLOv8: how neural networks detect and classify objects in real time.</a:t>
            </a:r>
            <a:endParaRPr lang="en-US" sz="1500" dirty="0"/>
          </a:p>
          <a:p>
            <a:pPr marL="342900" indent="-342900">
              <a:spcAft>
                <a:spcPts val="800"/>
              </a:spcAft>
              <a:buSzPct val="100000"/>
              <a:buChar char="•"/>
            </a:pPr>
            <a:r>
              <a:rPr lang="en-US" sz="1500" dirty="0">
                <a:solidFill>
                  <a:srgbClr val="222222"/>
                </a:solidFill>
              </a:rPr>
              <a:t>Depth: how 3D position is estimated from 2D image coordinates.</a:t>
            </a:r>
            <a:endParaRPr lang="en-US" sz="1500" dirty="0"/>
          </a:p>
          <a:p>
            <a:pPr marL="342900" indent="-342900">
              <a:spcAft>
                <a:spcPts val="800"/>
              </a:spcAft>
              <a:buSzPct val="100000"/>
              <a:buChar char="•"/>
            </a:pPr>
            <a:r>
              <a:rPr lang="en-US" sz="1500" dirty="0">
                <a:solidFill>
                  <a:srgbClr val="222222"/>
                </a:solidFill>
              </a:rPr>
              <a:t>ROS2 TF: rotation and translation between reference frames.</a:t>
            </a:r>
            <a:endParaRPr lang="en-US" sz="1500" dirty="0"/>
          </a:p>
          <a:p>
            <a:pPr marL="342900" indent="-342900">
              <a:spcAft>
                <a:spcPts val="800"/>
              </a:spcAft>
              <a:buSzPct val="100000"/>
              <a:buChar char="•"/>
            </a:pPr>
            <a:r>
              <a:rPr lang="en-US" sz="1500" dirty="0">
                <a:solidFill>
                  <a:srgbClr val="222222"/>
                </a:solidFill>
              </a:rPr>
              <a:t>MATLAB IK: computing joint angles from a target position.</a:t>
            </a:r>
            <a:endParaRPr lang="en-US" sz="1500" dirty="0"/>
          </a:p>
          <a:p>
            <a:pPr marL="342900" indent="-342900">
              <a:spcAft>
                <a:spcPts val="800"/>
              </a:spcAft>
              <a:buSzPct val="100000"/>
              <a:buChar char="•"/>
            </a:pPr>
            <a:r>
              <a:rPr lang="en-US" sz="1500" dirty="0">
                <a:solidFill>
                  <a:srgbClr val="222222"/>
                </a:solidFill>
              </a:rPr>
              <a:t>Isaac Sim: testing and validating robotic systems before real-world use.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5943600" cy="594360"/>
          </a:xfrm>
          <a:prstGeom prst="rect">
            <a:avLst/>
          </a:prstGeom>
          <a:noFill/>
          <a:ln/>
        </p:spPr>
        <p:txBody>
          <a:bodyPr wrap="square" lIns="0" tIns="0" rIns="0" bIns="0" rtlCol="0" anchor="ctr"/>
          <a:lstStyle/>
          <a:p>
            <a:pPr indent="0" marL="0">
              <a:buNone/>
            </a:pPr>
            <a:r>
              <a:rPr lang="en-US" sz="2600" b="1" dirty="0">
                <a:solidFill>
                  <a:srgbClr val="1F3864"/>
                </a:solidFill>
              </a:rPr>
              <a:t>Conclusion</a:t>
            </a:r>
            <a:endParaRPr lang="en-US" sz="2600" dirty="0"/>
          </a:p>
        </p:txBody>
      </p:sp>
      <p:pic>
        <p:nvPicPr>
          <p:cNvPr id="3" name="Image 0" descr="SASTRA logo">    </p:cNvPr>
          <p:cNvPicPr>
            <a:picLocks noChangeAspect="1"/>
          </p:cNvPicPr>
          <p:nvPr/>
        </p:nvPicPr>
        <p:blipFill>
          <a:blip r:embed="rId1"/>
          <a:stretch>
            <a:fillRect/>
          </a:stretch>
        </p:blipFill>
        <p:spPr>
          <a:xfrm>
            <a:off x="6583680" y="137160"/>
            <a:ext cx="2194560" cy="585216"/>
          </a:xfrm>
          <a:prstGeom prst="rect">
            <a:avLst/>
          </a:prstGeom>
        </p:spPr>
      </p:pic>
      <p:sp>
        <p:nvSpPr>
          <p:cNvPr id="4" name="Text 1"/>
          <p:cNvSpPr txBox="1"/>
          <p:nvPr/>
        </p:nvSpPr>
        <p:spPr>
          <a:xfrm>
            <a:off x="8321040" y="4846320"/>
            <a:ext cx="457200" cy="228600"/>
          </a:xfrm>
          <a:prstGeom prst="rect">
            <a:avLst/>
          </a:prstGeom>
          <a:noFill/>
          <a:ln/>
        </p:spPr>
        <p:txBody>
          <a:bodyPr wrap="square" lIns="0" tIns="0" rIns="0" bIns="0" rtlCol="0" anchor="ctr"/>
          <a:lstStyle/>
          <a:p>
            <a:pPr algn="r" indent="0" marL="0">
              <a:buNone/>
            </a:pPr>
            <a:r>
              <a:rPr lang="en-US" sz="1000" dirty="0">
                <a:solidFill>
                  <a:srgbClr val="7F7F7F"/>
                </a:solidFill>
              </a:rPr>
              <a:t>25</a:t>
            </a:r>
            <a:endParaRPr lang="en-US" sz="1000" dirty="0"/>
          </a:p>
        </p:txBody>
      </p:sp>
      <p:sp>
        <p:nvSpPr>
          <p:cNvPr id="6" name="Text 2"/>
          <p:cNvSpPr txBox="1"/>
          <p:nvPr/>
        </p:nvSpPr>
        <p:spPr>
          <a:xfrm>
            <a:off x="457200" y="1005840"/>
            <a:ext cx="822960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222222"/>
                </a:solidFill>
              </a:rPr>
              <a:t>The system uses YOLO for real-time object detection along with depth estimation to convert 2D image data into 3D spatial coordinates.</a:t>
            </a:r>
            <a:endParaRPr lang="en-US" sz="1700" dirty="0"/>
          </a:p>
          <a:p>
            <a:pPr marL="342900" indent="-342900">
              <a:spcAft>
                <a:spcPts val="1000"/>
              </a:spcAft>
              <a:buSzPct val="100000"/>
              <a:buChar char="•"/>
            </a:pPr>
            <a:r>
              <a:rPr lang="en-US" sz="1700" dirty="0">
                <a:solidFill>
                  <a:srgbClr val="222222"/>
                </a:solidFill>
              </a:rPr>
              <a:t>Coordinate transformation is performed using ROS 2 and inverse kinematics in MATLAB to achieve precise positioning of the robotic manipulator.</a:t>
            </a:r>
            <a:endParaRPr lang="en-US" sz="1700" dirty="0"/>
          </a:p>
          <a:p>
            <a:pPr marL="342900" indent="-342900">
              <a:spcAft>
                <a:spcPts val="1000"/>
              </a:spcAft>
              <a:buSzPct val="100000"/>
              <a:buChar char="•"/>
            </a:pPr>
            <a:r>
              <a:rPr lang="en-US" sz="1700" dirty="0">
                <a:solidFill>
                  <a:srgbClr val="222222"/>
                </a:solidFill>
              </a:rPr>
              <a:t>The robot performs autonomous pick-and-place operations by integrating perception, decision-making, and control, reducing the need for manual intervention.</a:t>
            </a:r>
            <a:endParaRPr lang="en-US" sz="1700" dirty="0"/>
          </a:p>
          <a:p>
            <a:pPr marL="342900" indent="-342900">
              <a:spcAft>
                <a:spcPts val="1000"/>
              </a:spcAft>
              <a:buSzPct val="100000"/>
              <a:buChar char="•"/>
            </a:pPr>
            <a:r>
              <a:rPr lang="en-US" sz="1700" dirty="0">
                <a:solidFill>
                  <a:srgbClr val="222222"/>
                </a:solidFill>
              </a:rPr>
              <a:t>NVIDIA Isaac Sim is used for simulation-based testing and data generation, providing a safe environment that reduces development time and risk before real-world deployment.</a:t>
            </a:r>
            <a:endParaRPr lang="en-US" sz="1700" dirty="0"/>
          </a:p>
          <a:p>
            <a:pPr marL="342900" indent="-342900">
              <a:spcAft>
                <a:spcPts val="1000"/>
              </a:spcAft>
              <a:buSzPct val="100000"/>
              <a:buChar char="•"/>
            </a:pPr>
            <a:r>
              <a:rPr lang="en-US" sz="1700" dirty="0">
                <a:solidFill>
                  <a:srgbClr val="222222"/>
                </a:solidFill>
              </a:rPr>
              <a:t>The ROS 2 architecture enables modular and scalable communication, while the dual-arm configuration improves coordination, stability, and precision in object handling.</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Vision Guided Pick-and-Place Dual-Arm Manipulator</dc:title>
  <dc:subject>PptxGenJS Presentation</dc:subject>
  <dc:creator>Perugu Venkata Aditya</dc:creator>
  <cp:lastModifiedBy>Perugu Venkata Aditya</cp:lastModifiedBy>
  <cp:revision>1</cp:revision>
  <dcterms:created xsi:type="dcterms:W3CDTF">2026-10-25T05:52:10Z</dcterms:created>
  <dcterms:modified xsi:type="dcterms:W3CDTF">2026-10-25T05:52:10Z</dcterms:modified>
</cp:coreProperties>
</file>